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Id3"/>
    <p:sldId id="258" r:id="rId4"/>
    <p:sldId id="259" r:id="rId5"/>
    <p:sldId id="260" r:id="rId6"/>
    <p:sldId id="261" r:id="rId7"/>
    <p:sldId id="262" r:id="rId8"/>
    <p:sldId id="263" r:id="rId9"/>
    <p:sldId id="265" r:id="rId10"/>
    <p:sldId id="266" r:id="rId11"/>
    <p:sldId id="267" r:id="rId12"/>
    <p:sldId id="268" r:id="rId13"/>
    <p:sldId id="269" r:id="rId14"/>
    <p:sldId id="270" r:id="rId15"/>
    <p:sldId id="271" r:id="rId16"/>
    <p:sldId id="272" r:id="rId17"/>
    <p:sldId id="273"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431"/>
    <p:restoredTop sz="94694"/>
  </p:normalViewPr>
  <p:slideViewPr>
    <p:cSldViewPr snapToGrid="0">
      <p:cViewPr varScale="1">
        <p:scale>
          <a:sx n="76" d="100"/>
          <a:sy n="76" d="100"/>
        </p:scale>
        <p:origin x="216" y="4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1AB68D9-DE16-4A5D-BFDC-9A708FC9592B}" type="doc">
      <dgm:prSet loTypeId="urn:microsoft.com/office/officeart/2005/8/layout/vList2" loCatId="list" qsTypeId="urn:microsoft.com/office/officeart/2005/8/quickstyle/simple4" qsCatId="simple" csTypeId="urn:microsoft.com/office/officeart/2005/8/colors/colorful2" csCatId="colorful" phldr="1"/>
      <dgm:spPr/>
      <dgm:t>
        <a:bodyPr/>
        <a:lstStyle/>
        <a:p>
          <a:endParaRPr lang="en-US"/>
        </a:p>
      </dgm:t>
    </dgm:pt>
    <dgm:pt modelId="{3EBF11CB-566D-4E6A-9CAE-431E418C3602}">
      <dgm:prSet/>
      <dgm:spPr>
        <a:solidFill>
          <a:schemeClr val="accent6">
            <a:lumMod val="75000"/>
          </a:schemeClr>
        </a:solidFill>
      </dgm:spPr>
      <dgm:t>
        <a:bodyPr/>
        <a:lstStyle/>
        <a:p>
          <a:r>
            <a:rPr lang="en-US" dirty="0"/>
            <a:t>EDA (Exploratory Data Analysis</a:t>
          </a:r>
        </a:p>
      </dgm:t>
    </dgm:pt>
    <dgm:pt modelId="{21CD8F0F-D056-4E13-8EF3-7D0355FFE5B4}" type="parTrans" cxnId="{024908B7-D3D5-4F8F-BC26-0191DECC8C3C}">
      <dgm:prSet/>
      <dgm:spPr/>
      <dgm:t>
        <a:bodyPr/>
        <a:lstStyle/>
        <a:p>
          <a:endParaRPr lang="en-US"/>
        </a:p>
      </dgm:t>
    </dgm:pt>
    <dgm:pt modelId="{3C2744A3-709D-4AC8-8067-25C9CF18A06E}" type="sibTrans" cxnId="{024908B7-D3D5-4F8F-BC26-0191DECC8C3C}">
      <dgm:prSet/>
      <dgm:spPr/>
      <dgm:t>
        <a:bodyPr/>
        <a:lstStyle/>
        <a:p>
          <a:endParaRPr lang="en-US"/>
        </a:p>
      </dgm:t>
    </dgm:pt>
    <dgm:pt modelId="{D2C6DA9F-4A34-4BFD-A35D-61E74ACB0605}">
      <dgm:prSet/>
      <dgm:spPr>
        <a:solidFill>
          <a:schemeClr val="accent4">
            <a:lumMod val="40000"/>
            <a:lumOff val="60000"/>
          </a:schemeClr>
        </a:solidFill>
      </dgm:spPr>
      <dgm:t>
        <a:bodyPr/>
        <a:lstStyle/>
        <a:p>
          <a:r>
            <a:rPr lang="en-US" b="0" i="0" u="none" dirty="0"/>
            <a:t>Build Decision Tree, Bagging classifier, and Random Forest - Comment on model performance</a:t>
          </a:r>
          <a:endParaRPr lang="en-US" dirty="0"/>
        </a:p>
      </dgm:t>
    </dgm:pt>
    <dgm:pt modelId="{FEF19DB2-8C36-4D0F-B66D-68E7494925DA}" type="parTrans" cxnId="{421C0BB7-4D19-4ADF-90A9-E2EA85D29C1B}">
      <dgm:prSet/>
      <dgm:spPr/>
      <dgm:t>
        <a:bodyPr/>
        <a:lstStyle/>
        <a:p>
          <a:endParaRPr lang="en-US"/>
        </a:p>
      </dgm:t>
    </dgm:pt>
    <dgm:pt modelId="{61E3A2EB-123C-40B4-9C44-2F9497D14296}" type="sibTrans" cxnId="{421C0BB7-4D19-4ADF-90A9-E2EA85D29C1B}">
      <dgm:prSet/>
      <dgm:spPr/>
      <dgm:t>
        <a:bodyPr/>
        <a:lstStyle/>
        <a:p>
          <a:endParaRPr lang="en-US"/>
        </a:p>
      </dgm:t>
    </dgm:pt>
    <dgm:pt modelId="{F449A7B0-300B-44D6-93E8-8D3D71A43375}">
      <dgm:prSet/>
      <dgm:spPr>
        <a:solidFill>
          <a:schemeClr val="accent5">
            <a:lumMod val="75000"/>
          </a:schemeClr>
        </a:solidFill>
      </dgm:spPr>
      <dgm:t>
        <a:bodyPr/>
        <a:lstStyle/>
        <a:p>
          <a:r>
            <a:rPr lang="en-US" b="0" i="0" u="none" dirty="0"/>
            <a:t>Comment on the model performance after tuning the Decision Tree, Bagging, and Random Forest classifier to improve the model performance.</a:t>
          </a:r>
          <a:endParaRPr lang="en-US" dirty="0"/>
        </a:p>
      </dgm:t>
    </dgm:pt>
    <dgm:pt modelId="{047BF113-B1B8-4D00-B80E-66BFF49044F7}" type="parTrans" cxnId="{0715AAEF-47ED-4D21-A433-DDBA705F733F}">
      <dgm:prSet/>
      <dgm:spPr/>
      <dgm:t>
        <a:bodyPr/>
        <a:lstStyle/>
        <a:p>
          <a:endParaRPr lang="en-US"/>
        </a:p>
      </dgm:t>
    </dgm:pt>
    <dgm:pt modelId="{043DD552-0112-4156-8A45-529E51BCE923}" type="sibTrans" cxnId="{0715AAEF-47ED-4D21-A433-DDBA705F733F}">
      <dgm:prSet/>
      <dgm:spPr/>
      <dgm:t>
        <a:bodyPr/>
        <a:lstStyle/>
        <a:p>
          <a:endParaRPr lang="en-US"/>
        </a:p>
      </dgm:t>
    </dgm:pt>
    <dgm:pt modelId="{E1154E06-1E69-4941-B461-B7D24198A8DC}">
      <dgm:prSet/>
      <dgm:spPr>
        <a:solidFill>
          <a:schemeClr val="accent3">
            <a:lumMod val="60000"/>
            <a:lumOff val="40000"/>
          </a:schemeClr>
        </a:solidFill>
      </dgm:spPr>
      <dgm:t>
        <a:bodyPr/>
        <a:lstStyle/>
        <a:p>
          <a:r>
            <a:rPr lang="en-US" b="0" i="0" u="none" dirty="0"/>
            <a:t>Build </a:t>
          </a:r>
          <a:r>
            <a:rPr lang="en-US" b="0" i="0" u="none" dirty="0" err="1"/>
            <a:t>Adaboost</a:t>
          </a:r>
          <a:r>
            <a:rPr lang="en-US" b="0" i="0" u="none" dirty="0"/>
            <a:t> and </a:t>
          </a:r>
          <a:r>
            <a:rPr lang="en-US" b="0" i="0" u="none" dirty="0" err="1"/>
            <a:t>GradientBoost</a:t>
          </a:r>
          <a:r>
            <a:rPr lang="en-US" b="0" i="0" u="none" dirty="0"/>
            <a:t> - Comment on model performance * Please note building </a:t>
          </a:r>
          <a:r>
            <a:rPr lang="en-US" b="0" i="0" u="none" dirty="0" err="1"/>
            <a:t>XGBoost</a:t>
          </a:r>
          <a:r>
            <a:rPr lang="en-US" b="0" i="0" u="none" dirty="0"/>
            <a:t> model is optional</a:t>
          </a:r>
          <a:endParaRPr lang="en-US" dirty="0"/>
        </a:p>
      </dgm:t>
    </dgm:pt>
    <dgm:pt modelId="{052B5572-9F65-485E-86AC-AD51BCA2A735}" type="parTrans" cxnId="{A2DBE1CC-189A-4955-98D8-F0B139B372F7}">
      <dgm:prSet/>
      <dgm:spPr/>
      <dgm:t>
        <a:bodyPr/>
        <a:lstStyle/>
        <a:p>
          <a:endParaRPr lang="en-US"/>
        </a:p>
      </dgm:t>
    </dgm:pt>
    <dgm:pt modelId="{AD13C4D6-CEB9-4ABF-8B9F-76387AB6ADB9}" type="sibTrans" cxnId="{A2DBE1CC-189A-4955-98D8-F0B139B372F7}">
      <dgm:prSet/>
      <dgm:spPr/>
      <dgm:t>
        <a:bodyPr/>
        <a:lstStyle/>
        <a:p>
          <a:endParaRPr lang="en-US"/>
        </a:p>
      </dgm:t>
    </dgm:pt>
    <dgm:pt modelId="{751948DD-256F-4338-9C61-2CAFE114A95C}">
      <dgm:prSet/>
      <dgm:spPr>
        <a:solidFill>
          <a:schemeClr val="tx2">
            <a:lumMod val="75000"/>
            <a:lumOff val="25000"/>
          </a:schemeClr>
        </a:solidFill>
      </dgm:spPr>
      <dgm:t>
        <a:bodyPr/>
        <a:lstStyle/>
        <a:p>
          <a:r>
            <a:rPr lang="en-US" b="0" i="0" u="none" dirty="0"/>
            <a:t>Comment on the model performance after tuning the AdaBoost, and Gradient Boosting classifier on the appropriate metric to improve the model performance - Build Stacking Classifier</a:t>
          </a:r>
          <a:endParaRPr lang="en-US" dirty="0"/>
        </a:p>
      </dgm:t>
    </dgm:pt>
    <dgm:pt modelId="{A11F6B15-341A-4F3A-ABA2-7ACB9953FC55}" type="parTrans" cxnId="{9F671E16-4258-48CC-AB01-0FBDC5FD6371}">
      <dgm:prSet/>
      <dgm:spPr/>
      <dgm:t>
        <a:bodyPr/>
        <a:lstStyle/>
        <a:p>
          <a:endParaRPr lang="en-US"/>
        </a:p>
      </dgm:t>
    </dgm:pt>
    <dgm:pt modelId="{FF2FD32A-F090-4491-8695-085B97344B14}" type="sibTrans" cxnId="{9F671E16-4258-48CC-AB01-0FBDC5FD6371}">
      <dgm:prSet/>
      <dgm:spPr/>
      <dgm:t>
        <a:bodyPr/>
        <a:lstStyle/>
        <a:p>
          <a:endParaRPr lang="en-US"/>
        </a:p>
      </dgm:t>
    </dgm:pt>
    <dgm:pt modelId="{8FE570F4-74A1-4E4B-A9C2-FEEF9951194B}">
      <dgm:prSet/>
      <dgm:spPr>
        <a:solidFill>
          <a:schemeClr val="accent6">
            <a:lumMod val="75000"/>
          </a:schemeClr>
        </a:solidFill>
      </dgm:spPr>
      <dgm:t>
        <a:bodyPr/>
        <a:lstStyle/>
        <a:p>
          <a:r>
            <a:rPr lang="en-US" dirty="0"/>
            <a:t>Recommendation and actionable insights</a:t>
          </a:r>
        </a:p>
        <a:p>
          <a:endParaRPr lang="en-US" dirty="0"/>
        </a:p>
      </dgm:t>
    </dgm:pt>
    <dgm:pt modelId="{A54CC376-E0A5-B445-9C61-813839E4508B}" type="parTrans" cxnId="{9C52B706-D647-8D4B-B2C6-F20CD066A620}">
      <dgm:prSet/>
      <dgm:spPr/>
      <dgm:t>
        <a:bodyPr/>
        <a:lstStyle/>
        <a:p>
          <a:endParaRPr lang="en-US"/>
        </a:p>
      </dgm:t>
    </dgm:pt>
    <dgm:pt modelId="{812E3EAC-38AF-674A-9C1E-227025F3B65A}" type="sibTrans" cxnId="{9C52B706-D647-8D4B-B2C6-F20CD066A620}">
      <dgm:prSet/>
      <dgm:spPr/>
      <dgm:t>
        <a:bodyPr/>
        <a:lstStyle/>
        <a:p>
          <a:endParaRPr lang="en-US"/>
        </a:p>
      </dgm:t>
    </dgm:pt>
    <dgm:pt modelId="{5176AA31-0363-A44D-9C2B-B022F36C4707}" type="pres">
      <dgm:prSet presAssocID="{31AB68D9-DE16-4A5D-BFDC-9A708FC9592B}" presName="linear" presStyleCnt="0">
        <dgm:presLayoutVars>
          <dgm:animLvl val="lvl"/>
          <dgm:resizeHandles val="exact"/>
        </dgm:presLayoutVars>
      </dgm:prSet>
      <dgm:spPr/>
    </dgm:pt>
    <dgm:pt modelId="{122B15B9-532C-0F4E-BA89-81D0295735B3}" type="pres">
      <dgm:prSet presAssocID="{3EBF11CB-566D-4E6A-9CAE-431E418C3602}" presName="parentText" presStyleLbl="node1" presStyleIdx="0" presStyleCnt="6" custLinFactY="-45016" custLinFactNeighborX="-67" custLinFactNeighborY="-100000">
        <dgm:presLayoutVars>
          <dgm:chMax val="0"/>
          <dgm:bulletEnabled val="1"/>
        </dgm:presLayoutVars>
      </dgm:prSet>
      <dgm:spPr/>
    </dgm:pt>
    <dgm:pt modelId="{7707E37E-1BEC-404F-AB2A-AAD57C21C3F9}" type="pres">
      <dgm:prSet presAssocID="{3C2744A3-709D-4AC8-8067-25C9CF18A06E}" presName="spacer" presStyleCnt="0"/>
      <dgm:spPr/>
    </dgm:pt>
    <dgm:pt modelId="{7E75EACB-648D-664D-8A42-478729C92096}" type="pres">
      <dgm:prSet presAssocID="{D2C6DA9F-4A34-4BFD-A35D-61E74ACB0605}" presName="parentText" presStyleLbl="node1" presStyleIdx="1" presStyleCnt="6" custLinFactY="-26754" custLinFactNeighborX="-67" custLinFactNeighborY="-100000">
        <dgm:presLayoutVars>
          <dgm:chMax val="0"/>
          <dgm:bulletEnabled val="1"/>
        </dgm:presLayoutVars>
      </dgm:prSet>
      <dgm:spPr/>
    </dgm:pt>
    <dgm:pt modelId="{02C7CF1F-8A42-F843-AE9C-32B5BCB52A6C}" type="pres">
      <dgm:prSet presAssocID="{61E3A2EB-123C-40B4-9C44-2F9497D14296}" presName="spacer" presStyleCnt="0"/>
      <dgm:spPr/>
    </dgm:pt>
    <dgm:pt modelId="{8EFF98D5-1D90-DF49-A6A0-392345020BD2}" type="pres">
      <dgm:prSet presAssocID="{F449A7B0-300B-44D6-93E8-8D3D71A43375}" presName="parentText" presStyleLbl="node1" presStyleIdx="2" presStyleCnt="6" custLinFactY="-31018" custLinFactNeighborX="-67" custLinFactNeighborY="-100000">
        <dgm:presLayoutVars>
          <dgm:chMax val="0"/>
          <dgm:bulletEnabled val="1"/>
        </dgm:presLayoutVars>
      </dgm:prSet>
      <dgm:spPr/>
    </dgm:pt>
    <dgm:pt modelId="{0E8192B6-314B-F044-B168-6C24CCF24C93}" type="pres">
      <dgm:prSet presAssocID="{043DD552-0112-4156-8A45-529E51BCE923}" presName="spacer" presStyleCnt="0"/>
      <dgm:spPr/>
    </dgm:pt>
    <dgm:pt modelId="{B03B468B-7B41-4C44-8AF8-490F4327F835}" type="pres">
      <dgm:prSet presAssocID="{E1154E06-1E69-4941-B461-B7D24198A8DC}" presName="parentText" presStyleLbl="node1" presStyleIdx="3" presStyleCnt="6" custLinFactY="-22081" custLinFactNeighborX="1350" custLinFactNeighborY="-100000">
        <dgm:presLayoutVars>
          <dgm:chMax val="0"/>
          <dgm:bulletEnabled val="1"/>
        </dgm:presLayoutVars>
      </dgm:prSet>
      <dgm:spPr/>
    </dgm:pt>
    <dgm:pt modelId="{D3D67FB0-172C-774E-9D76-9068AD9D994E}" type="pres">
      <dgm:prSet presAssocID="{AD13C4D6-CEB9-4ABF-8B9F-76387AB6ADB9}" presName="spacer" presStyleCnt="0"/>
      <dgm:spPr/>
    </dgm:pt>
    <dgm:pt modelId="{946DC1E7-C411-D049-8E90-9E1F5D093338}" type="pres">
      <dgm:prSet presAssocID="{751948DD-256F-4338-9C61-2CAFE114A95C}" presName="parentText" presStyleLbl="node1" presStyleIdx="4" presStyleCnt="6" custLinFactY="-17279" custLinFactNeighborX="-67" custLinFactNeighborY="-100000">
        <dgm:presLayoutVars>
          <dgm:chMax val="0"/>
          <dgm:bulletEnabled val="1"/>
        </dgm:presLayoutVars>
      </dgm:prSet>
      <dgm:spPr/>
    </dgm:pt>
    <dgm:pt modelId="{51939CEF-2AC7-CD44-A6B1-3414669D7AE7}" type="pres">
      <dgm:prSet presAssocID="{FF2FD32A-F090-4491-8695-085B97344B14}" presName="spacer" presStyleCnt="0"/>
      <dgm:spPr/>
    </dgm:pt>
    <dgm:pt modelId="{106A94CE-96F3-7243-8B85-12151C5A58D8}" type="pres">
      <dgm:prSet presAssocID="{8FE570F4-74A1-4E4B-A9C2-FEEF9951194B}" presName="parentText" presStyleLbl="node1" presStyleIdx="5" presStyleCnt="6" custLinFactY="-5041" custLinFactNeighborX="-67" custLinFactNeighborY="-100000">
        <dgm:presLayoutVars>
          <dgm:chMax val="0"/>
          <dgm:bulletEnabled val="1"/>
        </dgm:presLayoutVars>
      </dgm:prSet>
      <dgm:spPr/>
    </dgm:pt>
  </dgm:ptLst>
  <dgm:cxnLst>
    <dgm:cxn modelId="{9C52B706-D647-8D4B-B2C6-F20CD066A620}" srcId="{31AB68D9-DE16-4A5D-BFDC-9A708FC9592B}" destId="{8FE570F4-74A1-4E4B-A9C2-FEEF9951194B}" srcOrd="5" destOrd="0" parTransId="{A54CC376-E0A5-B445-9C61-813839E4508B}" sibTransId="{812E3EAC-38AF-674A-9C1E-227025F3B65A}"/>
    <dgm:cxn modelId="{9F671E16-4258-48CC-AB01-0FBDC5FD6371}" srcId="{31AB68D9-DE16-4A5D-BFDC-9A708FC9592B}" destId="{751948DD-256F-4338-9C61-2CAFE114A95C}" srcOrd="4" destOrd="0" parTransId="{A11F6B15-341A-4F3A-ABA2-7ACB9953FC55}" sibTransId="{FF2FD32A-F090-4491-8695-085B97344B14}"/>
    <dgm:cxn modelId="{9AB07326-980D-E74E-A189-AD2B74225736}" type="presOf" srcId="{31AB68D9-DE16-4A5D-BFDC-9A708FC9592B}" destId="{5176AA31-0363-A44D-9C2B-B022F36C4707}" srcOrd="0" destOrd="0" presId="urn:microsoft.com/office/officeart/2005/8/layout/vList2"/>
    <dgm:cxn modelId="{6340FF5F-F3EE-0E46-8C49-5EDC9EA27B0A}" type="presOf" srcId="{D2C6DA9F-4A34-4BFD-A35D-61E74ACB0605}" destId="{7E75EACB-648D-664D-8A42-478729C92096}" srcOrd="0" destOrd="0" presId="urn:microsoft.com/office/officeart/2005/8/layout/vList2"/>
    <dgm:cxn modelId="{B8D14E6C-FB12-1943-815B-7A79EE308FD8}" type="presOf" srcId="{3EBF11CB-566D-4E6A-9CAE-431E418C3602}" destId="{122B15B9-532C-0F4E-BA89-81D0295735B3}" srcOrd="0" destOrd="0" presId="urn:microsoft.com/office/officeart/2005/8/layout/vList2"/>
    <dgm:cxn modelId="{168C6479-E570-B34F-AC3A-D1FFD6DD2417}" type="presOf" srcId="{F449A7B0-300B-44D6-93E8-8D3D71A43375}" destId="{8EFF98D5-1D90-DF49-A6A0-392345020BD2}" srcOrd="0" destOrd="0" presId="urn:microsoft.com/office/officeart/2005/8/layout/vList2"/>
    <dgm:cxn modelId="{95DDE7A6-D582-AE4E-9A83-E0BBBC139DA6}" type="presOf" srcId="{8FE570F4-74A1-4E4B-A9C2-FEEF9951194B}" destId="{106A94CE-96F3-7243-8B85-12151C5A58D8}" srcOrd="0" destOrd="0" presId="urn:microsoft.com/office/officeart/2005/8/layout/vList2"/>
    <dgm:cxn modelId="{024908B7-D3D5-4F8F-BC26-0191DECC8C3C}" srcId="{31AB68D9-DE16-4A5D-BFDC-9A708FC9592B}" destId="{3EBF11CB-566D-4E6A-9CAE-431E418C3602}" srcOrd="0" destOrd="0" parTransId="{21CD8F0F-D056-4E13-8EF3-7D0355FFE5B4}" sibTransId="{3C2744A3-709D-4AC8-8067-25C9CF18A06E}"/>
    <dgm:cxn modelId="{421C0BB7-4D19-4ADF-90A9-E2EA85D29C1B}" srcId="{31AB68D9-DE16-4A5D-BFDC-9A708FC9592B}" destId="{D2C6DA9F-4A34-4BFD-A35D-61E74ACB0605}" srcOrd="1" destOrd="0" parTransId="{FEF19DB2-8C36-4D0F-B66D-68E7494925DA}" sibTransId="{61E3A2EB-123C-40B4-9C44-2F9497D14296}"/>
    <dgm:cxn modelId="{E5F94AC8-C34B-6A46-A65B-8A75EF6C8FDB}" type="presOf" srcId="{E1154E06-1E69-4941-B461-B7D24198A8DC}" destId="{B03B468B-7B41-4C44-8AF8-490F4327F835}" srcOrd="0" destOrd="0" presId="urn:microsoft.com/office/officeart/2005/8/layout/vList2"/>
    <dgm:cxn modelId="{A2DBE1CC-189A-4955-98D8-F0B139B372F7}" srcId="{31AB68D9-DE16-4A5D-BFDC-9A708FC9592B}" destId="{E1154E06-1E69-4941-B461-B7D24198A8DC}" srcOrd="3" destOrd="0" parTransId="{052B5572-9F65-485E-86AC-AD51BCA2A735}" sibTransId="{AD13C4D6-CEB9-4ABF-8B9F-76387AB6ADB9}"/>
    <dgm:cxn modelId="{1508C3DB-3B35-B446-835D-337F8C0E4518}" type="presOf" srcId="{751948DD-256F-4338-9C61-2CAFE114A95C}" destId="{946DC1E7-C411-D049-8E90-9E1F5D093338}" srcOrd="0" destOrd="0" presId="urn:microsoft.com/office/officeart/2005/8/layout/vList2"/>
    <dgm:cxn modelId="{0715AAEF-47ED-4D21-A433-DDBA705F733F}" srcId="{31AB68D9-DE16-4A5D-BFDC-9A708FC9592B}" destId="{F449A7B0-300B-44D6-93E8-8D3D71A43375}" srcOrd="2" destOrd="0" parTransId="{047BF113-B1B8-4D00-B80E-66BFF49044F7}" sibTransId="{043DD552-0112-4156-8A45-529E51BCE923}"/>
    <dgm:cxn modelId="{92D32A79-C3A9-E246-9BA4-72F22D27DC94}" type="presParOf" srcId="{5176AA31-0363-A44D-9C2B-B022F36C4707}" destId="{122B15B9-532C-0F4E-BA89-81D0295735B3}" srcOrd="0" destOrd="0" presId="urn:microsoft.com/office/officeart/2005/8/layout/vList2"/>
    <dgm:cxn modelId="{DAE42B2D-17CA-FC47-97F8-EC70ADDEFCF8}" type="presParOf" srcId="{5176AA31-0363-A44D-9C2B-B022F36C4707}" destId="{7707E37E-1BEC-404F-AB2A-AAD57C21C3F9}" srcOrd="1" destOrd="0" presId="urn:microsoft.com/office/officeart/2005/8/layout/vList2"/>
    <dgm:cxn modelId="{129CFE49-AC59-594D-91A9-E04976D153D5}" type="presParOf" srcId="{5176AA31-0363-A44D-9C2B-B022F36C4707}" destId="{7E75EACB-648D-664D-8A42-478729C92096}" srcOrd="2" destOrd="0" presId="urn:microsoft.com/office/officeart/2005/8/layout/vList2"/>
    <dgm:cxn modelId="{CAF1C694-69A4-A148-9E12-49B1F981E459}" type="presParOf" srcId="{5176AA31-0363-A44D-9C2B-B022F36C4707}" destId="{02C7CF1F-8A42-F843-AE9C-32B5BCB52A6C}" srcOrd="3" destOrd="0" presId="urn:microsoft.com/office/officeart/2005/8/layout/vList2"/>
    <dgm:cxn modelId="{0CCF31DD-F034-8D42-BFC8-4BFE7038FB78}" type="presParOf" srcId="{5176AA31-0363-A44D-9C2B-B022F36C4707}" destId="{8EFF98D5-1D90-DF49-A6A0-392345020BD2}" srcOrd="4" destOrd="0" presId="urn:microsoft.com/office/officeart/2005/8/layout/vList2"/>
    <dgm:cxn modelId="{CE18C452-D87B-A64D-A338-D0B45875BD07}" type="presParOf" srcId="{5176AA31-0363-A44D-9C2B-B022F36C4707}" destId="{0E8192B6-314B-F044-B168-6C24CCF24C93}" srcOrd="5" destOrd="0" presId="urn:microsoft.com/office/officeart/2005/8/layout/vList2"/>
    <dgm:cxn modelId="{8EFCC658-313D-4842-8C0C-5A0BF8F6D0C5}" type="presParOf" srcId="{5176AA31-0363-A44D-9C2B-B022F36C4707}" destId="{B03B468B-7B41-4C44-8AF8-490F4327F835}" srcOrd="6" destOrd="0" presId="urn:microsoft.com/office/officeart/2005/8/layout/vList2"/>
    <dgm:cxn modelId="{A2707EE3-69DF-0A43-804F-BFA26405A28F}" type="presParOf" srcId="{5176AA31-0363-A44D-9C2B-B022F36C4707}" destId="{D3D67FB0-172C-774E-9D76-9068AD9D994E}" srcOrd="7" destOrd="0" presId="urn:microsoft.com/office/officeart/2005/8/layout/vList2"/>
    <dgm:cxn modelId="{42CD4B11-E8A0-3B4F-9F0F-C280E463DC3F}" type="presParOf" srcId="{5176AA31-0363-A44D-9C2B-B022F36C4707}" destId="{946DC1E7-C411-D049-8E90-9E1F5D093338}" srcOrd="8" destOrd="0" presId="urn:microsoft.com/office/officeart/2005/8/layout/vList2"/>
    <dgm:cxn modelId="{963CB709-A9E5-E845-A577-906BBA198F49}" type="presParOf" srcId="{5176AA31-0363-A44D-9C2B-B022F36C4707}" destId="{51939CEF-2AC7-CD44-A6B1-3414669D7AE7}" srcOrd="9" destOrd="0" presId="urn:microsoft.com/office/officeart/2005/8/layout/vList2"/>
    <dgm:cxn modelId="{55257C2E-343E-6047-93F1-5A924C069BA0}" type="presParOf" srcId="{5176AA31-0363-A44D-9C2B-B022F36C4707}" destId="{106A94CE-96F3-7243-8B85-12151C5A58D8}" srcOrd="1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8580899-3F51-46DE-9A69-DAC706A60412}"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US"/>
        </a:p>
      </dgm:t>
    </dgm:pt>
    <dgm:pt modelId="{ACE2B38F-A5E4-41F1-9841-37F93D691267}">
      <dgm:prSet/>
      <dgm:spPr>
        <a:solidFill>
          <a:schemeClr val="accent5">
            <a:lumMod val="60000"/>
            <a:lumOff val="40000"/>
          </a:schemeClr>
        </a:solidFill>
      </dgm:spPr>
      <dgm:t>
        <a:bodyPr/>
        <a:lstStyle/>
        <a:p>
          <a:r>
            <a:rPr lang="en-US" dirty="0"/>
            <a:t>There are  25,480 rows and 12 columns in dataset</a:t>
          </a:r>
        </a:p>
      </dgm:t>
    </dgm:pt>
    <dgm:pt modelId="{BD439DC8-979B-4402-A256-2A3D2BF512E8}" type="parTrans" cxnId="{F099304C-4671-4534-AFDB-4C44326FB591}">
      <dgm:prSet/>
      <dgm:spPr/>
      <dgm:t>
        <a:bodyPr/>
        <a:lstStyle/>
        <a:p>
          <a:endParaRPr lang="en-US"/>
        </a:p>
      </dgm:t>
    </dgm:pt>
    <dgm:pt modelId="{C982DCEF-B1D4-4FC7-9E0C-6F932495EBF5}" type="sibTrans" cxnId="{F099304C-4671-4534-AFDB-4C44326FB591}">
      <dgm:prSet/>
      <dgm:spPr/>
      <dgm:t>
        <a:bodyPr/>
        <a:lstStyle/>
        <a:p>
          <a:endParaRPr lang="en-US"/>
        </a:p>
      </dgm:t>
    </dgm:pt>
    <dgm:pt modelId="{B6257D64-F032-43E7-8EB8-9EEDEF39BF6D}">
      <dgm:prSet/>
      <dgm:spPr>
        <a:solidFill>
          <a:schemeClr val="accent4">
            <a:lumMod val="60000"/>
            <a:lumOff val="40000"/>
          </a:schemeClr>
        </a:solidFill>
      </dgm:spPr>
      <dgm:t>
        <a:bodyPr/>
        <a:lstStyle/>
        <a:p>
          <a:r>
            <a:rPr lang="en-US" dirty="0"/>
            <a:t>The dataset has no null values</a:t>
          </a:r>
        </a:p>
      </dgm:t>
    </dgm:pt>
    <dgm:pt modelId="{06790DB9-4DE6-470F-909F-45342B7CA314}" type="parTrans" cxnId="{60EAE110-F55B-4597-962E-CBDF54CC59D7}">
      <dgm:prSet/>
      <dgm:spPr/>
      <dgm:t>
        <a:bodyPr/>
        <a:lstStyle/>
        <a:p>
          <a:endParaRPr lang="en-US"/>
        </a:p>
      </dgm:t>
    </dgm:pt>
    <dgm:pt modelId="{5E6AEB8F-DF1C-4079-AD38-0464A34368A0}" type="sibTrans" cxnId="{60EAE110-F55B-4597-962E-CBDF54CC59D7}">
      <dgm:prSet/>
      <dgm:spPr/>
      <dgm:t>
        <a:bodyPr/>
        <a:lstStyle/>
        <a:p>
          <a:endParaRPr lang="en-US"/>
        </a:p>
      </dgm:t>
    </dgm:pt>
    <dgm:pt modelId="{280C55F5-E849-42F7-8D4E-1DAD2904ACCD}">
      <dgm:prSet/>
      <dgm:spPr>
        <a:solidFill>
          <a:schemeClr val="accent5">
            <a:lumMod val="75000"/>
          </a:schemeClr>
        </a:solidFill>
      </dgm:spPr>
      <dgm:t>
        <a:bodyPr/>
        <a:lstStyle/>
        <a:p>
          <a:r>
            <a:rPr lang="en-US" dirty="0"/>
            <a:t>There are 3 numeric columns and 9 object (non numeric) data points</a:t>
          </a:r>
        </a:p>
      </dgm:t>
    </dgm:pt>
    <dgm:pt modelId="{2FF12093-704D-40C2-ACEA-242BBC50D4E5}" type="parTrans" cxnId="{766631BB-F192-434B-99A9-0A0C4D2F138E}">
      <dgm:prSet/>
      <dgm:spPr/>
      <dgm:t>
        <a:bodyPr/>
        <a:lstStyle/>
        <a:p>
          <a:endParaRPr lang="en-US"/>
        </a:p>
      </dgm:t>
    </dgm:pt>
    <dgm:pt modelId="{42BCA6B3-7728-49E2-BB7E-763E5D0D499F}" type="sibTrans" cxnId="{766631BB-F192-434B-99A9-0A0C4D2F138E}">
      <dgm:prSet/>
      <dgm:spPr/>
      <dgm:t>
        <a:bodyPr/>
        <a:lstStyle/>
        <a:p>
          <a:endParaRPr lang="en-US"/>
        </a:p>
      </dgm:t>
    </dgm:pt>
    <dgm:pt modelId="{36A2CFD5-D85E-C84D-B546-E69422BCAA85}" type="pres">
      <dgm:prSet presAssocID="{98580899-3F51-46DE-9A69-DAC706A60412}" presName="diagram" presStyleCnt="0">
        <dgm:presLayoutVars>
          <dgm:dir/>
          <dgm:resizeHandles val="exact"/>
        </dgm:presLayoutVars>
      </dgm:prSet>
      <dgm:spPr/>
    </dgm:pt>
    <dgm:pt modelId="{8A6B166B-E6ED-214B-9FEF-8FCBA3E213F3}" type="pres">
      <dgm:prSet presAssocID="{ACE2B38F-A5E4-41F1-9841-37F93D691267}" presName="node" presStyleLbl="node1" presStyleIdx="0" presStyleCnt="3">
        <dgm:presLayoutVars>
          <dgm:bulletEnabled val="1"/>
        </dgm:presLayoutVars>
      </dgm:prSet>
      <dgm:spPr/>
    </dgm:pt>
    <dgm:pt modelId="{64DE61DE-94DC-4047-8CBB-DD1F94121144}" type="pres">
      <dgm:prSet presAssocID="{C982DCEF-B1D4-4FC7-9E0C-6F932495EBF5}" presName="sibTrans" presStyleCnt="0"/>
      <dgm:spPr/>
    </dgm:pt>
    <dgm:pt modelId="{678D0DA5-7D1B-5847-A22A-8809344833DD}" type="pres">
      <dgm:prSet presAssocID="{B6257D64-F032-43E7-8EB8-9EEDEF39BF6D}" presName="node" presStyleLbl="node1" presStyleIdx="1" presStyleCnt="3">
        <dgm:presLayoutVars>
          <dgm:bulletEnabled val="1"/>
        </dgm:presLayoutVars>
      </dgm:prSet>
      <dgm:spPr/>
    </dgm:pt>
    <dgm:pt modelId="{E18EE385-8314-9542-82BB-599EC61FE687}" type="pres">
      <dgm:prSet presAssocID="{5E6AEB8F-DF1C-4079-AD38-0464A34368A0}" presName="sibTrans" presStyleCnt="0"/>
      <dgm:spPr/>
    </dgm:pt>
    <dgm:pt modelId="{C5A9496B-4872-8544-8B35-4D7450590C2D}" type="pres">
      <dgm:prSet presAssocID="{280C55F5-E849-42F7-8D4E-1DAD2904ACCD}" presName="node" presStyleLbl="node1" presStyleIdx="2" presStyleCnt="3">
        <dgm:presLayoutVars>
          <dgm:bulletEnabled val="1"/>
        </dgm:presLayoutVars>
      </dgm:prSet>
      <dgm:spPr/>
    </dgm:pt>
  </dgm:ptLst>
  <dgm:cxnLst>
    <dgm:cxn modelId="{60EAE110-F55B-4597-962E-CBDF54CC59D7}" srcId="{98580899-3F51-46DE-9A69-DAC706A60412}" destId="{B6257D64-F032-43E7-8EB8-9EEDEF39BF6D}" srcOrd="1" destOrd="0" parTransId="{06790DB9-4DE6-470F-909F-45342B7CA314}" sibTransId="{5E6AEB8F-DF1C-4079-AD38-0464A34368A0}"/>
    <dgm:cxn modelId="{F099304C-4671-4534-AFDB-4C44326FB591}" srcId="{98580899-3F51-46DE-9A69-DAC706A60412}" destId="{ACE2B38F-A5E4-41F1-9841-37F93D691267}" srcOrd="0" destOrd="0" parTransId="{BD439DC8-979B-4402-A256-2A3D2BF512E8}" sibTransId="{C982DCEF-B1D4-4FC7-9E0C-6F932495EBF5}"/>
    <dgm:cxn modelId="{83473F8B-23BC-EE4C-B939-9DA6EEB6034F}" type="presOf" srcId="{280C55F5-E849-42F7-8D4E-1DAD2904ACCD}" destId="{C5A9496B-4872-8544-8B35-4D7450590C2D}" srcOrd="0" destOrd="0" presId="urn:microsoft.com/office/officeart/2005/8/layout/default"/>
    <dgm:cxn modelId="{8BF062A3-B2C0-8140-9186-7359CA5BEC09}" type="presOf" srcId="{B6257D64-F032-43E7-8EB8-9EEDEF39BF6D}" destId="{678D0DA5-7D1B-5847-A22A-8809344833DD}" srcOrd="0" destOrd="0" presId="urn:microsoft.com/office/officeart/2005/8/layout/default"/>
    <dgm:cxn modelId="{766631BB-F192-434B-99A9-0A0C4D2F138E}" srcId="{98580899-3F51-46DE-9A69-DAC706A60412}" destId="{280C55F5-E849-42F7-8D4E-1DAD2904ACCD}" srcOrd="2" destOrd="0" parTransId="{2FF12093-704D-40C2-ACEA-242BBC50D4E5}" sibTransId="{42BCA6B3-7728-49E2-BB7E-763E5D0D499F}"/>
    <dgm:cxn modelId="{27BF2BE2-4818-8F47-B5AA-681AF00A5937}" type="presOf" srcId="{98580899-3F51-46DE-9A69-DAC706A60412}" destId="{36A2CFD5-D85E-C84D-B546-E69422BCAA85}" srcOrd="0" destOrd="0" presId="urn:microsoft.com/office/officeart/2005/8/layout/default"/>
    <dgm:cxn modelId="{73B9AEE4-6B77-BF44-B7A8-0F262316C60C}" type="presOf" srcId="{ACE2B38F-A5E4-41F1-9841-37F93D691267}" destId="{8A6B166B-E6ED-214B-9FEF-8FCBA3E213F3}" srcOrd="0" destOrd="0" presId="urn:microsoft.com/office/officeart/2005/8/layout/default"/>
    <dgm:cxn modelId="{D8DB4B34-1281-A246-AB64-0DE0BE35B1B7}" type="presParOf" srcId="{36A2CFD5-D85E-C84D-B546-E69422BCAA85}" destId="{8A6B166B-E6ED-214B-9FEF-8FCBA3E213F3}" srcOrd="0" destOrd="0" presId="urn:microsoft.com/office/officeart/2005/8/layout/default"/>
    <dgm:cxn modelId="{94FDF585-ABD0-334A-8FD4-1D4492BE7C9B}" type="presParOf" srcId="{36A2CFD5-D85E-C84D-B546-E69422BCAA85}" destId="{64DE61DE-94DC-4047-8CBB-DD1F94121144}" srcOrd="1" destOrd="0" presId="urn:microsoft.com/office/officeart/2005/8/layout/default"/>
    <dgm:cxn modelId="{B80BDB99-F5A8-E843-9D48-4BC6E4972AF1}" type="presParOf" srcId="{36A2CFD5-D85E-C84D-B546-E69422BCAA85}" destId="{678D0DA5-7D1B-5847-A22A-8809344833DD}" srcOrd="2" destOrd="0" presId="urn:microsoft.com/office/officeart/2005/8/layout/default"/>
    <dgm:cxn modelId="{02E96A73-0DA5-1941-B8F0-D05F8B2AE3AA}" type="presParOf" srcId="{36A2CFD5-D85E-C84D-B546-E69422BCAA85}" destId="{E18EE385-8314-9542-82BB-599EC61FE687}" srcOrd="3" destOrd="0" presId="urn:microsoft.com/office/officeart/2005/8/layout/default"/>
    <dgm:cxn modelId="{A83A8CD9-06E9-CD47-A423-119520B5C521}" type="presParOf" srcId="{36A2CFD5-D85E-C84D-B546-E69422BCAA85}" destId="{C5A9496B-4872-8544-8B35-4D7450590C2D}" srcOrd="4"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22B15B9-532C-0F4E-BA89-81D0295735B3}">
      <dsp:nvSpPr>
        <dsp:cNvPr id="0" name=""/>
        <dsp:cNvSpPr/>
      </dsp:nvSpPr>
      <dsp:spPr>
        <a:xfrm>
          <a:off x="0" y="0"/>
          <a:ext cx="6668792" cy="873953"/>
        </a:xfrm>
        <a:prstGeom prst="roundRect">
          <a:avLst/>
        </a:prstGeom>
        <a:solidFill>
          <a:schemeClr val="accent6">
            <a:lumMod val="75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dirty="0"/>
            <a:t>EDA (Exploratory Data Analysis</a:t>
          </a:r>
        </a:p>
      </dsp:txBody>
      <dsp:txXfrm>
        <a:off x="42663" y="42663"/>
        <a:ext cx="6583466" cy="788627"/>
      </dsp:txXfrm>
    </dsp:sp>
    <dsp:sp modelId="{7E75EACB-648D-664D-8A42-478729C92096}">
      <dsp:nvSpPr>
        <dsp:cNvPr id="0" name=""/>
        <dsp:cNvSpPr/>
      </dsp:nvSpPr>
      <dsp:spPr>
        <a:xfrm>
          <a:off x="0" y="792075"/>
          <a:ext cx="6668792" cy="873953"/>
        </a:xfrm>
        <a:prstGeom prst="roundRect">
          <a:avLst/>
        </a:prstGeom>
        <a:solidFill>
          <a:schemeClr val="accent4">
            <a:lumMod val="40000"/>
            <a:lumOff val="60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b="0" i="0" u="none" kern="1200" dirty="0"/>
            <a:t>Build Decision Tree, Bagging classifier, and Random Forest - Comment on model performance</a:t>
          </a:r>
          <a:endParaRPr lang="en-US" sz="1600" kern="1200" dirty="0"/>
        </a:p>
      </dsp:txBody>
      <dsp:txXfrm>
        <a:off x="42663" y="834738"/>
        <a:ext cx="6583466" cy="788627"/>
      </dsp:txXfrm>
    </dsp:sp>
    <dsp:sp modelId="{8EFF98D5-1D90-DF49-A6A0-392345020BD2}">
      <dsp:nvSpPr>
        <dsp:cNvPr id="0" name=""/>
        <dsp:cNvSpPr/>
      </dsp:nvSpPr>
      <dsp:spPr>
        <a:xfrm>
          <a:off x="0" y="1674843"/>
          <a:ext cx="6668792" cy="873953"/>
        </a:xfrm>
        <a:prstGeom prst="roundRect">
          <a:avLst/>
        </a:prstGeom>
        <a:solidFill>
          <a:schemeClr val="accent5">
            <a:lumMod val="75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b="0" i="0" u="none" kern="1200" dirty="0"/>
            <a:t>Comment on the model performance after tuning the Decision Tree, Bagging, and Random Forest classifier to improve the model performance.</a:t>
          </a:r>
          <a:endParaRPr lang="en-US" sz="1600" kern="1200" dirty="0"/>
        </a:p>
      </dsp:txBody>
      <dsp:txXfrm>
        <a:off x="42663" y="1717506"/>
        <a:ext cx="6583466" cy="788627"/>
      </dsp:txXfrm>
    </dsp:sp>
    <dsp:sp modelId="{B03B468B-7B41-4C44-8AF8-490F4327F835}">
      <dsp:nvSpPr>
        <dsp:cNvPr id="0" name=""/>
        <dsp:cNvSpPr/>
      </dsp:nvSpPr>
      <dsp:spPr>
        <a:xfrm>
          <a:off x="0" y="2672982"/>
          <a:ext cx="6668792" cy="873953"/>
        </a:xfrm>
        <a:prstGeom prst="roundRect">
          <a:avLst/>
        </a:prstGeom>
        <a:solidFill>
          <a:schemeClr val="accent3">
            <a:lumMod val="60000"/>
            <a:lumOff val="40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b="0" i="0" u="none" kern="1200" dirty="0"/>
            <a:t>Build </a:t>
          </a:r>
          <a:r>
            <a:rPr lang="en-US" sz="1600" b="0" i="0" u="none" kern="1200" dirty="0" err="1"/>
            <a:t>Adaboost</a:t>
          </a:r>
          <a:r>
            <a:rPr lang="en-US" sz="1600" b="0" i="0" u="none" kern="1200" dirty="0"/>
            <a:t> and </a:t>
          </a:r>
          <a:r>
            <a:rPr lang="en-US" sz="1600" b="0" i="0" u="none" kern="1200" dirty="0" err="1"/>
            <a:t>GradientBoost</a:t>
          </a:r>
          <a:r>
            <a:rPr lang="en-US" sz="1600" b="0" i="0" u="none" kern="1200" dirty="0"/>
            <a:t> - Comment on model performance * Please note building </a:t>
          </a:r>
          <a:r>
            <a:rPr lang="en-US" sz="1600" b="0" i="0" u="none" kern="1200" dirty="0" err="1"/>
            <a:t>XGBoost</a:t>
          </a:r>
          <a:r>
            <a:rPr lang="en-US" sz="1600" b="0" i="0" u="none" kern="1200" dirty="0"/>
            <a:t> model is optional</a:t>
          </a:r>
          <a:endParaRPr lang="en-US" sz="1600" kern="1200" dirty="0"/>
        </a:p>
      </dsp:txBody>
      <dsp:txXfrm>
        <a:off x="42663" y="2715645"/>
        <a:ext cx="6583466" cy="788627"/>
      </dsp:txXfrm>
    </dsp:sp>
    <dsp:sp modelId="{946DC1E7-C411-D049-8E90-9E1F5D093338}">
      <dsp:nvSpPr>
        <dsp:cNvPr id="0" name=""/>
        <dsp:cNvSpPr/>
      </dsp:nvSpPr>
      <dsp:spPr>
        <a:xfrm>
          <a:off x="0" y="3634983"/>
          <a:ext cx="6668792" cy="873953"/>
        </a:xfrm>
        <a:prstGeom prst="roundRect">
          <a:avLst/>
        </a:prstGeom>
        <a:solidFill>
          <a:schemeClr val="tx2">
            <a:lumMod val="75000"/>
            <a:lumOff val="25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b="0" i="0" u="none" kern="1200" dirty="0"/>
            <a:t>Comment on the model performance after tuning the AdaBoost, and Gradient Boosting classifier on the appropriate metric to improve the model performance - Build Stacking Classifier</a:t>
          </a:r>
          <a:endParaRPr lang="en-US" sz="1600" kern="1200" dirty="0"/>
        </a:p>
      </dsp:txBody>
      <dsp:txXfrm>
        <a:off x="42663" y="3677646"/>
        <a:ext cx="6583466" cy="788627"/>
      </dsp:txXfrm>
    </dsp:sp>
    <dsp:sp modelId="{106A94CE-96F3-7243-8B85-12151C5A58D8}">
      <dsp:nvSpPr>
        <dsp:cNvPr id="0" name=""/>
        <dsp:cNvSpPr/>
      </dsp:nvSpPr>
      <dsp:spPr>
        <a:xfrm>
          <a:off x="0" y="4661970"/>
          <a:ext cx="6668792" cy="873953"/>
        </a:xfrm>
        <a:prstGeom prst="roundRect">
          <a:avLst/>
        </a:prstGeom>
        <a:solidFill>
          <a:schemeClr val="accent6">
            <a:lumMod val="75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dirty="0"/>
            <a:t>Recommendation and actionable insights</a:t>
          </a:r>
        </a:p>
        <a:p>
          <a:pPr marL="0" lvl="0" indent="0" algn="l" defTabSz="711200">
            <a:lnSpc>
              <a:spcPct val="90000"/>
            </a:lnSpc>
            <a:spcBef>
              <a:spcPct val="0"/>
            </a:spcBef>
            <a:spcAft>
              <a:spcPct val="35000"/>
            </a:spcAft>
            <a:buNone/>
          </a:pPr>
          <a:endParaRPr lang="en-US" sz="1600" kern="1200" dirty="0"/>
        </a:p>
      </dsp:txBody>
      <dsp:txXfrm>
        <a:off x="42663" y="4704633"/>
        <a:ext cx="6583466" cy="78862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A6B166B-E6ED-214B-9FEF-8FCBA3E213F3}">
      <dsp:nvSpPr>
        <dsp:cNvPr id="0" name=""/>
        <dsp:cNvSpPr/>
      </dsp:nvSpPr>
      <dsp:spPr>
        <a:xfrm>
          <a:off x="1371981" y="2324"/>
          <a:ext cx="2537649" cy="1522589"/>
        </a:xfrm>
        <a:prstGeom prst="rect">
          <a:avLst/>
        </a:prstGeom>
        <a:solidFill>
          <a:schemeClr val="accent5">
            <a:lumMod val="60000"/>
            <a:lumOff val="4000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There are  25,480 rows and 12 columns in dataset</a:t>
          </a:r>
        </a:p>
      </dsp:txBody>
      <dsp:txXfrm>
        <a:off x="1371981" y="2324"/>
        <a:ext cx="2537649" cy="1522589"/>
      </dsp:txXfrm>
    </dsp:sp>
    <dsp:sp modelId="{678D0DA5-7D1B-5847-A22A-8809344833DD}">
      <dsp:nvSpPr>
        <dsp:cNvPr id="0" name=""/>
        <dsp:cNvSpPr/>
      </dsp:nvSpPr>
      <dsp:spPr>
        <a:xfrm>
          <a:off x="1371981" y="1778679"/>
          <a:ext cx="2537649" cy="1522589"/>
        </a:xfrm>
        <a:prstGeom prst="rect">
          <a:avLst/>
        </a:prstGeom>
        <a:solidFill>
          <a:schemeClr val="accent4">
            <a:lumMod val="60000"/>
            <a:lumOff val="4000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The dataset has no null values</a:t>
          </a:r>
        </a:p>
      </dsp:txBody>
      <dsp:txXfrm>
        <a:off x="1371981" y="1778679"/>
        <a:ext cx="2537649" cy="1522589"/>
      </dsp:txXfrm>
    </dsp:sp>
    <dsp:sp modelId="{C5A9496B-4872-8544-8B35-4D7450590C2D}">
      <dsp:nvSpPr>
        <dsp:cNvPr id="0" name=""/>
        <dsp:cNvSpPr/>
      </dsp:nvSpPr>
      <dsp:spPr>
        <a:xfrm>
          <a:off x="1371981" y="3555034"/>
          <a:ext cx="2537649" cy="1522589"/>
        </a:xfrm>
        <a:prstGeom prst="rect">
          <a:avLst/>
        </a:prstGeom>
        <a:solidFill>
          <a:schemeClr val="accent5">
            <a:lumMod val="7500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There are 3 numeric columns and 9 object (non numeric) data points</a:t>
          </a:r>
        </a:p>
      </dsp:txBody>
      <dsp:txXfrm>
        <a:off x="1371981" y="3555034"/>
        <a:ext cx="2537649" cy="1522589"/>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BA1826-1B3E-4E2E-8D6C-93BCEAA3D6C6}"/>
              </a:ext>
            </a:extLst>
          </p:cNvPr>
          <p:cNvSpPr>
            <a:spLocks noGrp="1"/>
          </p:cNvSpPr>
          <p:nvPr>
            <p:ph type="ctrTitle"/>
          </p:nvPr>
        </p:nvSpPr>
        <p:spPr>
          <a:xfrm>
            <a:off x="2107200" y="1096965"/>
            <a:ext cx="7977600" cy="2085696"/>
          </a:xfrm>
        </p:spPr>
        <p:txBody>
          <a:bodyPr anchor="b">
            <a:normAutofit/>
          </a:bodyPr>
          <a:lstStyle>
            <a:lvl1pPr algn="ctr">
              <a:defRPr sz="48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AB5F0CE-1714-4650-9690-5676C06349A0}"/>
              </a:ext>
            </a:extLst>
          </p:cNvPr>
          <p:cNvSpPr>
            <a:spLocks noGrp="1"/>
          </p:cNvSpPr>
          <p:nvPr>
            <p:ph type="subTitle" idx="1"/>
          </p:nvPr>
        </p:nvSpPr>
        <p:spPr>
          <a:xfrm>
            <a:off x="3216000" y="3945771"/>
            <a:ext cx="5760000" cy="1832730"/>
          </a:xfrm>
        </p:spPr>
        <p:txBody>
          <a:bodyPr>
            <a:normAutofit/>
          </a:bodyPr>
          <a:lstStyle>
            <a:lvl1pPr marL="0" indent="0" algn="ctr">
              <a:lnSpc>
                <a:spcPct val="125000"/>
              </a:lnSpc>
              <a:buNone/>
              <a:defRPr sz="2400" i="0" spc="5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BFD0CA85-BF38-4762-934C-D00F2047C2D1}"/>
              </a:ext>
            </a:extLst>
          </p:cNvPr>
          <p:cNvSpPr>
            <a:spLocks noGrp="1"/>
          </p:cNvSpPr>
          <p:nvPr>
            <p:ph type="dt" sz="half" idx="10"/>
          </p:nvPr>
        </p:nvSpPr>
        <p:spPr/>
        <p:txBody>
          <a:bodyPr/>
          <a:lstStyle/>
          <a:p>
            <a:fld id="{4EC743F4-8769-40B4-85DF-6CB8DE9F66AA}" type="datetimeFigureOut">
              <a:rPr lang="en-US" smtClean="0"/>
              <a:t>8/30/24</a:t>
            </a:fld>
            <a:endParaRPr lang="en-US"/>
          </a:p>
        </p:txBody>
      </p:sp>
      <p:sp>
        <p:nvSpPr>
          <p:cNvPr id="5" name="Footer Placeholder 4">
            <a:extLst>
              <a:ext uri="{FF2B5EF4-FFF2-40B4-BE49-F238E27FC236}">
                <a16:creationId xmlns:a16="http://schemas.microsoft.com/office/drawing/2014/main" id="{649CA3C9-6579-49D9-A5FD-20231FB4B35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B9B94FE-6287-4D49-B0E5-FE9A9BA75A0C}"/>
              </a:ext>
            </a:extLst>
          </p:cNvPr>
          <p:cNvSpPr>
            <a:spLocks noGrp="1"/>
          </p:cNvSpPr>
          <p:nvPr>
            <p:ph type="sldNum" sz="quarter" idx="12"/>
          </p:nvPr>
        </p:nvSpPr>
        <p:spPr/>
        <p:txBody>
          <a:bodyPr/>
          <a:lstStyle/>
          <a:p>
            <a:fld id="{FF2BD96E-3838-45D2-9031-D3AF67C920A5}" type="slidenum">
              <a:rPr lang="en-US" smtClean="0"/>
              <a:t>‹#›</a:t>
            </a:fld>
            <a:endParaRPr lang="en-US"/>
          </a:p>
        </p:txBody>
      </p:sp>
      <p:cxnSp>
        <p:nvCxnSpPr>
          <p:cNvPr id="7" name="Straight Connector 6">
            <a:extLst>
              <a:ext uri="{FF2B5EF4-FFF2-40B4-BE49-F238E27FC236}">
                <a16:creationId xmlns:a16="http://schemas.microsoft.com/office/drawing/2014/main" id="{AE0C0B2A-3FD1-4235-A16E-0ED1E028A93E}"/>
              </a:ext>
            </a:extLst>
          </p:cNvPr>
          <p:cNvCxnSpPr>
            <a:cxnSpLocks/>
          </p:cNvCxnSpPr>
          <p:nvPr/>
        </p:nvCxnSpPr>
        <p:spPr>
          <a:xfrm>
            <a:off x="5826000" y="3525773"/>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9494E066-0146-46E9-BAF1-C33240ABA294}"/>
              </a:ext>
            </a:extLst>
          </p:cNvPr>
          <p:cNvGrpSpPr/>
          <p:nvPr/>
        </p:nvGrpSpPr>
        <p:grpSpPr>
          <a:xfrm rot="2700000">
            <a:off x="10127693" y="4178240"/>
            <a:ext cx="633413" cy="1862138"/>
            <a:chOff x="5959192" y="333389"/>
            <a:chExt cx="633413" cy="1862138"/>
          </a:xfrm>
        </p:grpSpPr>
        <p:grpSp>
          <p:nvGrpSpPr>
            <p:cNvPr id="9" name="Group 8">
              <a:extLst>
                <a:ext uri="{FF2B5EF4-FFF2-40B4-BE49-F238E27FC236}">
                  <a16:creationId xmlns:a16="http://schemas.microsoft.com/office/drawing/2014/main" id="{B02BD80B-C499-4DAC-9580-575B04F8658F}"/>
                </a:ext>
              </a:extLst>
            </p:cNvPr>
            <p:cNvGrpSpPr/>
            <p:nvPr/>
          </p:nvGrpSpPr>
          <p:grpSpPr>
            <a:xfrm>
              <a:off x="5959192" y="333389"/>
              <a:ext cx="633413" cy="1419225"/>
              <a:chOff x="5959192" y="333389"/>
              <a:chExt cx="633413" cy="1419225"/>
            </a:xfrm>
          </p:grpSpPr>
          <p:sp>
            <p:nvSpPr>
              <p:cNvPr id="11" name="Freeform 68">
                <a:extLst>
                  <a:ext uri="{FF2B5EF4-FFF2-40B4-BE49-F238E27FC236}">
                    <a16:creationId xmlns:a16="http://schemas.microsoft.com/office/drawing/2014/main" id="{CCF069F3-858C-4C67-90C2-46017C3D4CEB}"/>
                  </a:ext>
                </a:extLst>
              </p:cNvPr>
              <p:cNvSpPr>
                <a:spLocks/>
              </p:cNvSpPr>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69">
                <a:extLst>
                  <a:ext uri="{FF2B5EF4-FFF2-40B4-BE49-F238E27FC236}">
                    <a16:creationId xmlns:a16="http://schemas.microsoft.com/office/drawing/2014/main" id="{8A1FFA52-DFA8-4A81-8A85-50BE13257F51}"/>
                  </a:ext>
                </a:extLst>
              </p:cNvPr>
              <p:cNvSpPr>
                <a:spLocks/>
              </p:cNvSpPr>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10" name="Line 70">
              <a:extLst>
                <a:ext uri="{FF2B5EF4-FFF2-40B4-BE49-F238E27FC236}">
                  <a16:creationId xmlns:a16="http://schemas.microsoft.com/office/drawing/2014/main" id="{BAEDA471-60CB-4A0C-B9AD-B2B3C51EA2FD}"/>
                </a:ext>
              </a:extLst>
            </p:cNvPr>
            <p:cNvSpPr>
              <a:spLocks noChangeShapeType="1"/>
            </p:cNvSpPr>
            <p:nvPr/>
          </p:nvSpPr>
          <p:spPr bwMode="auto">
            <a:xfrm flipV="1">
              <a:off x="6278280"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9600856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732E59-6597-437B-B2F8-E2DD1F86A8F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0E3BC1D-912E-4012-84AC-A509C9EF4F4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E977110C-4AA3-4101-B3BD-140B90AF99C9}"/>
              </a:ext>
            </a:extLst>
          </p:cNvPr>
          <p:cNvSpPr>
            <a:spLocks noGrp="1"/>
          </p:cNvSpPr>
          <p:nvPr>
            <p:ph type="dt" sz="half" idx="10"/>
          </p:nvPr>
        </p:nvSpPr>
        <p:spPr/>
        <p:txBody>
          <a:bodyPr/>
          <a:lstStyle/>
          <a:p>
            <a:fld id="{4EC743F4-8769-40B4-85DF-6CB8DE9F66AA}" type="datetimeFigureOut">
              <a:rPr lang="en-US" smtClean="0"/>
              <a:t>8/30/24</a:t>
            </a:fld>
            <a:endParaRPr lang="en-US"/>
          </a:p>
        </p:txBody>
      </p:sp>
      <p:sp>
        <p:nvSpPr>
          <p:cNvPr id="5" name="Footer Placeholder 4">
            <a:extLst>
              <a:ext uri="{FF2B5EF4-FFF2-40B4-BE49-F238E27FC236}">
                <a16:creationId xmlns:a16="http://schemas.microsoft.com/office/drawing/2014/main" id="{4C50F189-4D8E-4DE6-8295-CF92FA8BFDE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5F33EC-1ACF-4D46-AEA5-A20802210B75}"/>
              </a:ext>
            </a:extLst>
          </p:cNvPr>
          <p:cNvSpPr>
            <a:spLocks noGrp="1"/>
          </p:cNvSpPr>
          <p:nvPr>
            <p:ph type="sldNum" sz="quarter" idx="12"/>
          </p:nvPr>
        </p:nvSpPr>
        <p:spPr/>
        <p:txBody>
          <a:bodyPr/>
          <a:lstStyle/>
          <a:p>
            <a:fld id="{FF2BD96E-3838-45D2-9031-D3AF67C920A5}" type="slidenum">
              <a:rPr lang="en-US" smtClean="0"/>
              <a:t>‹#›</a:t>
            </a:fld>
            <a:endParaRPr lang="en-US"/>
          </a:p>
        </p:txBody>
      </p:sp>
    </p:spTree>
    <p:extLst>
      <p:ext uri="{BB962C8B-B14F-4D97-AF65-F5344CB8AC3E}">
        <p14:creationId xmlns:p14="http://schemas.microsoft.com/office/powerpoint/2010/main" val="9961069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045267-19A7-4A3D-9658-AD3F78DD35CB}"/>
              </a:ext>
            </a:extLst>
          </p:cNvPr>
          <p:cNvSpPr>
            <a:spLocks noGrp="1"/>
          </p:cNvSpPr>
          <p:nvPr>
            <p:ph type="title"/>
          </p:nvPr>
        </p:nvSpPr>
        <p:spPr>
          <a:xfrm>
            <a:off x="990000" y="2305800"/>
            <a:ext cx="4636800" cy="2246400"/>
          </a:xfrm>
        </p:spPr>
        <p:txBody>
          <a:bodyPr anchor="ctr">
            <a:normAutofit/>
          </a:bodyPr>
          <a:lstStyle>
            <a:lvl1pPr algn="ctr">
              <a:defRPr sz="48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5F17554-5672-499F-BEB9-AB069E6D15F2}"/>
              </a:ext>
            </a:extLst>
          </p:cNvPr>
          <p:cNvSpPr>
            <a:spLocks noGrp="1"/>
          </p:cNvSpPr>
          <p:nvPr>
            <p:ph type="body" idx="1"/>
          </p:nvPr>
        </p:nvSpPr>
        <p:spPr>
          <a:xfrm>
            <a:off x="6565250" y="2305800"/>
            <a:ext cx="4636800" cy="2246400"/>
          </a:xfrm>
        </p:spPr>
        <p:txBody>
          <a:bodyPr anchor="ctr">
            <a:normAutofit/>
          </a:bodyPr>
          <a:lstStyle>
            <a:lvl1pPr marL="0" indent="0" algn="ctr">
              <a:lnSpc>
                <a:spcPct val="125000"/>
              </a:lnSpc>
              <a:buNone/>
              <a:defRPr sz="2400" i="1">
                <a:solidFill>
                  <a:schemeClr val="tx1">
                    <a:alpha val="6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0CBA3C6-C279-46AA-B4EE-5F861D83D2AC}"/>
              </a:ext>
            </a:extLst>
          </p:cNvPr>
          <p:cNvSpPr>
            <a:spLocks noGrp="1"/>
          </p:cNvSpPr>
          <p:nvPr>
            <p:ph type="dt" sz="half" idx="10"/>
          </p:nvPr>
        </p:nvSpPr>
        <p:spPr/>
        <p:txBody>
          <a:bodyPr/>
          <a:lstStyle/>
          <a:p>
            <a:fld id="{4EC743F4-8769-40B4-85DF-6CB8DE9F66AA}" type="datetimeFigureOut">
              <a:rPr lang="en-US" smtClean="0"/>
              <a:t>8/30/24</a:t>
            </a:fld>
            <a:endParaRPr lang="en-US" dirty="0"/>
          </a:p>
        </p:txBody>
      </p:sp>
      <p:sp>
        <p:nvSpPr>
          <p:cNvPr id="5" name="Footer Placeholder 4">
            <a:extLst>
              <a:ext uri="{FF2B5EF4-FFF2-40B4-BE49-F238E27FC236}">
                <a16:creationId xmlns:a16="http://schemas.microsoft.com/office/drawing/2014/main" id="{F04C125B-DDB9-4F4E-B9E9-A747E648FC9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83D465E-E86B-42A8-B18A-9046E40D63D6}"/>
              </a:ext>
            </a:extLst>
          </p:cNvPr>
          <p:cNvSpPr>
            <a:spLocks noGrp="1"/>
          </p:cNvSpPr>
          <p:nvPr>
            <p:ph type="sldNum" sz="quarter" idx="12"/>
          </p:nvPr>
        </p:nvSpPr>
        <p:spPr/>
        <p:txBody>
          <a:bodyPr/>
          <a:lstStyle/>
          <a:p>
            <a:fld id="{FF2BD96E-3838-45D2-9031-D3AF67C920A5}" type="slidenum">
              <a:rPr lang="en-US" smtClean="0"/>
              <a:t>‹#›</a:t>
            </a:fld>
            <a:endParaRPr lang="en-US"/>
          </a:p>
        </p:txBody>
      </p:sp>
      <p:sp>
        <p:nvSpPr>
          <p:cNvPr id="7" name="Oval 6">
            <a:extLst>
              <a:ext uri="{FF2B5EF4-FFF2-40B4-BE49-F238E27FC236}">
                <a16:creationId xmlns:a16="http://schemas.microsoft.com/office/drawing/2014/main" id="{6681007E-0E57-40DB-9A98-D04E0A05937B}"/>
              </a:ext>
            </a:extLst>
          </p:cNvPr>
          <p:cNvSpPr/>
          <p:nvPr/>
        </p:nvSpPr>
        <p:spPr>
          <a:xfrm>
            <a:off x="1437136" y="649304"/>
            <a:ext cx="340415" cy="340415"/>
          </a:xfrm>
          <a:prstGeom prst="ellipse">
            <a:avLst/>
          </a:pr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pPr lvl="0"/>
            <a:endParaRPr lang="en-US">
              <a:solidFill>
                <a:schemeClr val="tx1"/>
              </a:solidFill>
            </a:endParaRPr>
          </a:p>
        </p:txBody>
      </p:sp>
      <p:grpSp>
        <p:nvGrpSpPr>
          <p:cNvPr id="8" name="Group 7">
            <a:extLst>
              <a:ext uri="{FF2B5EF4-FFF2-40B4-BE49-F238E27FC236}">
                <a16:creationId xmlns:a16="http://schemas.microsoft.com/office/drawing/2014/main" id="{4C2D7ED2-BAE3-470E-9EFF-F2A49EDD9767}"/>
              </a:ext>
            </a:extLst>
          </p:cNvPr>
          <p:cNvGrpSpPr/>
          <p:nvPr/>
        </p:nvGrpSpPr>
        <p:grpSpPr>
          <a:xfrm rot="10800000">
            <a:off x="1079500" y="952167"/>
            <a:ext cx="641184" cy="1069728"/>
            <a:chOff x="6484111" y="2967038"/>
            <a:chExt cx="641184" cy="1069728"/>
          </a:xfrm>
        </p:grpSpPr>
        <p:grpSp>
          <p:nvGrpSpPr>
            <p:cNvPr id="9" name="Group 8">
              <a:extLst>
                <a:ext uri="{FF2B5EF4-FFF2-40B4-BE49-F238E27FC236}">
                  <a16:creationId xmlns:a16="http://schemas.microsoft.com/office/drawing/2014/main" id="{15B14D1A-9E1B-41C3-96AA-A5C40C4F9B3A}"/>
                </a:ext>
              </a:extLst>
            </p:cNvPr>
            <p:cNvGrpSpPr/>
            <p:nvPr/>
          </p:nvGrpSpPr>
          <p:grpSpPr>
            <a:xfrm>
              <a:off x="6808136" y="2967038"/>
              <a:ext cx="317159" cy="932400"/>
              <a:chOff x="6808136" y="2967038"/>
              <a:chExt cx="317159" cy="932400"/>
            </a:xfrm>
          </p:grpSpPr>
          <p:sp>
            <p:nvSpPr>
              <p:cNvPr id="14" name="Freeform 68">
                <a:extLst>
                  <a:ext uri="{FF2B5EF4-FFF2-40B4-BE49-F238E27FC236}">
                    <a16:creationId xmlns:a16="http://schemas.microsoft.com/office/drawing/2014/main" id="{00EC83EC-04A6-4533-80A5-B1817F1FB35E}"/>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69">
                <a:extLst>
                  <a:ext uri="{FF2B5EF4-FFF2-40B4-BE49-F238E27FC236}">
                    <a16:creationId xmlns:a16="http://schemas.microsoft.com/office/drawing/2014/main" id="{BF61FF24-9074-4265-ACF4-1AEC3621B766}"/>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6" name="Line 70">
                <a:extLst>
                  <a:ext uri="{FF2B5EF4-FFF2-40B4-BE49-F238E27FC236}">
                    <a16:creationId xmlns:a16="http://schemas.microsoft.com/office/drawing/2014/main" id="{8D31D9FF-672B-4C5E-B4B2-DD86A124413F}"/>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0" name="Group 9">
              <a:extLst>
                <a:ext uri="{FF2B5EF4-FFF2-40B4-BE49-F238E27FC236}">
                  <a16:creationId xmlns:a16="http://schemas.microsoft.com/office/drawing/2014/main" id="{8991EBFD-EBD5-48CE-9178-AF5B6F50D416}"/>
                </a:ext>
              </a:extLst>
            </p:cNvPr>
            <p:cNvGrpSpPr/>
            <p:nvPr/>
          </p:nvGrpSpPr>
          <p:grpSpPr>
            <a:xfrm rot="18900000" flipH="1">
              <a:off x="6484111" y="3104366"/>
              <a:ext cx="317159" cy="932400"/>
              <a:chOff x="6808136" y="2967038"/>
              <a:chExt cx="317159" cy="932400"/>
            </a:xfrm>
          </p:grpSpPr>
          <p:sp>
            <p:nvSpPr>
              <p:cNvPr id="11" name="Freeform 68">
                <a:extLst>
                  <a:ext uri="{FF2B5EF4-FFF2-40B4-BE49-F238E27FC236}">
                    <a16:creationId xmlns:a16="http://schemas.microsoft.com/office/drawing/2014/main" id="{1B45F046-3129-4A30-9402-44BA590CD1B6}"/>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69">
                <a:extLst>
                  <a:ext uri="{FF2B5EF4-FFF2-40B4-BE49-F238E27FC236}">
                    <a16:creationId xmlns:a16="http://schemas.microsoft.com/office/drawing/2014/main" id="{24589F32-BB2E-46B1-BAB5-75EA779C7A25}"/>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3" name="Line 70">
                <a:extLst>
                  <a:ext uri="{FF2B5EF4-FFF2-40B4-BE49-F238E27FC236}">
                    <a16:creationId xmlns:a16="http://schemas.microsoft.com/office/drawing/2014/main" id="{0BD46CA5-AE89-4413-AB8D-347179D88133}"/>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cxnSp>
        <p:nvCxnSpPr>
          <p:cNvPr id="17" name="Straight Connector 16">
            <a:extLst>
              <a:ext uri="{FF2B5EF4-FFF2-40B4-BE49-F238E27FC236}">
                <a16:creationId xmlns:a16="http://schemas.microsoft.com/office/drawing/2014/main" id="{4043A360-3214-4DB8-BD85-C6AE48D02D3A}"/>
              </a:ext>
            </a:extLst>
          </p:cNvPr>
          <p:cNvCxnSpPr>
            <a:cxnSpLocks/>
          </p:cNvCxnSpPr>
          <p:nvPr/>
        </p:nvCxnSpPr>
        <p:spPr>
          <a:xfrm rot="16200000" flipH="1">
            <a:off x="5826000" y="3429001"/>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495613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4AEE3-6C7B-402E-B26D-1D079D78D307}"/>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B1101641-6BDA-433D-9393-1DDACE06701C}"/>
              </a:ext>
            </a:extLst>
          </p:cNvPr>
          <p:cNvSpPr>
            <a:spLocks noGrp="1"/>
          </p:cNvSpPr>
          <p:nvPr>
            <p:ph sz="half" idx="1"/>
          </p:nvPr>
        </p:nvSpPr>
        <p:spPr>
          <a:xfrm>
            <a:off x="989400" y="1685925"/>
            <a:ext cx="4928400" cy="4092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DB8F8D2A-A489-488D-B1E1-23F36D3E95C7}"/>
              </a:ext>
            </a:extLst>
          </p:cNvPr>
          <p:cNvSpPr>
            <a:spLocks noGrp="1"/>
          </p:cNvSpPr>
          <p:nvPr>
            <p:ph sz="half" idx="2"/>
          </p:nvPr>
        </p:nvSpPr>
        <p:spPr>
          <a:xfrm>
            <a:off x="6274202" y="1685925"/>
            <a:ext cx="4928400" cy="4092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1CA242E8-AEEF-4BBD-94E9-86F89D69522C}"/>
              </a:ext>
            </a:extLst>
          </p:cNvPr>
          <p:cNvSpPr>
            <a:spLocks noGrp="1"/>
          </p:cNvSpPr>
          <p:nvPr>
            <p:ph type="dt" sz="half" idx="10"/>
          </p:nvPr>
        </p:nvSpPr>
        <p:spPr/>
        <p:txBody>
          <a:bodyPr/>
          <a:lstStyle/>
          <a:p>
            <a:fld id="{4EC743F4-8769-40B4-85DF-6CB8DE9F66AA}" type="datetimeFigureOut">
              <a:rPr lang="en-US" smtClean="0"/>
              <a:t>8/30/24</a:t>
            </a:fld>
            <a:endParaRPr lang="en-US"/>
          </a:p>
        </p:txBody>
      </p:sp>
      <p:sp>
        <p:nvSpPr>
          <p:cNvPr id="6" name="Footer Placeholder 5">
            <a:extLst>
              <a:ext uri="{FF2B5EF4-FFF2-40B4-BE49-F238E27FC236}">
                <a16:creationId xmlns:a16="http://schemas.microsoft.com/office/drawing/2014/main" id="{BD58D2CA-06C9-412D-A5D6-F97DDBBB03D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21A80D9-E04B-47BF-80DA-01E68346A51C}"/>
              </a:ext>
            </a:extLst>
          </p:cNvPr>
          <p:cNvSpPr>
            <a:spLocks noGrp="1"/>
          </p:cNvSpPr>
          <p:nvPr>
            <p:ph type="sldNum" sz="quarter" idx="12"/>
          </p:nvPr>
        </p:nvSpPr>
        <p:spPr/>
        <p:txBody>
          <a:bodyPr/>
          <a:lstStyle/>
          <a:p>
            <a:fld id="{FF2BD96E-3838-45D2-9031-D3AF67C920A5}" type="slidenum">
              <a:rPr lang="en-US" smtClean="0"/>
              <a:t>‹#›</a:t>
            </a:fld>
            <a:endParaRPr lang="en-US"/>
          </a:p>
        </p:txBody>
      </p:sp>
    </p:spTree>
    <p:extLst>
      <p:ext uri="{BB962C8B-B14F-4D97-AF65-F5344CB8AC3E}">
        <p14:creationId xmlns:p14="http://schemas.microsoft.com/office/powerpoint/2010/main" val="31584004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A42251-8A4B-463E-982B-C657C3810F36}"/>
              </a:ext>
            </a:extLst>
          </p:cNvPr>
          <p:cNvSpPr>
            <a:spLocks noGrp="1"/>
          </p:cNvSpPr>
          <p:nvPr>
            <p:ph type="title"/>
          </p:nvPr>
        </p:nvSpPr>
        <p:spPr>
          <a:xfrm>
            <a:off x="989400" y="395289"/>
            <a:ext cx="10213200" cy="1112836"/>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74D5E-AC0B-46BF-8840-61CC89C3B6BE}"/>
              </a:ext>
            </a:extLst>
          </p:cNvPr>
          <p:cNvSpPr>
            <a:spLocks noGrp="1"/>
          </p:cNvSpPr>
          <p:nvPr>
            <p:ph type="body" idx="1"/>
          </p:nvPr>
        </p:nvSpPr>
        <p:spPr>
          <a:xfrm>
            <a:off x="989399" y="1736732"/>
            <a:ext cx="4928400" cy="661912"/>
          </a:xfrm>
        </p:spPr>
        <p:txBody>
          <a:bodyPr anchor="b">
            <a:normAutofit/>
          </a:bodyPr>
          <a:lstStyle>
            <a:lvl1pPr marL="0" indent="0">
              <a:buNone/>
              <a:defRPr sz="1600" b="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01A0738-7A90-4A35-AB98-9656D6187286}"/>
              </a:ext>
            </a:extLst>
          </p:cNvPr>
          <p:cNvSpPr>
            <a:spLocks noGrp="1"/>
          </p:cNvSpPr>
          <p:nvPr>
            <p:ph sz="half" idx="2"/>
          </p:nvPr>
        </p:nvSpPr>
        <p:spPr>
          <a:xfrm>
            <a:off x="989400" y="2431256"/>
            <a:ext cx="4928400" cy="33472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5DADFE01-1BA7-4288-9355-8B2B508BE582}"/>
              </a:ext>
            </a:extLst>
          </p:cNvPr>
          <p:cNvSpPr>
            <a:spLocks noGrp="1"/>
          </p:cNvSpPr>
          <p:nvPr>
            <p:ph type="body" sz="quarter" idx="3"/>
          </p:nvPr>
        </p:nvSpPr>
        <p:spPr>
          <a:xfrm>
            <a:off x="6274200" y="1736732"/>
            <a:ext cx="4928400" cy="662400"/>
          </a:xfrm>
        </p:spPr>
        <p:txBody>
          <a:bodyPr anchor="b">
            <a:normAutofit/>
          </a:bodyPr>
          <a:lstStyle>
            <a:lvl1pPr marL="0" indent="0">
              <a:buNone/>
              <a:defRPr sz="1600" b="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7D49F77-6C55-47AC-B1AE-5D9906DBD7F6}"/>
              </a:ext>
            </a:extLst>
          </p:cNvPr>
          <p:cNvSpPr>
            <a:spLocks noGrp="1"/>
          </p:cNvSpPr>
          <p:nvPr>
            <p:ph sz="quarter" idx="4"/>
          </p:nvPr>
        </p:nvSpPr>
        <p:spPr>
          <a:xfrm>
            <a:off x="6274200" y="2431257"/>
            <a:ext cx="4928400" cy="33472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1D8EF53-AF86-47E8-83DC-8C419847A639}"/>
              </a:ext>
            </a:extLst>
          </p:cNvPr>
          <p:cNvSpPr>
            <a:spLocks noGrp="1"/>
          </p:cNvSpPr>
          <p:nvPr>
            <p:ph type="dt" sz="half" idx="10"/>
          </p:nvPr>
        </p:nvSpPr>
        <p:spPr/>
        <p:txBody>
          <a:bodyPr/>
          <a:lstStyle/>
          <a:p>
            <a:fld id="{4EC743F4-8769-40B4-85DF-6CB8DE9F66AA}" type="datetimeFigureOut">
              <a:rPr lang="en-US" smtClean="0"/>
              <a:t>8/30/24</a:t>
            </a:fld>
            <a:endParaRPr lang="en-US"/>
          </a:p>
        </p:txBody>
      </p:sp>
      <p:sp>
        <p:nvSpPr>
          <p:cNvPr id="8" name="Footer Placeholder 7">
            <a:extLst>
              <a:ext uri="{FF2B5EF4-FFF2-40B4-BE49-F238E27FC236}">
                <a16:creationId xmlns:a16="http://schemas.microsoft.com/office/drawing/2014/main" id="{5C01D653-ED9A-46D3-A97F-B5FA1DAE6CA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C5B9B66-64EA-4022-BD96-ECF2A80CE2F0}"/>
              </a:ext>
            </a:extLst>
          </p:cNvPr>
          <p:cNvSpPr>
            <a:spLocks noGrp="1"/>
          </p:cNvSpPr>
          <p:nvPr>
            <p:ph type="sldNum" sz="quarter" idx="12"/>
          </p:nvPr>
        </p:nvSpPr>
        <p:spPr/>
        <p:txBody>
          <a:bodyPr/>
          <a:lstStyle/>
          <a:p>
            <a:fld id="{FF2BD96E-3838-45D2-9031-D3AF67C920A5}" type="slidenum">
              <a:rPr lang="en-US" smtClean="0"/>
              <a:t>‹#›</a:t>
            </a:fld>
            <a:endParaRPr lang="en-US"/>
          </a:p>
        </p:txBody>
      </p:sp>
    </p:spTree>
    <p:extLst>
      <p:ext uri="{BB962C8B-B14F-4D97-AF65-F5344CB8AC3E}">
        <p14:creationId xmlns:p14="http://schemas.microsoft.com/office/powerpoint/2010/main" val="31920333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3B6B0-54DE-4F2D-84DD-D06CD3B117B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EFFE053-BB16-4940-B248-2D496BB29975}"/>
              </a:ext>
            </a:extLst>
          </p:cNvPr>
          <p:cNvSpPr>
            <a:spLocks noGrp="1"/>
          </p:cNvSpPr>
          <p:nvPr>
            <p:ph type="dt" sz="half" idx="10"/>
          </p:nvPr>
        </p:nvSpPr>
        <p:spPr/>
        <p:txBody>
          <a:bodyPr/>
          <a:lstStyle/>
          <a:p>
            <a:fld id="{4EC743F4-8769-40B4-85DF-6CB8DE9F66AA}" type="datetimeFigureOut">
              <a:rPr lang="en-US" smtClean="0"/>
              <a:t>8/30/24</a:t>
            </a:fld>
            <a:endParaRPr lang="en-US"/>
          </a:p>
        </p:txBody>
      </p:sp>
      <p:sp>
        <p:nvSpPr>
          <p:cNvPr id="4" name="Footer Placeholder 3">
            <a:extLst>
              <a:ext uri="{FF2B5EF4-FFF2-40B4-BE49-F238E27FC236}">
                <a16:creationId xmlns:a16="http://schemas.microsoft.com/office/drawing/2014/main" id="{31FBD80C-6CA1-42DB-B732-4807A27DA8C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7A9DA86-C177-42C6-90F8-37C6844A2AA8}"/>
              </a:ext>
            </a:extLst>
          </p:cNvPr>
          <p:cNvSpPr>
            <a:spLocks noGrp="1"/>
          </p:cNvSpPr>
          <p:nvPr>
            <p:ph type="sldNum" sz="quarter" idx="12"/>
          </p:nvPr>
        </p:nvSpPr>
        <p:spPr/>
        <p:txBody>
          <a:bodyPr/>
          <a:lstStyle/>
          <a:p>
            <a:fld id="{FF2BD96E-3838-45D2-9031-D3AF67C920A5}" type="slidenum">
              <a:rPr lang="en-US" smtClean="0"/>
              <a:t>‹#›</a:t>
            </a:fld>
            <a:endParaRPr lang="en-US"/>
          </a:p>
        </p:txBody>
      </p:sp>
    </p:spTree>
    <p:extLst>
      <p:ext uri="{BB962C8B-B14F-4D97-AF65-F5344CB8AC3E}">
        <p14:creationId xmlns:p14="http://schemas.microsoft.com/office/powerpoint/2010/main" val="29285841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746A27C-9BDA-43B3-96EA-C145EA7F04DE}"/>
              </a:ext>
            </a:extLst>
          </p:cNvPr>
          <p:cNvSpPr>
            <a:spLocks noGrp="1"/>
          </p:cNvSpPr>
          <p:nvPr>
            <p:ph type="dt" sz="half" idx="10"/>
          </p:nvPr>
        </p:nvSpPr>
        <p:spPr/>
        <p:txBody>
          <a:bodyPr/>
          <a:lstStyle/>
          <a:p>
            <a:fld id="{4EC743F4-8769-40B4-85DF-6CB8DE9F66AA}" type="datetimeFigureOut">
              <a:rPr lang="en-US" smtClean="0"/>
              <a:t>8/30/24</a:t>
            </a:fld>
            <a:endParaRPr lang="en-US"/>
          </a:p>
        </p:txBody>
      </p:sp>
      <p:sp>
        <p:nvSpPr>
          <p:cNvPr id="3" name="Footer Placeholder 2">
            <a:extLst>
              <a:ext uri="{FF2B5EF4-FFF2-40B4-BE49-F238E27FC236}">
                <a16:creationId xmlns:a16="http://schemas.microsoft.com/office/drawing/2014/main" id="{791FBD5E-AA17-42F1-8615-49F2664DD46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E57A2D5-EBE5-43DD-8CF2-8B90801A0DF5}"/>
              </a:ext>
            </a:extLst>
          </p:cNvPr>
          <p:cNvSpPr>
            <a:spLocks noGrp="1"/>
          </p:cNvSpPr>
          <p:nvPr>
            <p:ph type="sldNum" sz="quarter" idx="12"/>
          </p:nvPr>
        </p:nvSpPr>
        <p:spPr/>
        <p:txBody>
          <a:bodyPr/>
          <a:lstStyle/>
          <a:p>
            <a:fld id="{FF2BD96E-3838-45D2-9031-D3AF67C920A5}" type="slidenum">
              <a:rPr lang="en-US" smtClean="0"/>
              <a:t>‹#›</a:t>
            </a:fld>
            <a:endParaRPr lang="en-US"/>
          </a:p>
        </p:txBody>
      </p:sp>
    </p:spTree>
    <p:extLst>
      <p:ext uri="{BB962C8B-B14F-4D97-AF65-F5344CB8AC3E}">
        <p14:creationId xmlns:p14="http://schemas.microsoft.com/office/powerpoint/2010/main" val="5832603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4451E1-40E1-4ED2-A9E3-6376E774AD27}"/>
              </a:ext>
            </a:extLst>
          </p:cNvPr>
          <p:cNvSpPr>
            <a:spLocks noGrp="1"/>
          </p:cNvSpPr>
          <p:nvPr>
            <p:ph type="title"/>
          </p:nvPr>
        </p:nvSpPr>
        <p:spPr>
          <a:xfrm>
            <a:off x="990001" y="955674"/>
            <a:ext cx="3531600" cy="1384995"/>
          </a:xfrm>
        </p:spPr>
        <p:txBody>
          <a:bodyPr anchor="b">
            <a:normAutofit/>
          </a:bodyPr>
          <a:lstStyle>
            <a:lvl1pPr>
              <a:defRPr sz="2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9BAAE5E-AD83-40D4-8BDB-6B25250247AA}"/>
              </a:ext>
            </a:extLst>
          </p:cNvPr>
          <p:cNvSpPr>
            <a:spLocks noGrp="1"/>
          </p:cNvSpPr>
          <p:nvPr>
            <p:ph idx="1"/>
          </p:nvPr>
        </p:nvSpPr>
        <p:spPr>
          <a:xfrm>
            <a:off x="5444850" y="882651"/>
            <a:ext cx="5760000" cy="4895849"/>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4D4DF8E2-A28B-4889-AD9E-1D733FEA2E0C}"/>
              </a:ext>
            </a:extLst>
          </p:cNvPr>
          <p:cNvSpPr>
            <a:spLocks noGrp="1"/>
          </p:cNvSpPr>
          <p:nvPr>
            <p:ph type="body" sz="half" idx="2"/>
          </p:nvPr>
        </p:nvSpPr>
        <p:spPr>
          <a:xfrm>
            <a:off x="989401" y="2584759"/>
            <a:ext cx="3531600" cy="3193741"/>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52EF812-B775-468C-84D9-4394CC19F298}"/>
              </a:ext>
            </a:extLst>
          </p:cNvPr>
          <p:cNvSpPr>
            <a:spLocks noGrp="1"/>
          </p:cNvSpPr>
          <p:nvPr>
            <p:ph type="dt" sz="half" idx="10"/>
          </p:nvPr>
        </p:nvSpPr>
        <p:spPr/>
        <p:txBody>
          <a:bodyPr/>
          <a:lstStyle/>
          <a:p>
            <a:fld id="{4EC743F4-8769-40B4-85DF-6CB8DE9F66AA}" type="datetimeFigureOut">
              <a:rPr lang="en-US" smtClean="0"/>
              <a:t>8/30/24</a:t>
            </a:fld>
            <a:endParaRPr lang="en-US"/>
          </a:p>
        </p:txBody>
      </p:sp>
      <p:sp>
        <p:nvSpPr>
          <p:cNvPr id="6" name="Footer Placeholder 5">
            <a:extLst>
              <a:ext uri="{FF2B5EF4-FFF2-40B4-BE49-F238E27FC236}">
                <a16:creationId xmlns:a16="http://schemas.microsoft.com/office/drawing/2014/main" id="{9DE1DEB3-5237-467C-A5B6-EDA7F366EB6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1877A6B-440F-4D7B-92DA-1B964D029F12}"/>
              </a:ext>
            </a:extLst>
          </p:cNvPr>
          <p:cNvSpPr>
            <a:spLocks noGrp="1"/>
          </p:cNvSpPr>
          <p:nvPr>
            <p:ph type="sldNum" sz="quarter" idx="12"/>
          </p:nvPr>
        </p:nvSpPr>
        <p:spPr/>
        <p:txBody>
          <a:bodyPr/>
          <a:lstStyle/>
          <a:p>
            <a:fld id="{FF2BD96E-3838-45D2-9031-D3AF67C920A5}" type="slidenum">
              <a:rPr lang="en-US" smtClean="0"/>
              <a:t>‹#›</a:t>
            </a:fld>
            <a:endParaRPr lang="en-US"/>
          </a:p>
        </p:txBody>
      </p:sp>
      <p:cxnSp>
        <p:nvCxnSpPr>
          <p:cNvPr id="10" name="Straight Connector 9">
            <a:extLst>
              <a:ext uri="{FF2B5EF4-FFF2-40B4-BE49-F238E27FC236}">
                <a16:creationId xmlns:a16="http://schemas.microsoft.com/office/drawing/2014/main" id="{DC89B2F1-1E32-44DB-B50E-BEA1896CAD81}"/>
              </a:ext>
              <a:ext uri="{C183D7F6-B498-43B3-948B-1728B52AA6E4}">
                <adec:decorative xmlns:adec="http://schemas.microsoft.com/office/drawing/2017/decorative" val="0"/>
              </a:ext>
            </a:extLst>
          </p:cNvPr>
          <p:cNvCxnSpPr>
            <a:cxnSpLocks/>
          </p:cNvCxnSpPr>
          <p:nvPr/>
        </p:nvCxnSpPr>
        <p:spPr>
          <a:xfrm>
            <a:off x="4979988" y="540000"/>
            <a:ext cx="0" cy="5778000"/>
          </a:xfrm>
          <a:prstGeom prst="line">
            <a:avLst/>
          </a:prstGeom>
          <a:ln w="12700">
            <a:solidFill>
              <a:srgbClr val="FFFFFF">
                <a:alpha val="4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99004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C6B204-119E-45DB-A177-995FF5D9B4E5}"/>
              </a:ext>
            </a:extLst>
          </p:cNvPr>
          <p:cNvSpPr>
            <a:spLocks noGrp="1"/>
          </p:cNvSpPr>
          <p:nvPr>
            <p:ph type="title"/>
          </p:nvPr>
        </p:nvSpPr>
        <p:spPr>
          <a:xfrm>
            <a:off x="990000" y="955456"/>
            <a:ext cx="3531600" cy="1384995"/>
          </a:xfrm>
        </p:spPr>
        <p:txBody>
          <a:bodyPr anchor="b" anchorCtr="0">
            <a:normAutofit/>
          </a:bodyPr>
          <a:lstStyle>
            <a:lvl1pPr>
              <a:defRPr sz="28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CCD3036-53A8-4361-AAAC-D8072EB470FE}"/>
              </a:ext>
            </a:extLst>
          </p:cNvPr>
          <p:cNvSpPr>
            <a:spLocks noGrp="1"/>
          </p:cNvSpPr>
          <p:nvPr>
            <p:ph type="pic" idx="1"/>
          </p:nvPr>
        </p:nvSpPr>
        <p:spPr>
          <a:xfrm>
            <a:off x="5537200" y="540001"/>
            <a:ext cx="6115050" cy="52385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D0FCFCD5-820E-47D9-9A60-57680C4C9405}"/>
              </a:ext>
            </a:extLst>
          </p:cNvPr>
          <p:cNvSpPr>
            <a:spLocks noGrp="1"/>
          </p:cNvSpPr>
          <p:nvPr>
            <p:ph type="body" sz="half" idx="2"/>
          </p:nvPr>
        </p:nvSpPr>
        <p:spPr>
          <a:xfrm>
            <a:off x="990000" y="2584758"/>
            <a:ext cx="3531600" cy="3284229"/>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52446C3-A62E-4690-9098-53D59C4C33E0}"/>
              </a:ext>
            </a:extLst>
          </p:cNvPr>
          <p:cNvSpPr>
            <a:spLocks noGrp="1"/>
          </p:cNvSpPr>
          <p:nvPr>
            <p:ph type="dt" sz="half" idx="10"/>
          </p:nvPr>
        </p:nvSpPr>
        <p:spPr/>
        <p:txBody>
          <a:bodyPr/>
          <a:lstStyle/>
          <a:p>
            <a:fld id="{4EC743F4-8769-40B4-85DF-6CB8DE9F66AA}" type="datetimeFigureOut">
              <a:rPr lang="en-US" smtClean="0"/>
              <a:t>8/30/24</a:t>
            </a:fld>
            <a:endParaRPr lang="en-US"/>
          </a:p>
        </p:txBody>
      </p:sp>
      <p:sp>
        <p:nvSpPr>
          <p:cNvPr id="6" name="Footer Placeholder 5">
            <a:extLst>
              <a:ext uri="{FF2B5EF4-FFF2-40B4-BE49-F238E27FC236}">
                <a16:creationId xmlns:a16="http://schemas.microsoft.com/office/drawing/2014/main" id="{40A6C8B8-EA3D-45E5-950A-B6F1EA0B478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72ACAB7-ADBF-42E5-A214-232BA9EFB3B6}"/>
              </a:ext>
            </a:extLst>
          </p:cNvPr>
          <p:cNvSpPr>
            <a:spLocks noGrp="1"/>
          </p:cNvSpPr>
          <p:nvPr>
            <p:ph type="sldNum" sz="quarter" idx="12"/>
          </p:nvPr>
        </p:nvSpPr>
        <p:spPr/>
        <p:txBody>
          <a:bodyPr/>
          <a:lstStyle/>
          <a:p>
            <a:fld id="{FF2BD96E-3838-45D2-9031-D3AF67C920A5}" type="slidenum">
              <a:rPr lang="en-US" smtClean="0"/>
              <a:t>‹#›</a:t>
            </a:fld>
            <a:endParaRPr lang="en-US"/>
          </a:p>
        </p:txBody>
      </p:sp>
      <p:cxnSp>
        <p:nvCxnSpPr>
          <p:cNvPr id="9" name="Straight Connector 8">
            <a:extLst>
              <a:ext uri="{FF2B5EF4-FFF2-40B4-BE49-F238E27FC236}">
                <a16:creationId xmlns:a16="http://schemas.microsoft.com/office/drawing/2014/main" id="{D0E80DA6-B971-46B7-B0D3-8581AE0B6ACB}"/>
              </a:ext>
              <a:ext uri="{C183D7F6-B498-43B3-948B-1728B52AA6E4}">
                <adec:decorative xmlns:adec="http://schemas.microsoft.com/office/drawing/2017/decorative" val="0"/>
              </a:ext>
            </a:extLst>
          </p:cNvPr>
          <p:cNvCxnSpPr>
            <a:cxnSpLocks/>
          </p:cNvCxnSpPr>
          <p:nvPr/>
        </p:nvCxnSpPr>
        <p:spPr>
          <a:xfrm>
            <a:off x="4979988" y="540000"/>
            <a:ext cx="0" cy="5778000"/>
          </a:xfrm>
          <a:prstGeom prst="line">
            <a:avLst/>
          </a:prstGeom>
          <a:ln w="12700">
            <a:solidFill>
              <a:srgbClr val="FFFFFF">
                <a:alpha val="4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72729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2FB6D0-92CA-4910-AE77-E238F4C89D5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A913172-A138-4DD4-A5B1-58BA6250782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73897B9-E4AD-469B-A60D-9A1A4BD1980A}"/>
              </a:ext>
            </a:extLst>
          </p:cNvPr>
          <p:cNvSpPr>
            <a:spLocks noGrp="1"/>
          </p:cNvSpPr>
          <p:nvPr>
            <p:ph type="dt" sz="half" idx="10"/>
          </p:nvPr>
        </p:nvSpPr>
        <p:spPr/>
        <p:txBody>
          <a:bodyPr/>
          <a:lstStyle/>
          <a:p>
            <a:fld id="{4EC743F4-8769-40B4-85DF-6CB8DE9F66AA}" type="datetimeFigureOut">
              <a:rPr lang="en-US" smtClean="0"/>
              <a:t>8/30/24</a:t>
            </a:fld>
            <a:endParaRPr lang="en-US"/>
          </a:p>
        </p:txBody>
      </p:sp>
      <p:sp>
        <p:nvSpPr>
          <p:cNvPr id="5" name="Footer Placeholder 4">
            <a:extLst>
              <a:ext uri="{FF2B5EF4-FFF2-40B4-BE49-F238E27FC236}">
                <a16:creationId xmlns:a16="http://schemas.microsoft.com/office/drawing/2014/main" id="{31C5E1B0-48D6-4F99-9955-39958BA969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9F49DA-55D4-4E36-AEB9-A0E99E31A87E}"/>
              </a:ext>
            </a:extLst>
          </p:cNvPr>
          <p:cNvSpPr>
            <a:spLocks noGrp="1"/>
          </p:cNvSpPr>
          <p:nvPr>
            <p:ph type="sldNum" sz="quarter" idx="12"/>
          </p:nvPr>
        </p:nvSpPr>
        <p:spPr/>
        <p:txBody>
          <a:bodyPr/>
          <a:lstStyle/>
          <a:p>
            <a:fld id="{FF2BD96E-3838-45D2-9031-D3AF67C920A5}" type="slidenum">
              <a:rPr lang="en-US" smtClean="0"/>
              <a:t>‹#›</a:t>
            </a:fld>
            <a:endParaRPr lang="en-US"/>
          </a:p>
        </p:txBody>
      </p:sp>
    </p:spTree>
    <p:extLst>
      <p:ext uri="{BB962C8B-B14F-4D97-AF65-F5344CB8AC3E}">
        <p14:creationId xmlns:p14="http://schemas.microsoft.com/office/powerpoint/2010/main" val="19230983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4FEBC7C-C5C1-4A79-A195-B35701C2897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8D34A74-3328-469B-ABCA-96F2FE36873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AE19AB-5637-455E-89C3-B41702C202D4}"/>
              </a:ext>
            </a:extLst>
          </p:cNvPr>
          <p:cNvSpPr>
            <a:spLocks noGrp="1"/>
          </p:cNvSpPr>
          <p:nvPr>
            <p:ph type="dt" sz="half" idx="10"/>
          </p:nvPr>
        </p:nvSpPr>
        <p:spPr/>
        <p:txBody>
          <a:bodyPr/>
          <a:lstStyle/>
          <a:p>
            <a:fld id="{4EC743F4-8769-40B4-85DF-6CB8DE9F66AA}" type="datetimeFigureOut">
              <a:rPr lang="en-US" smtClean="0"/>
              <a:t>8/30/24</a:t>
            </a:fld>
            <a:endParaRPr lang="en-US"/>
          </a:p>
        </p:txBody>
      </p:sp>
      <p:sp>
        <p:nvSpPr>
          <p:cNvPr id="5" name="Footer Placeholder 4">
            <a:extLst>
              <a:ext uri="{FF2B5EF4-FFF2-40B4-BE49-F238E27FC236}">
                <a16:creationId xmlns:a16="http://schemas.microsoft.com/office/drawing/2014/main" id="{A364F2A3-EBEE-4F42-BAC2-A482F00E674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BFE1C27-1A43-4B0B-88D0-0C5FE1DBE161}"/>
              </a:ext>
            </a:extLst>
          </p:cNvPr>
          <p:cNvSpPr>
            <a:spLocks noGrp="1"/>
          </p:cNvSpPr>
          <p:nvPr>
            <p:ph type="sldNum" sz="quarter" idx="12"/>
          </p:nvPr>
        </p:nvSpPr>
        <p:spPr/>
        <p:txBody>
          <a:bodyPr/>
          <a:lstStyle/>
          <a:p>
            <a:fld id="{FF2BD96E-3838-45D2-9031-D3AF67C920A5}" type="slidenum">
              <a:rPr lang="en-US" smtClean="0"/>
              <a:t>‹#›</a:t>
            </a:fld>
            <a:endParaRPr lang="en-US"/>
          </a:p>
        </p:txBody>
      </p:sp>
    </p:spTree>
    <p:extLst>
      <p:ext uri="{BB962C8B-B14F-4D97-AF65-F5344CB8AC3E}">
        <p14:creationId xmlns:p14="http://schemas.microsoft.com/office/powerpoint/2010/main" val="25778920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02DDA7E-8449-42D1-93BD-4E96C1BFC18D}"/>
              </a:ext>
            </a:extLst>
          </p:cNvPr>
          <p:cNvSpPr>
            <a:spLocks noGrp="1"/>
          </p:cNvSpPr>
          <p:nvPr>
            <p:ph type="title"/>
          </p:nvPr>
        </p:nvSpPr>
        <p:spPr>
          <a:xfrm>
            <a:off x="989400" y="395289"/>
            <a:ext cx="10213200" cy="1112836"/>
          </a:xfrm>
          <a:prstGeom prst="rect">
            <a:avLst/>
          </a:prstGeom>
        </p:spPr>
        <p:txBody>
          <a:bodyPr vert="horz" lIns="91440" tIns="45720" rIns="91440" bIns="45720" rtlCol="0" anchor="b" anchorCtr="0">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1172EB64-DBC0-4012-830E-9166670D17C5}"/>
              </a:ext>
            </a:extLst>
          </p:cNvPr>
          <p:cNvSpPr>
            <a:spLocks noGrp="1"/>
          </p:cNvSpPr>
          <p:nvPr>
            <p:ph type="body" idx="1"/>
          </p:nvPr>
        </p:nvSpPr>
        <p:spPr>
          <a:xfrm>
            <a:off x="989400" y="1685925"/>
            <a:ext cx="10213200" cy="404019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749A3E9-8704-4E26-A519-8215B3E943F5}"/>
              </a:ext>
            </a:extLst>
          </p:cNvPr>
          <p:cNvSpPr>
            <a:spLocks noGrp="1"/>
          </p:cNvSpPr>
          <p:nvPr>
            <p:ph type="dt" sz="half" idx="2"/>
          </p:nvPr>
        </p:nvSpPr>
        <p:spPr>
          <a:xfrm>
            <a:off x="450000" y="6357168"/>
            <a:ext cx="1760150" cy="461665"/>
          </a:xfrm>
          <a:prstGeom prst="rect">
            <a:avLst/>
          </a:prstGeom>
        </p:spPr>
        <p:txBody>
          <a:bodyPr vert="horz" lIns="91440" tIns="45720" rIns="91440" bIns="45720" rtlCol="0" anchor="ctr">
            <a:normAutofit/>
          </a:bodyPr>
          <a:lstStyle>
            <a:lvl1pPr algn="l">
              <a:defRPr sz="1000" cap="all" spc="200" baseline="0">
                <a:solidFill>
                  <a:schemeClr val="tx1">
                    <a:alpha val="60000"/>
                  </a:schemeClr>
                </a:solidFill>
                <a:latin typeface="+mj-lt"/>
              </a:defRPr>
            </a:lvl1pPr>
          </a:lstStyle>
          <a:p>
            <a:fld id="{4EC743F4-8769-40B4-85DF-6CB8DE9F66AA}" type="datetimeFigureOut">
              <a:rPr lang="en-US" smtClean="0"/>
              <a:pPr/>
              <a:t>8/30/24</a:t>
            </a:fld>
            <a:endParaRPr lang="en-US" dirty="0"/>
          </a:p>
        </p:txBody>
      </p:sp>
      <p:sp>
        <p:nvSpPr>
          <p:cNvPr id="5" name="Footer Placeholder 4">
            <a:extLst>
              <a:ext uri="{FF2B5EF4-FFF2-40B4-BE49-F238E27FC236}">
                <a16:creationId xmlns:a16="http://schemas.microsoft.com/office/drawing/2014/main" id="{C8590E32-87A0-44C2-A299-D45FAB146E08}"/>
              </a:ext>
            </a:extLst>
          </p:cNvPr>
          <p:cNvSpPr>
            <a:spLocks noGrp="1"/>
          </p:cNvSpPr>
          <p:nvPr>
            <p:ph type="ftr" sz="quarter" idx="3"/>
          </p:nvPr>
        </p:nvSpPr>
        <p:spPr>
          <a:xfrm>
            <a:off x="2754312" y="6357600"/>
            <a:ext cx="6683376" cy="460800"/>
          </a:xfrm>
          <a:prstGeom prst="rect">
            <a:avLst/>
          </a:prstGeom>
        </p:spPr>
        <p:txBody>
          <a:bodyPr vert="horz" lIns="91440" tIns="45720" rIns="91440" bIns="45720" rtlCol="0" anchor="ctr"/>
          <a:lstStyle>
            <a:lvl1pPr algn="ctr">
              <a:defRPr sz="1000" cap="all" spc="300" baseline="0">
                <a:solidFill>
                  <a:schemeClr val="tx1">
                    <a:alpha val="60000"/>
                  </a:schemeClr>
                </a:solidFill>
                <a:latin typeface="+mj-lt"/>
              </a:defRPr>
            </a:lvl1pPr>
          </a:lstStyle>
          <a:p>
            <a:endParaRPr lang="en-US" dirty="0"/>
          </a:p>
        </p:txBody>
      </p:sp>
      <p:sp>
        <p:nvSpPr>
          <p:cNvPr id="6" name="Slide Number Placeholder 5">
            <a:extLst>
              <a:ext uri="{FF2B5EF4-FFF2-40B4-BE49-F238E27FC236}">
                <a16:creationId xmlns:a16="http://schemas.microsoft.com/office/drawing/2014/main" id="{BE1C1A41-01A7-44E2-965B-ACFD4F2806FC}"/>
              </a:ext>
            </a:extLst>
          </p:cNvPr>
          <p:cNvSpPr>
            <a:spLocks noGrp="1"/>
          </p:cNvSpPr>
          <p:nvPr>
            <p:ph type="sldNum" sz="quarter" idx="4"/>
          </p:nvPr>
        </p:nvSpPr>
        <p:spPr>
          <a:xfrm>
            <a:off x="9982800" y="6357600"/>
            <a:ext cx="1760150" cy="460800"/>
          </a:xfrm>
          <a:prstGeom prst="rect">
            <a:avLst/>
          </a:prstGeom>
        </p:spPr>
        <p:txBody>
          <a:bodyPr vert="horz" lIns="91440" tIns="45720" rIns="91440" bIns="45720" rtlCol="0" anchor="ctr"/>
          <a:lstStyle>
            <a:lvl1pPr algn="r">
              <a:defRPr sz="1000" cap="all" spc="200" baseline="0">
                <a:solidFill>
                  <a:schemeClr val="tx1">
                    <a:alpha val="60000"/>
                  </a:schemeClr>
                </a:solidFill>
                <a:latin typeface="+mj-lt"/>
              </a:defRPr>
            </a:lvl1pPr>
          </a:lstStyle>
          <a:p>
            <a:fld id="{FF2BD96E-3838-45D2-9031-D3AF67C920A5}" type="slidenum">
              <a:rPr lang="en-US" smtClean="0"/>
              <a:pPr/>
              <a:t>‹#›</a:t>
            </a:fld>
            <a:endParaRPr lang="en-US" dirty="0"/>
          </a:p>
        </p:txBody>
      </p:sp>
    </p:spTree>
    <p:extLst>
      <p:ext uri="{BB962C8B-B14F-4D97-AF65-F5344CB8AC3E}">
        <p14:creationId xmlns:p14="http://schemas.microsoft.com/office/powerpoint/2010/main" val="944480895"/>
      </p:ext>
    </p:extLst>
  </p:cSld>
  <p:clrMap bg1="lt1" tx1="dk1" bg2="lt2" tx2="dk2" accent1="accent1" accent2="accent2" accent3="accent3" accent4="accent4" accent5="accent5" accent6="accent6" hlink="hlink" folHlink="folHlink"/>
  <p:sldLayoutIdLst>
    <p:sldLayoutId id="2147483671" r:id="rId1"/>
    <p:sldLayoutId id="2147483670" r:id="rId2"/>
    <p:sldLayoutId id="2147483669" r:id="rId3"/>
    <p:sldLayoutId id="2147483668" r:id="rId4"/>
    <p:sldLayoutId id="2147483667" r:id="rId5"/>
    <p:sldLayoutId id="2147483666" r:id="rId6"/>
    <p:sldLayoutId id="2147483665" r:id="rId7"/>
    <p:sldLayoutId id="2147483664" r:id="rId8"/>
    <p:sldLayoutId id="2147483663" r:id="rId9"/>
    <p:sldLayoutId id="2147483662" r:id="rId10"/>
    <p:sldLayoutId id="2147483661" r:id="rId11"/>
  </p:sldLayoutIdLst>
  <p:txStyles>
    <p:titleStyle>
      <a:lvl1pPr algn="l" defTabSz="914400" rtl="0" eaLnBrk="1" latinLnBrk="0" hangingPunct="1">
        <a:lnSpc>
          <a:spcPct val="100000"/>
        </a:lnSpc>
        <a:spcBef>
          <a:spcPct val="0"/>
        </a:spcBef>
        <a:buNone/>
        <a:defRPr sz="3200" kern="1200" cap="none" spc="0" baseline="0">
          <a:solidFill>
            <a:schemeClr val="tx1"/>
          </a:solidFill>
          <a:latin typeface="+mj-lt"/>
          <a:ea typeface="+mj-ea"/>
          <a:cs typeface="+mj-cs"/>
        </a:defRPr>
      </a:lvl1pPr>
    </p:titleStyle>
    <p:bodyStyle>
      <a:lvl1pPr marL="360000" indent="-360000" algn="l" defTabSz="914400" rtl="0" eaLnBrk="1" latinLnBrk="0" hangingPunct="1">
        <a:lnSpc>
          <a:spcPct val="150000"/>
        </a:lnSpc>
        <a:spcBef>
          <a:spcPts val="1000"/>
        </a:spcBef>
        <a:buClr>
          <a:schemeClr val="accent3"/>
        </a:buClr>
        <a:buFont typeface="Wingdings" panose="05000000000000000000" pitchFamily="2" charset="2"/>
        <a:buChar char=""/>
        <a:defRPr sz="2000" kern="1200" spc="50">
          <a:solidFill>
            <a:schemeClr val="tx1">
              <a:alpha val="60000"/>
            </a:schemeClr>
          </a:solidFill>
          <a:latin typeface="+mn-lt"/>
          <a:ea typeface="+mn-ea"/>
          <a:cs typeface="+mn-cs"/>
        </a:defRPr>
      </a:lvl1pPr>
      <a:lvl2pPr marL="360000" indent="0" algn="l" defTabSz="914400" rtl="0" eaLnBrk="1" latinLnBrk="0" hangingPunct="1">
        <a:lnSpc>
          <a:spcPct val="150000"/>
        </a:lnSpc>
        <a:spcBef>
          <a:spcPts val="500"/>
        </a:spcBef>
        <a:buFontTx/>
        <a:buNone/>
        <a:defRPr sz="2000" b="0" i="1" kern="1200" spc="50" baseline="0">
          <a:solidFill>
            <a:schemeClr val="tx1">
              <a:alpha val="60000"/>
            </a:schemeClr>
          </a:solidFill>
          <a:latin typeface="+mn-lt"/>
          <a:ea typeface="+mn-ea"/>
          <a:cs typeface="+mn-cs"/>
        </a:defRPr>
      </a:lvl2pPr>
      <a:lvl3pPr marL="1080000" indent="-360000" algn="l" defTabSz="914400" rtl="0" eaLnBrk="1" latinLnBrk="0" hangingPunct="1">
        <a:lnSpc>
          <a:spcPct val="150000"/>
        </a:lnSpc>
        <a:spcBef>
          <a:spcPts val="500"/>
        </a:spcBef>
        <a:buClr>
          <a:schemeClr val="accent3"/>
        </a:buClr>
        <a:buFont typeface="Wingdings" panose="05000000000000000000" pitchFamily="2" charset="2"/>
        <a:buChar char=""/>
        <a:defRPr sz="2000" kern="1200" spc="50">
          <a:solidFill>
            <a:schemeClr val="tx1">
              <a:alpha val="60000"/>
            </a:schemeClr>
          </a:solidFill>
          <a:latin typeface="+mn-lt"/>
          <a:ea typeface="+mn-ea"/>
          <a:cs typeface="+mn-cs"/>
        </a:defRPr>
      </a:lvl3pPr>
      <a:lvl4pPr marL="1080000" indent="0" algn="l" defTabSz="914400" rtl="0" eaLnBrk="1" latinLnBrk="0" hangingPunct="1">
        <a:lnSpc>
          <a:spcPct val="150000"/>
        </a:lnSpc>
        <a:spcBef>
          <a:spcPts val="500"/>
        </a:spcBef>
        <a:buClr>
          <a:schemeClr val="accent3"/>
        </a:buClr>
        <a:buFontTx/>
        <a:buNone/>
        <a:defRPr sz="2000" b="0" i="1" kern="1200" spc="50" baseline="0">
          <a:solidFill>
            <a:schemeClr val="tx1">
              <a:alpha val="60000"/>
            </a:schemeClr>
          </a:solidFill>
          <a:latin typeface="+mn-lt"/>
          <a:ea typeface="+mn-ea"/>
          <a:cs typeface="+mn-cs"/>
        </a:defRPr>
      </a:lvl4pPr>
      <a:lvl5pPr marL="1800000" indent="-360000" algn="l" defTabSz="914400" rtl="0" eaLnBrk="1" latinLnBrk="0" hangingPunct="1">
        <a:lnSpc>
          <a:spcPct val="150000"/>
        </a:lnSpc>
        <a:spcBef>
          <a:spcPts val="500"/>
        </a:spcBef>
        <a:buClr>
          <a:schemeClr val="accent3"/>
        </a:buClr>
        <a:buFont typeface="Wingdings" panose="05000000000000000000" pitchFamily="2" charset="2"/>
        <a:buChar char=""/>
        <a:defRPr sz="2000" kern="1200" spc="50">
          <a:solidFill>
            <a:schemeClr val="tx1">
              <a:alpha val="6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hyperlink" Target="https://www.flickr.com/photos/tracy_olson/61056391" TargetMode="Externa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7" Type="http://schemas.openxmlformats.org/officeDocument/2006/relationships/image" Target="../media/image3.png"/><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4CA2EAD-E7C7-4F64-924A-52D34FD759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9D8B528-C6E3-C378-7465-9B16B756A275}"/>
              </a:ext>
            </a:extLst>
          </p:cNvPr>
          <p:cNvSpPr>
            <a:spLocks noGrp="1"/>
          </p:cNvSpPr>
          <p:nvPr>
            <p:ph type="ctrTitle"/>
          </p:nvPr>
        </p:nvSpPr>
        <p:spPr>
          <a:xfrm>
            <a:off x="4614863" y="1079999"/>
            <a:ext cx="6858000" cy="2348991"/>
          </a:xfrm>
        </p:spPr>
        <p:txBody>
          <a:bodyPr>
            <a:normAutofit/>
          </a:bodyPr>
          <a:lstStyle/>
          <a:p>
            <a:r>
              <a:rPr lang="en-US" sz="3200" b="1" u="sng" dirty="0">
                <a:solidFill>
                  <a:srgbClr val="C00000"/>
                </a:solidFill>
                <a:latin typeface="Century" panose="02040604050505020304" pitchFamily="18" charset="0"/>
              </a:rPr>
              <a:t>Case Study 5 </a:t>
            </a:r>
            <a:br>
              <a:rPr lang="en-US" sz="3200" b="1" u="sng" dirty="0">
                <a:solidFill>
                  <a:srgbClr val="C00000"/>
                </a:solidFill>
                <a:latin typeface="Century" panose="02040604050505020304" pitchFamily="18" charset="0"/>
              </a:rPr>
            </a:br>
            <a:r>
              <a:rPr lang="en-US" sz="3200" b="1" u="sng" dirty="0">
                <a:solidFill>
                  <a:srgbClr val="C00000"/>
                </a:solidFill>
                <a:latin typeface="Century" panose="02040604050505020304" pitchFamily="18" charset="0"/>
              </a:rPr>
              <a:t>Ensemble Techniques- Easy Visa</a:t>
            </a:r>
            <a:r>
              <a:rPr lang="en-US" sz="3200" b="1" dirty="0">
                <a:solidFill>
                  <a:srgbClr val="002060"/>
                </a:solidFill>
                <a:latin typeface="Century" panose="02040604050505020304" pitchFamily="18" charset="0"/>
              </a:rPr>
              <a:t>.</a:t>
            </a:r>
            <a:br>
              <a:rPr lang="en-US" sz="3200" b="1" dirty="0">
                <a:solidFill>
                  <a:srgbClr val="002060"/>
                </a:solidFill>
                <a:latin typeface="Century" panose="02040604050505020304" pitchFamily="18" charset="0"/>
              </a:rPr>
            </a:br>
            <a:endParaRPr lang="en-US" sz="3200" b="1" i="1" dirty="0">
              <a:solidFill>
                <a:srgbClr val="002060"/>
              </a:solidFill>
              <a:latin typeface="Century" panose="02040604050505020304" pitchFamily="18" charset="0"/>
            </a:endParaRPr>
          </a:p>
        </p:txBody>
      </p:sp>
      <p:sp>
        <p:nvSpPr>
          <p:cNvPr id="3" name="Subtitle 2">
            <a:extLst>
              <a:ext uri="{FF2B5EF4-FFF2-40B4-BE49-F238E27FC236}">
                <a16:creationId xmlns:a16="http://schemas.microsoft.com/office/drawing/2014/main" id="{61D30CB1-7603-974F-BFB3-0D06960504B4}"/>
              </a:ext>
            </a:extLst>
          </p:cNvPr>
          <p:cNvSpPr>
            <a:spLocks noGrp="1"/>
          </p:cNvSpPr>
          <p:nvPr>
            <p:ph type="subTitle" idx="1"/>
          </p:nvPr>
        </p:nvSpPr>
        <p:spPr>
          <a:xfrm>
            <a:off x="4429126" y="5147500"/>
            <a:ext cx="6629400" cy="1710499"/>
          </a:xfrm>
        </p:spPr>
        <p:txBody>
          <a:bodyPr>
            <a:normAutofit/>
          </a:bodyPr>
          <a:lstStyle/>
          <a:p>
            <a:r>
              <a:rPr lang="en-US" sz="3000" dirty="0" err="1">
                <a:solidFill>
                  <a:srgbClr val="C00000">
                    <a:alpha val="60000"/>
                  </a:srgbClr>
                </a:solidFill>
                <a:latin typeface="Century" panose="02040604050505020304" pitchFamily="18" charset="0"/>
              </a:rPr>
              <a:t>Nafis</a:t>
            </a:r>
            <a:r>
              <a:rPr lang="en-US" sz="3000" dirty="0">
                <a:solidFill>
                  <a:srgbClr val="C00000">
                    <a:alpha val="60000"/>
                  </a:srgbClr>
                </a:solidFill>
                <a:latin typeface="Century" panose="02040604050505020304" pitchFamily="18" charset="0"/>
              </a:rPr>
              <a:t> Zafar</a:t>
            </a:r>
          </a:p>
        </p:txBody>
      </p:sp>
      <p:pic>
        <p:nvPicPr>
          <p:cNvPr id="4" name="Picture 3" descr="Abstract smoke background">
            <a:extLst>
              <a:ext uri="{FF2B5EF4-FFF2-40B4-BE49-F238E27FC236}">
                <a16:creationId xmlns:a16="http://schemas.microsoft.com/office/drawing/2014/main" id="{23CB59DC-1052-6C3F-0FED-3C424F3B920F}"/>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84000"/>
                    </a14:imgEffect>
                  </a14:imgLayer>
                </a14:imgProps>
              </a:ext>
            </a:extLst>
          </a:blip>
          <a:srcRect l="27845" r="34687"/>
          <a:stretch/>
        </p:blipFill>
        <p:spPr>
          <a:xfrm>
            <a:off x="20" y="10"/>
            <a:ext cx="3863955" cy="6857989"/>
          </a:xfrm>
          <a:prstGeom prst="rect">
            <a:avLst/>
          </a:prstGeom>
          <a:solidFill>
            <a:schemeClr val="accent4">
              <a:lumMod val="40000"/>
              <a:lumOff val="60000"/>
            </a:schemeClr>
          </a:solidFill>
        </p:spPr>
      </p:pic>
      <p:cxnSp>
        <p:nvCxnSpPr>
          <p:cNvPr id="11" name="Straight Connector 10">
            <a:extLst>
              <a:ext uri="{FF2B5EF4-FFF2-40B4-BE49-F238E27FC236}">
                <a16:creationId xmlns:a16="http://schemas.microsoft.com/office/drawing/2014/main" id="{9E7C23BC-DAA6-40E1-8166-B8C4439D143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759575" y="3690871"/>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pic>
        <p:nvPicPr>
          <p:cNvPr id="6" name="Picture 5" descr="A pile of money in different denominations&#10;&#10;Description automatically generated">
            <a:extLst>
              <a:ext uri="{FF2B5EF4-FFF2-40B4-BE49-F238E27FC236}">
                <a16:creationId xmlns:a16="http://schemas.microsoft.com/office/drawing/2014/main" id="{93483D25-310C-7821-2CA0-95132256286C}"/>
              </a:ext>
            </a:extLst>
          </p:cNvPr>
          <p:cNvPicPr>
            <a:picLocks noChangeAspect="1"/>
          </p:cNvPicPr>
          <p:nvPr/>
        </p:nvPicPr>
        <p:blipFill>
          <a:blip r:embed="rId4">
            <a:extLst>
              <a:ext uri="{837473B0-CC2E-450A-ABE3-18F120FF3D39}">
                <a1611:picAttrSrcUrl xmlns:a1611="http://schemas.microsoft.com/office/drawing/2016/11/main" r:id="rId5"/>
              </a:ext>
            </a:extLst>
          </a:blip>
          <a:stretch>
            <a:fillRect/>
          </a:stretch>
        </p:blipFill>
        <p:spPr>
          <a:xfrm>
            <a:off x="6299199" y="2872753"/>
            <a:ext cx="3175000" cy="2374900"/>
          </a:xfrm>
          <a:prstGeom prst="rect">
            <a:avLst/>
          </a:prstGeom>
        </p:spPr>
      </p:pic>
    </p:spTree>
    <p:extLst>
      <p:ext uri="{BB962C8B-B14F-4D97-AF65-F5344CB8AC3E}">
        <p14:creationId xmlns:p14="http://schemas.microsoft.com/office/powerpoint/2010/main" val="7309315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EE96A74-B62B-4642-AB22-7776A5F48C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CE8FD33-A783-498F-8569-F45932BB5954}"/>
              </a:ext>
            </a:extLst>
          </p:cNvPr>
          <p:cNvSpPr>
            <a:spLocks noGrp="1"/>
          </p:cNvSpPr>
          <p:nvPr>
            <p:ph type="title"/>
          </p:nvPr>
        </p:nvSpPr>
        <p:spPr>
          <a:xfrm>
            <a:off x="990000" y="946800"/>
            <a:ext cx="2802386" cy="4689475"/>
          </a:xfrm>
        </p:spPr>
        <p:txBody>
          <a:bodyPr anchor="t">
            <a:normAutofit/>
          </a:bodyPr>
          <a:lstStyle/>
          <a:p>
            <a:r>
              <a:rPr lang="en-US" u="sng" dirty="0">
                <a:solidFill>
                  <a:srgbClr val="C00000"/>
                </a:solidFill>
              </a:rPr>
              <a:t>Objectives:</a:t>
            </a:r>
          </a:p>
        </p:txBody>
      </p:sp>
      <p:cxnSp>
        <p:nvCxnSpPr>
          <p:cNvPr id="11" name="Straight Connector 10">
            <a:extLst>
              <a:ext uri="{FF2B5EF4-FFF2-40B4-BE49-F238E27FC236}">
                <a16:creationId xmlns:a16="http://schemas.microsoft.com/office/drawing/2014/main" id="{9B4757C4-228A-47E5-94C8-058312AB27F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432300" y="540000"/>
            <a:ext cx="0" cy="577800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graphicFrame>
        <p:nvGraphicFramePr>
          <p:cNvPr id="17" name="Content Placeholder 2">
            <a:extLst>
              <a:ext uri="{FF2B5EF4-FFF2-40B4-BE49-F238E27FC236}">
                <a16:creationId xmlns:a16="http://schemas.microsoft.com/office/drawing/2014/main" id="{BA94624C-61B4-49AC-CF28-2814402C0477}"/>
              </a:ext>
            </a:extLst>
          </p:cNvPr>
          <p:cNvGraphicFramePr>
            <a:graphicFrameLocks noGrp="1"/>
          </p:cNvGraphicFramePr>
          <p:nvPr>
            <p:ph idx="1"/>
            <p:extLst>
              <p:ext uri="{D42A27DB-BD31-4B8C-83A1-F6EECF244321}">
                <p14:modId xmlns:p14="http://schemas.microsoft.com/office/powerpoint/2010/main" val="3985691002"/>
              </p:ext>
            </p:extLst>
          </p:nvPr>
        </p:nvGraphicFramePr>
        <p:xfrm>
          <a:off x="4982215" y="537330"/>
          <a:ext cx="6668792" cy="5778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760039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DB66C9CD-6BF4-44CA-8078-0BB8190807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7840B90-DBFB-6F51-31DC-62C3F50A2C23}"/>
              </a:ext>
            </a:extLst>
          </p:cNvPr>
          <p:cNvSpPr>
            <a:spLocks noGrp="1"/>
          </p:cNvSpPr>
          <p:nvPr>
            <p:ph type="title"/>
          </p:nvPr>
        </p:nvSpPr>
        <p:spPr>
          <a:xfrm>
            <a:off x="989999" y="214314"/>
            <a:ext cx="4310133" cy="1140354"/>
          </a:xfrm>
        </p:spPr>
        <p:txBody>
          <a:bodyPr wrap="square" anchor="b">
            <a:noAutofit/>
          </a:bodyPr>
          <a:lstStyle/>
          <a:p>
            <a:pPr algn="ctr"/>
            <a:r>
              <a:rPr lang="en-US" u="sng" dirty="0">
                <a:solidFill>
                  <a:srgbClr val="C00000"/>
                </a:solidFill>
                <a:latin typeface="Century" panose="02040604050505020304" pitchFamily="18" charset="0"/>
              </a:rPr>
              <a:t>EDA (Exploratory Data Analysis)</a:t>
            </a:r>
          </a:p>
        </p:txBody>
      </p:sp>
      <p:graphicFrame>
        <p:nvGraphicFramePr>
          <p:cNvPr id="22" name="Content Placeholder 2">
            <a:extLst>
              <a:ext uri="{FF2B5EF4-FFF2-40B4-BE49-F238E27FC236}">
                <a16:creationId xmlns:a16="http://schemas.microsoft.com/office/drawing/2014/main" id="{9C7A815D-B8EB-1BB4-2A99-3C5743A061B9}"/>
              </a:ext>
            </a:extLst>
          </p:cNvPr>
          <p:cNvGraphicFramePr>
            <a:graphicFrameLocks noGrp="1"/>
          </p:cNvGraphicFramePr>
          <p:nvPr>
            <p:ph idx="1"/>
            <p:extLst>
              <p:ext uri="{D42A27DB-BD31-4B8C-83A1-F6EECF244321}">
                <p14:modId xmlns:p14="http://schemas.microsoft.com/office/powerpoint/2010/main" val="2263140584"/>
              </p:ext>
            </p:extLst>
          </p:nvPr>
        </p:nvGraphicFramePr>
        <p:xfrm>
          <a:off x="814388" y="1354668"/>
          <a:ext cx="5281612" cy="507994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Picture 4">
            <a:extLst>
              <a:ext uri="{FF2B5EF4-FFF2-40B4-BE49-F238E27FC236}">
                <a16:creationId xmlns:a16="http://schemas.microsoft.com/office/drawing/2014/main" id="{64D1ABF5-3F26-B7EB-1E0F-85301ECFE511}"/>
              </a:ext>
            </a:extLst>
          </p:cNvPr>
          <p:cNvPicPr>
            <a:picLocks noChangeAspect="1"/>
          </p:cNvPicPr>
          <p:nvPr/>
        </p:nvPicPr>
        <p:blipFill>
          <a:blip r:embed="rId7"/>
          <a:stretch>
            <a:fillRect/>
          </a:stretch>
        </p:blipFill>
        <p:spPr>
          <a:xfrm>
            <a:off x="6096000" y="592667"/>
            <a:ext cx="5981700" cy="4724400"/>
          </a:xfrm>
          <a:prstGeom prst="rect">
            <a:avLst/>
          </a:prstGeom>
        </p:spPr>
      </p:pic>
    </p:spTree>
    <p:extLst>
      <p:ext uri="{BB962C8B-B14F-4D97-AF65-F5344CB8AC3E}">
        <p14:creationId xmlns:p14="http://schemas.microsoft.com/office/powerpoint/2010/main" val="6564760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DB66C9CD-6BF4-44CA-8078-0BB8190807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EE8C0C5-5E75-7AEA-ADDB-A0AD587FD067}"/>
              </a:ext>
            </a:extLst>
          </p:cNvPr>
          <p:cNvSpPr>
            <a:spLocks noGrp="1"/>
          </p:cNvSpPr>
          <p:nvPr>
            <p:ph type="title"/>
          </p:nvPr>
        </p:nvSpPr>
        <p:spPr>
          <a:xfrm>
            <a:off x="990000" y="423382"/>
            <a:ext cx="4078800" cy="1569660"/>
          </a:xfrm>
        </p:spPr>
        <p:txBody>
          <a:bodyPr wrap="square" anchor="b">
            <a:normAutofit/>
          </a:bodyPr>
          <a:lstStyle/>
          <a:p>
            <a:pPr algn="ctr"/>
            <a:r>
              <a:rPr lang="en-US" u="sng" dirty="0">
                <a:solidFill>
                  <a:srgbClr val="C00000"/>
                </a:solidFill>
                <a:latin typeface="Century" panose="02040604050505020304" pitchFamily="18" charset="0"/>
              </a:rPr>
              <a:t>EDA (Exploratory Data Analysis)</a:t>
            </a:r>
            <a:endParaRPr lang="en-US" dirty="0">
              <a:solidFill>
                <a:srgbClr val="C00000"/>
              </a:solidFill>
            </a:endParaRPr>
          </a:p>
        </p:txBody>
      </p:sp>
      <p:sp>
        <p:nvSpPr>
          <p:cNvPr id="3" name="Content Placeholder 2">
            <a:extLst>
              <a:ext uri="{FF2B5EF4-FFF2-40B4-BE49-F238E27FC236}">
                <a16:creationId xmlns:a16="http://schemas.microsoft.com/office/drawing/2014/main" id="{C61C7999-746B-D499-39F6-245F02EF8AB8}"/>
              </a:ext>
            </a:extLst>
          </p:cNvPr>
          <p:cNvSpPr>
            <a:spLocks noGrp="1"/>
          </p:cNvSpPr>
          <p:nvPr>
            <p:ph idx="1"/>
          </p:nvPr>
        </p:nvSpPr>
        <p:spPr>
          <a:xfrm>
            <a:off x="989997" y="1993043"/>
            <a:ext cx="9881199" cy="1024676"/>
          </a:xfrm>
        </p:spPr>
        <p:txBody>
          <a:bodyPr>
            <a:normAutofit/>
          </a:bodyPr>
          <a:lstStyle/>
          <a:p>
            <a:pPr>
              <a:buFont typeface="Wingdings" pitchFamily="2" charset="2"/>
              <a:buChar char="v"/>
            </a:pPr>
            <a:r>
              <a:rPr lang="en-US" sz="1500" b="0" i="0" u="none" strike="noStrike" dirty="0">
                <a:solidFill>
                  <a:srgbClr val="C00000">
                    <a:alpha val="60000"/>
                  </a:srgbClr>
                </a:solidFill>
                <a:effectLst/>
                <a:latin typeface="Century" panose="02040604050505020304" pitchFamily="18" charset="0"/>
              </a:rPr>
              <a:t>Top continent is Asia with a frequency of 16861</a:t>
            </a:r>
          </a:p>
          <a:p>
            <a:pPr>
              <a:buFont typeface="Wingdings" pitchFamily="2" charset="2"/>
              <a:buChar char="v"/>
            </a:pPr>
            <a:r>
              <a:rPr lang="en-US" sz="1500" b="0" i="0" u="none" strike="noStrike" dirty="0">
                <a:solidFill>
                  <a:srgbClr val="C00000">
                    <a:alpha val="60000"/>
                  </a:srgbClr>
                </a:solidFill>
                <a:effectLst/>
                <a:latin typeface="Century" panose="02040604050505020304" pitchFamily="18" charset="0"/>
              </a:rPr>
              <a:t>Top education of employee is a bachelor's with a frequency of 10234</a:t>
            </a:r>
          </a:p>
          <a:p>
            <a:pPr marL="0" indent="0">
              <a:buNone/>
            </a:pPr>
            <a:endParaRPr lang="en-US" sz="1600" dirty="0">
              <a:latin typeface="Century" panose="02040604050505020304" pitchFamily="18" charset="0"/>
            </a:endParaRPr>
          </a:p>
        </p:txBody>
      </p:sp>
      <p:cxnSp>
        <p:nvCxnSpPr>
          <p:cNvPr id="25" name="Straight Connector 24">
            <a:extLst>
              <a:ext uri="{FF2B5EF4-FFF2-40B4-BE49-F238E27FC236}">
                <a16:creationId xmlns:a16="http://schemas.microsoft.com/office/drawing/2014/main" id="{CC9CF63D-A2A3-4ECF-BC53-4B0D56918FB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96000" y="540033"/>
            <a:ext cx="0" cy="577800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CC41B43A-B837-FE08-DFDF-8F8538A6FB11}"/>
              </a:ext>
            </a:extLst>
          </p:cNvPr>
          <p:cNvPicPr>
            <a:picLocks noChangeAspect="1"/>
          </p:cNvPicPr>
          <p:nvPr/>
        </p:nvPicPr>
        <p:blipFill>
          <a:blip r:embed="rId2"/>
          <a:stretch>
            <a:fillRect/>
          </a:stretch>
        </p:blipFill>
        <p:spPr>
          <a:xfrm>
            <a:off x="1242055" y="3130836"/>
            <a:ext cx="7653489" cy="3416900"/>
          </a:xfrm>
          <a:prstGeom prst="rect">
            <a:avLst/>
          </a:prstGeom>
        </p:spPr>
      </p:pic>
    </p:spTree>
    <p:extLst>
      <p:ext uri="{BB962C8B-B14F-4D97-AF65-F5344CB8AC3E}">
        <p14:creationId xmlns:p14="http://schemas.microsoft.com/office/powerpoint/2010/main" val="35706803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DB66C9CD-6BF4-44CA-8078-0BB8190807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6AFEDE1-A591-2693-0444-34741560E221}"/>
              </a:ext>
            </a:extLst>
          </p:cNvPr>
          <p:cNvSpPr>
            <a:spLocks noGrp="1"/>
          </p:cNvSpPr>
          <p:nvPr>
            <p:ph type="title"/>
          </p:nvPr>
        </p:nvSpPr>
        <p:spPr>
          <a:xfrm>
            <a:off x="990000" y="423382"/>
            <a:ext cx="4078800" cy="1569660"/>
          </a:xfrm>
        </p:spPr>
        <p:txBody>
          <a:bodyPr wrap="square" anchor="b">
            <a:normAutofit/>
          </a:bodyPr>
          <a:lstStyle/>
          <a:p>
            <a:pPr algn="ctr"/>
            <a:r>
              <a:rPr lang="en-US" u="sng" dirty="0">
                <a:solidFill>
                  <a:srgbClr val="C00000"/>
                </a:solidFill>
                <a:latin typeface="Century" panose="02040604050505020304" pitchFamily="18" charset="0"/>
              </a:rPr>
              <a:t>EDA (Exploratory Data Analysis)</a:t>
            </a:r>
            <a:endParaRPr lang="en-US" dirty="0">
              <a:solidFill>
                <a:srgbClr val="C00000"/>
              </a:solidFill>
            </a:endParaRPr>
          </a:p>
        </p:txBody>
      </p:sp>
      <p:sp>
        <p:nvSpPr>
          <p:cNvPr id="3" name="Content Placeholder 2">
            <a:extLst>
              <a:ext uri="{FF2B5EF4-FFF2-40B4-BE49-F238E27FC236}">
                <a16:creationId xmlns:a16="http://schemas.microsoft.com/office/drawing/2014/main" id="{88E282D4-4D50-EEC5-21F1-4EA1D48A22C7}"/>
              </a:ext>
            </a:extLst>
          </p:cNvPr>
          <p:cNvSpPr>
            <a:spLocks noGrp="1"/>
          </p:cNvSpPr>
          <p:nvPr>
            <p:ph idx="1"/>
          </p:nvPr>
        </p:nvSpPr>
        <p:spPr>
          <a:xfrm>
            <a:off x="990000" y="2361601"/>
            <a:ext cx="4832400" cy="3416900"/>
          </a:xfrm>
        </p:spPr>
        <p:txBody>
          <a:bodyPr>
            <a:normAutofit/>
          </a:bodyPr>
          <a:lstStyle/>
          <a:p>
            <a:pPr>
              <a:buFont typeface="Wingdings" pitchFamily="2" charset="2"/>
              <a:buChar char="v"/>
            </a:pPr>
            <a:r>
              <a:rPr lang="en-US" sz="1600" dirty="0">
                <a:solidFill>
                  <a:srgbClr val="C00000">
                    <a:alpha val="60000"/>
                  </a:srgbClr>
                </a:solidFill>
                <a:latin typeface="Century" panose="02040604050505020304" pitchFamily="18" charset="0"/>
              </a:rPr>
              <a:t>There are 33 rows that has negative customer numbers</a:t>
            </a:r>
          </a:p>
          <a:p>
            <a:pPr>
              <a:buFont typeface="Wingdings" pitchFamily="2" charset="2"/>
              <a:buChar char="v"/>
            </a:pPr>
            <a:r>
              <a:rPr lang="en-US" sz="1600" dirty="0">
                <a:solidFill>
                  <a:srgbClr val="C00000">
                    <a:alpha val="60000"/>
                  </a:srgbClr>
                </a:solidFill>
                <a:latin typeface="Century" panose="02040604050505020304" pitchFamily="18" charset="0"/>
              </a:rPr>
              <a:t>There are 2548 unique case IDs</a:t>
            </a:r>
          </a:p>
          <a:p>
            <a:pPr>
              <a:buFont typeface="Wingdings" pitchFamily="2" charset="2"/>
              <a:buChar char="v"/>
            </a:pPr>
            <a:r>
              <a:rPr lang="en-US" sz="1400" b="0" i="0" u="none" strike="noStrike" dirty="0">
                <a:solidFill>
                  <a:srgbClr val="C00000">
                    <a:alpha val="60000"/>
                  </a:srgbClr>
                </a:solidFill>
                <a:effectLst/>
                <a:latin typeface="Century" panose="02040604050505020304" pitchFamily="18" charset="0"/>
              </a:rPr>
              <a:t> number of employees shows a right-skewed distribution</a:t>
            </a:r>
          </a:p>
          <a:p>
            <a:pPr>
              <a:buFont typeface="Wingdings" pitchFamily="2" charset="2"/>
              <a:buChar char="v"/>
            </a:pPr>
            <a:r>
              <a:rPr lang="en-US" sz="1400" dirty="0">
                <a:solidFill>
                  <a:srgbClr val="C00000">
                    <a:alpha val="60000"/>
                  </a:srgbClr>
                </a:solidFill>
                <a:latin typeface="Century" panose="02040604050505020304" pitchFamily="18" charset="0"/>
              </a:rPr>
              <a:t>Prevailing Wage shows right skewed distribution</a:t>
            </a:r>
            <a:endParaRPr lang="en-US" sz="1600" dirty="0">
              <a:solidFill>
                <a:srgbClr val="C00000">
                  <a:alpha val="60000"/>
                </a:srgbClr>
              </a:solidFill>
              <a:latin typeface="Century" panose="02040604050505020304" pitchFamily="18" charset="0"/>
            </a:endParaRPr>
          </a:p>
        </p:txBody>
      </p:sp>
      <p:pic>
        <p:nvPicPr>
          <p:cNvPr id="7" name="Picture 6">
            <a:extLst>
              <a:ext uri="{FF2B5EF4-FFF2-40B4-BE49-F238E27FC236}">
                <a16:creationId xmlns:a16="http://schemas.microsoft.com/office/drawing/2014/main" id="{F04D3E7A-6F75-AD63-BEB4-49B15EA390A3}"/>
              </a:ext>
            </a:extLst>
          </p:cNvPr>
          <p:cNvPicPr>
            <a:picLocks noChangeAspect="1"/>
          </p:cNvPicPr>
          <p:nvPr/>
        </p:nvPicPr>
        <p:blipFill>
          <a:blip r:embed="rId2"/>
          <a:stretch>
            <a:fillRect/>
          </a:stretch>
        </p:blipFill>
        <p:spPr>
          <a:xfrm>
            <a:off x="5350653" y="461628"/>
            <a:ext cx="6841347" cy="2959731"/>
          </a:xfrm>
          <a:prstGeom prst="rect">
            <a:avLst/>
          </a:prstGeom>
        </p:spPr>
      </p:pic>
      <p:pic>
        <p:nvPicPr>
          <p:cNvPr id="8" name="Picture 7">
            <a:extLst>
              <a:ext uri="{FF2B5EF4-FFF2-40B4-BE49-F238E27FC236}">
                <a16:creationId xmlns:a16="http://schemas.microsoft.com/office/drawing/2014/main" id="{A7F68427-86FD-2B66-1273-BDA9D9E88E8E}"/>
              </a:ext>
            </a:extLst>
          </p:cNvPr>
          <p:cNvPicPr>
            <a:picLocks noChangeAspect="1"/>
          </p:cNvPicPr>
          <p:nvPr/>
        </p:nvPicPr>
        <p:blipFill>
          <a:blip r:embed="rId3"/>
          <a:stretch>
            <a:fillRect/>
          </a:stretch>
        </p:blipFill>
        <p:spPr>
          <a:xfrm>
            <a:off x="5350653" y="3436642"/>
            <a:ext cx="6493933" cy="3252025"/>
          </a:xfrm>
          <a:prstGeom prst="rect">
            <a:avLst/>
          </a:prstGeom>
        </p:spPr>
      </p:pic>
    </p:spTree>
    <p:extLst>
      <p:ext uri="{BB962C8B-B14F-4D97-AF65-F5344CB8AC3E}">
        <p14:creationId xmlns:p14="http://schemas.microsoft.com/office/powerpoint/2010/main" val="40697966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DB66C9CD-6BF4-44CA-8078-0BB8190807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3FA32E0-101F-7B68-D6EA-FE6DA08337E9}"/>
              </a:ext>
            </a:extLst>
          </p:cNvPr>
          <p:cNvSpPr>
            <a:spLocks noGrp="1"/>
          </p:cNvSpPr>
          <p:nvPr>
            <p:ph type="title"/>
          </p:nvPr>
        </p:nvSpPr>
        <p:spPr>
          <a:xfrm>
            <a:off x="990000" y="423382"/>
            <a:ext cx="4078800" cy="1569660"/>
          </a:xfrm>
        </p:spPr>
        <p:txBody>
          <a:bodyPr wrap="square" anchor="b">
            <a:normAutofit/>
          </a:bodyPr>
          <a:lstStyle/>
          <a:p>
            <a:pPr algn="ctr"/>
            <a:r>
              <a:rPr lang="en-US" u="sng" dirty="0">
                <a:solidFill>
                  <a:srgbClr val="C00000"/>
                </a:solidFill>
                <a:latin typeface="Century" panose="02040604050505020304" pitchFamily="18" charset="0"/>
              </a:rPr>
              <a:t>EDA (Exploratory Data Analysis)</a:t>
            </a:r>
          </a:p>
        </p:txBody>
      </p:sp>
      <p:sp>
        <p:nvSpPr>
          <p:cNvPr id="3" name="Content Placeholder 2">
            <a:extLst>
              <a:ext uri="{FF2B5EF4-FFF2-40B4-BE49-F238E27FC236}">
                <a16:creationId xmlns:a16="http://schemas.microsoft.com/office/drawing/2014/main" id="{557B55BA-0A2D-2D84-9ABA-8EB9A218F7AA}"/>
              </a:ext>
            </a:extLst>
          </p:cNvPr>
          <p:cNvSpPr>
            <a:spLocks noGrp="1"/>
          </p:cNvSpPr>
          <p:nvPr>
            <p:ph idx="1"/>
          </p:nvPr>
        </p:nvSpPr>
        <p:spPr>
          <a:xfrm>
            <a:off x="990000" y="2361601"/>
            <a:ext cx="4078800" cy="3416900"/>
          </a:xfrm>
        </p:spPr>
        <p:txBody>
          <a:bodyPr>
            <a:normAutofit fontScale="92500" lnSpcReduction="20000"/>
          </a:bodyPr>
          <a:lstStyle/>
          <a:p>
            <a:pPr>
              <a:buFont typeface="Wingdings" pitchFamily="2" charset="2"/>
              <a:buChar char="v"/>
            </a:pPr>
            <a:r>
              <a:rPr lang="en-US" b="0" i="0" u="none" strike="noStrike" dirty="0">
                <a:effectLst/>
                <a:latin typeface="system-ui"/>
              </a:rPr>
              <a:t> </a:t>
            </a:r>
            <a:r>
              <a:rPr lang="en-US" b="0" i="0" u="none" strike="noStrike" dirty="0">
                <a:solidFill>
                  <a:srgbClr val="C00000">
                    <a:alpha val="60000"/>
                  </a:srgbClr>
                </a:solidFill>
                <a:effectLst/>
                <a:latin typeface="Century" panose="02040604050505020304" pitchFamily="18" charset="0"/>
              </a:rPr>
              <a:t>176 observations have a prevailing wage lower than 100</a:t>
            </a:r>
          </a:p>
          <a:p>
            <a:pPr>
              <a:buFont typeface="Wingdings" pitchFamily="2" charset="2"/>
              <a:buChar char="v"/>
            </a:pPr>
            <a:r>
              <a:rPr lang="en-US" b="0" i="0" u="none" strike="noStrike" dirty="0">
                <a:solidFill>
                  <a:srgbClr val="C00000">
                    <a:alpha val="60000"/>
                  </a:srgbClr>
                </a:solidFill>
                <a:effectLst/>
                <a:latin typeface="Century" panose="02040604050505020304" pitchFamily="18" charset="0"/>
              </a:rPr>
              <a:t>Majority of applica</a:t>
            </a:r>
            <a:r>
              <a:rPr lang="en-US" dirty="0">
                <a:solidFill>
                  <a:srgbClr val="C00000">
                    <a:alpha val="60000"/>
                  </a:srgbClr>
                </a:solidFill>
                <a:latin typeface="Century" panose="02040604050505020304" pitchFamily="18" charset="0"/>
              </a:rPr>
              <a:t>nts are from Asia</a:t>
            </a:r>
          </a:p>
          <a:p>
            <a:pPr>
              <a:buFont typeface="Wingdings" pitchFamily="2" charset="2"/>
              <a:buChar char="v"/>
            </a:pPr>
            <a:r>
              <a:rPr lang="en-US" dirty="0">
                <a:solidFill>
                  <a:srgbClr val="C00000">
                    <a:alpha val="60000"/>
                  </a:srgbClr>
                </a:solidFill>
                <a:latin typeface="Century" panose="02040604050505020304" pitchFamily="18" charset="0"/>
              </a:rPr>
              <a:t>Majority of applicants have </a:t>
            </a:r>
            <a:r>
              <a:rPr lang="en-US" dirty="0" err="1">
                <a:solidFill>
                  <a:srgbClr val="C00000">
                    <a:alpha val="60000"/>
                  </a:srgbClr>
                </a:solidFill>
                <a:latin typeface="Century" panose="02040604050505020304" pitchFamily="18" charset="0"/>
              </a:rPr>
              <a:t>Bachlors</a:t>
            </a:r>
            <a:r>
              <a:rPr lang="en-US" dirty="0">
                <a:solidFill>
                  <a:srgbClr val="C00000">
                    <a:alpha val="60000"/>
                  </a:srgbClr>
                </a:solidFill>
                <a:latin typeface="Century" panose="02040604050505020304" pitchFamily="18" charset="0"/>
              </a:rPr>
              <a:t> degree, followed by Masters Degree</a:t>
            </a:r>
          </a:p>
          <a:p>
            <a:pPr>
              <a:buFont typeface="Wingdings" pitchFamily="2" charset="2"/>
              <a:buChar char="v"/>
            </a:pPr>
            <a:endParaRPr lang="en-US" b="0" i="0" u="none" strike="noStrike" dirty="0">
              <a:effectLst/>
              <a:latin typeface="system-ui"/>
            </a:endParaRPr>
          </a:p>
          <a:p>
            <a:pPr>
              <a:buFont typeface="Wingdings" pitchFamily="2" charset="2"/>
              <a:buChar char="v"/>
            </a:pPr>
            <a:endParaRPr lang="en-US" dirty="0">
              <a:latin typeface="Century" panose="02040604050505020304" pitchFamily="18" charset="0"/>
            </a:endParaRPr>
          </a:p>
        </p:txBody>
      </p:sp>
      <p:cxnSp>
        <p:nvCxnSpPr>
          <p:cNvPr id="21" name="Straight Connector 20">
            <a:extLst>
              <a:ext uri="{FF2B5EF4-FFF2-40B4-BE49-F238E27FC236}">
                <a16:creationId xmlns:a16="http://schemas.microsoft.com/office/drawing/2014/main" id="{CC9CF63D-A2A3-4ECF-BC53-4B0D56918FB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96000" y="540033"/>
            <a:ext cx="0" cy="577800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A4D0A073-6FA9-E591-41BC-492730019105}"/>
              </a:ext>
            </a:extLst>
          </p:cNvPr>
          <p:cNvPicPr>
            <a:picLocks noChangeAspect="1"/>
          </p:cNvPicPr>
          <p:nvPr/>
        </p:nvPicPr>
        <p:blipFill>
          <a:blip r:embed="rId2"/>
          <a:stretch>
            <a:fillRect/>
          </a:stretch>
        </p:blipFill>
        <p:spPr>
          <a:xfrm>
            <a:off x="7789676" y="540000"/>
            <a:ext cx="2726459" cy="2754000"/>
          </a:xfrm>
          <a:prstGeom prst="rect">
            <a:avLst/>
          </a:prstGeom>
        </p:spPr>
      </p:pic>
      <p:pic>
        <p:nvPicPr>
          <p:cNvPr id="5" name="Picture 4">
            <a:extLst>
              <a:ext uri="{FF2B5EF4-FFF2-40B4-BE49-F238E27FC236}">
                <a16:creationId xmlns:a16="http://schemas.microsoft.com/office/drawing/2014/main" id="{8994E583-A2DE-507F-7334-782C19EC4490}"/>
              </a:ext>
            </a:extLst>
          </p:cNvPr>
          <p:cNvPicPr>
            <a:picLocks noChangeAspect="1"/>
          </p:cNvPicPr>
          <p:nvPr/>
        </p:nvPicPr>
        <p:blipFill>
          <a:blip r:embed="rId3"/>
          <a:stretch>
            <a:fillRect/>
          </a:stretch>
        </p:blipFill>
        <p:spPr>
          <a:xfrm>
            <a:off x="7493869" y="3564000"/>
            <a:ext cx="3318073" cy="2754000"/>
          </a:xfrm>
          <a:prstGeom prst="rect">
            <a:avLst/>
          </a:prstGeom>
        </p:spPr>
      </p:pic>
    </p:spTree>
    <p:extLst>
      <p:ext uri="{BB962C8B-B14F-4D97-AF65-F5344CB8AC3E}">
        <p14:creationId xmlns:p14="http://schemas.microsoft.com/office/powerpoint/2010/main" val="36365399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1AEB7F98-32EC-40D3-89EE-C843302316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0C76653-3A14-0CC9-2C07-30C8B21041A0}"/>
              </a:ext>
            </a:extLst>
          </p:cNvPr>
          <p:cNvSpPr>
            <a:spLocks noGrp="1"/>
          </p:cNvSpPr>
          <p:nvPr>
            <p:ph type="title"/>
          </p:nvPr>
        </p:nvSpPr>
        <p:spPr>
          <a:xfrm>
            <a:off x="554800" y="423382"/>
            <a:ext cx="3870382" cy="1569660"/>
          </a:xfrm>
        </p:spPr>
        <p:txBody>
          <a:bodyPr wrap="square" anchor="b">
            <a:normAutofit/>
          </a:bodyPr>
          <a:lstStyle/>
          <a:p>
            <a:pPr algn="ctr"/>
            <a:r>
              <a:rPr lang="en-US" u="sng" dirty="0">
                <a:solidFill>
                  <a:srgbClr val="C00000"/>
                </a:solidFill>
                <a:latin typeface="Century" panose="02040604050505020304" pitchFamily="18" charset="0"/>
              </a:rPr>
              <a:t>EDA (Exploratory Data Analysis)</a:t>
            </a:r>
          </a:p>
        </p:txBody>
      </p:sp>
      <p:sp>
        <p:nvSpPr>
          <p:cNvPr id="3" name="Content Placeholder 2">
            <a:extLst>
              <a:ext uri="{FF2B5EF4-FFF2-40B4-BE49-F238E27FC236}">
                <a16:creationId xmlns:a16="http://schemas.microsoft.com/office/drawing/2014/main" id="{313C1B6D-8863-D8F5-7011-593E3926B7F4}"/>
              </a:ext>
            </a:extLst>
          </p:cNvPr>
          <p:cNvSpPr>
            <a:spLocks noGrp="1"/>
          </p:cNvSpPr>
          <p:nvPr>
            <p:ph idx="1"/>
          </p:nvPr>
        </p:nvSpPr>
        <p:spPr>
          <a:xfrm>
            <a:off x="989998" y="2361600"/>
            <a:ext cx="3449589" cy="3956400"/>
          </a:xfrm>
        </p:spPr>
        <p:txBody>
          <a:bodyPr>
            <a:normAutofit/>
          </a:bodyPr>
          <a:lstStyle/>
          <a:p>
            <a:pPr>
              <a:lnSpc>
                <a:spcPct val="140000"/>
              </a:lnSpc>
              <a:buFont typeface="Wingdings" pitchFamily="2" charset="2"/>
              <a:buChar char="v"/>
            </a:pPr>
            <a:r>
              <a:rPr lang="en-US" sz="1600" dirty="0">
                <a:solidFill>
                  <a:srgbClr val="C00000">
                    <a:alpha val="60000"/>
                  </a:srgbClr>
                </a:solidFill>
                <a:latin typeface="Century" panose="02040604050505020304" pitchFamily="18" charset="0"/>
              </a:rPr>
              <a:t>Majority of applicants (58%) have job experience</a:t>
            </a:r>
          </a:p>
          <a:p>
            <a:pPr>
              <a:lnSpc>
                <a:spcPct val="140000"/>
              </a:lnSpc>
              <a:buFont typeface="Wingdings" pitchFamily="2" charset="2"/>
              <a:buChar char="v"/>
            </a:pPr>
            <a:r>
              <a:rPr lang="en-US" sz="1600" dirty="0">
                <a:solidFill>
                  <a:srgbClr val="C00000">
                    <a:alpha val="60000"/>
                  </a:srgbClr>
                </a:solidFill>
                <a:latin typeface="Century" panose="02040604050505020304" pitchFamily="18" charset="0"/>
              </a:rPr>
              <a:t>Majority of applicants don’t need a job training (22k vs 3k)</a:t>
            </a:r>
          </a:p>
          <a:p>
            <a:pPr>
              <a:lnSpc>
                <a:spcPct val="140000"/>
              </a:lnSpc>
              <a:buFont typeface="Wingdings" pitchFamily="2" charset="2"/>
              <a:buChar char="v"/>
            </a:pPr>
            <a:r>
              <a:rPr lang="en-US" sz="1600" dirty="0">
                <a:solidFill>
                  <a:srgbClr val="C00000">
                    <a:alpha val="60000"/>
                  </a:srgbClr>
                </a:solidFill>
                <a:latin typeface="Century" panose="02040604050505020304" pitchFamily="18" charset="0"/>
              </a:rPr>
              <a:t>Majority applicants are in north-east region</a:t>
            </a:r>
          </a:p>
          <a:p>
            <a:pPr>
              <a:lnSpc>
                <a:spcPct val="140000"/>
              </a:lnSpc>
              <a:buFont typeface="Wingdings" pitchFamily="2" charset="2"/>
              <a:buChar char="v"/>
            </a:pPr>
            <a:r>
              <a:rPr lang="en-US" sz="1600" dirty="0">
                <a:solidFill>
                  <a:srgbClr val="C00000">
                    <a:alpha val="60000"/>
                  </a:srgbClr>
                </a:solidFill>
                <a:latin typeface="Century" panose="02040604050505020304" pitchFamily="18" charset="0"/>
              </a:rPr>
              <a:t>Mostly are on Annual Wage</a:t>
            </a:r>
          </a:p>
        </p:txBody>
      </p:sp>
      <p:pic>
        <p:nvPicPr>
          <p:cNvPr id="7" name="Picture 6" descr="A graph of different colored bars&#10;&#10;Description automatically generated">
            <a:extLst>
              <a:ext uri="{FF2B5EF4-FFF2-40B4-BE49-F238E27FC236}">
                <a16:creationId xmlns:a16="http://schemas.microsoft.com/office/drawing/2014/main" id="{2B3F9656-3A5C-3AD3-D477-216B1D8A0278}"/>
              </a:ext>
            </a:extLst>
          </p:cNvPr>
          <p:cNvPicPr>
            <a:picLocks noChangeAspect="1"/>
          </p:cNvPicPr>
          <p:nvPr/>
        </p:nvPicPr>
        <p:blipFill>
          <a:blip r:embed="rId2"/>
          <a:srcRect l="1185"/>
          <a:stretch/>
        </p:blipFill>
        <p:spPr>
          <a:xfrm>
            <a:off x="4979988" y="540033"/>
            <a:ext cx="3201606" cy="2754000"/>
          </a:xfrm>
          <a:prstGeom prst="rect">
            <a:avLst/>
          </a:prstGeom>
        </p:spPr>
      </p:pic>
      <p:pic>
        <p:nvPicPr>
          <p:cNvPr id="8" name="Picture 7">
            <a:extLst>
              <a:ext uri="{FF2B5EF4-FFF2-40B4-BE49-F238E27FC236}">
                <a16:creationId xmlns:a16="http://schemas.microsoft.com/office/drawing/2014/main" id="{DD8E0BB1-1694-D774-29BA-5D422FF123B8}"/>
              </a:ext>
            </a:extLst>
          </p:cNvPr>
          <p:cNvPicPr>
            <a:picLocks noChangeAspect="1"/>
          </p:cNvPicPr>
          <p:nvPr/>
        </p:nvPicPr>
        <p:blipFill>
          <a:blip r:embed="rId3"/>
          <a:srcRect b="4423"/>
          <a:stretch/>
        </p:blipFill>
        <p:spPr>
          <a:xfrm>
            <a:off x="8449994" y="540033"/>
            <a:ext cx="3201606" cy="2754000"/>
          </a:xfrm>
          <a:prstGeom prst="rect">
            <a:avLst/>
          </a:prstGeom>
        </p:spPr>
      </p:pic>
      <p:pic>
        <p:nvPicPr>
          <p:cNvPr id="5" name="Picture 4" descr="A screenshot of a graph&#10;&#10;Description automatically generated">
            <a:extLst>
              <a:ext uri="{FF2B5EF4-FFF2-40B4-BE49-F238E27FC236}">
                <a16:creationId xmlns:a16="http://schemas.microsoft.com/office/drawing/2014/main" id="{15143855-5D37-F4B8-516F-D102EA417139}"/>
              </a:ext>
            </a:extLst>
          </p:cNvPr>
          <p:cNvPicPr>
            <a:picLocks noChangeAspect="1"/>
          </p:cNvPicPr>
          <p:nvPr/>
        </p:nvPicPr>
        <p:blipFill>
          <a:blip r:embed="rId4"/>
          <a:srcRect t="11831" r="5" b="18497"/>
          <a:stretch/>
        </p:blipFill>
        <p:spPr>
          <a:xfrm>
            <a:off x="4979988" y="3564000"/>
            <a:ext cx="3201606" cy="2754000"/>
          </a:xfrm>
          <a:prstGeom prst="rect">
            <a:avLst/>
          </a:prstGeom>
        </p:spPr>
      </p:pic>
      <p:pic>
        <p:nvPicPr>
          <p:cNvPr id="6" name="Picture 5" descr="A graph with numbers and a bar&#10;&#10;Description automatically generated">
            <a:extLst>
              <a:ext uri="{FF2B5EF4-FFF2-40B4-BE49-F238E27FC236}">
                <a16:creationId xmlns:a16="http://schemas.microsoft.com/office/drawing/2014/main" id="{1FCC0D3F-D08A-686B-2731-735AB6ABBD63}"/>
              </a:ext>
            </a:extLst>
          </p:cNvPr>
          <p:cNvPicPr>
            <a:picLocks noChangeAspect="1"/>
          </p:cNvPicPr>
          <p:nvPr/>
        </p:nvPicPr>
        <p:blipFill>
          <a:blip r:embed="rId5"/>
          <a:srcRect t="22367" r="3" b="3"/>
          <a:stretch/>
        </p:blipFill>
        <p:spPr>
          <a:xfrm>
            <a:off x="8449994" y="3564000"/>
            <a:ext cx="3201606" cy="2754000"/>
          </a:xfrm>
          <a:prstGeom prst="rect">
            <a:avLst/>
          </a:prstGeom>
        </p:spPr>
      </p:pic>
    </p:spTree>
    <p:extLst>
      <p:ext uri="{BB962C8B-B14F-4D97-AF65-F5344CB8AC3E}">
        <p14:creationId xmlns:p14="http://schemas.microsoft.com/office/powerpoint/2010/main" val="3870300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1AEB7F98-32EC-40D3-89EE-C843302316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74E343B-B5DB-482A-5DA4-FD035AF278FD}"/>
              </a:ext>
            </a:extLst>
          </p:cNvPr>
          <p:cNvSpPr>
            <a:spLocks noGrp="1"/>
          </p:cNvSpPr>
          <p:nvPr>
            <p:ph type="title"/>
          </p:nvPr>
        </p:nvSpPr>
        <p:spPr>
          <a:xfrm>
            <a:off x="554800" y="423382"/>
            <a:ext cx="3870382" cy="1569660"/>
          </a:xfrm>
        </p:spPr>
        <p:txBody>
          <a:bodyPr wrap="square" anchor="b">
            <a:normAutofit/>
          </a:bodyPr>
          <a:lstStyle/>
          <a:p>
            <a:pPr algn="ctr"/>
            <a:r>
              <a:rPr lang="en-US" u="sng" dirty="0">
                <a:solidFill>
                  <a:srgbClr val="C00000"/>
                </a:solidFill>
                <a:latin typeface="Century" panose="02040604050505020304" pitchFamily="18" charset="0"/>
              </a:rPr>
              <a:t>EDA (Exploratory Data Analysis)</a:t>
            </a:r>
            <a:endParaRPr lang="en-US" u="sng" dirty="0">
              <a:solidFill>
                <a:srgbClr val="C00000"/>
              </a:solidFill>
            </a:endParaRPr>
          </a:p>
        </p:txBody>
      </p:sp>
      <p:sp>
        <p:nvSpPr>
          <p:cNvPr id="3" name="Content Placeholder 2">
            <a:extLst>
              <a:ext uri="{FF2B5EF4-FFF2-40B4-BE49-F238E27FC236}">
                <a16:creationId xmlns:a16="http://schemas.microsoft.com/office/drawing/2014/main" id="{245DB34C-A68A-C9BB-CD6D-3D32794C13B7}"/>
              </a:ext>
            </a:extLst>
          </p:cNvPr>
          <p:cNvSpPr>
            <a:spLocks noGrp="1"/>
          </p:cNvSpPr>
          <p:nvPr>
            <p:ph idx="1"/>
          </p:nvPr>
        </p:nvSpPr>
        <p:spPr>
          <a:xfrm>
            <a:off x="989999" y="2361600"/>
            <a:ext cx="3449582" cy="3416900"/>
          </a:xfrm>
        </p:spPr>
        <p:txBody>
          <a:bodyPr>
            <a:normAutofit fontScale="85000" lnSpcReduction="10000"/>
          </a:bodyPr>
          <a:lstStyle/>
          <a:p>
            <a:pPr>
              <a:lnSpc>
                <a:spcPct val="140000"/>
              </a:lnSpc>
              <a:buFont typeface="Wingdings" pitchFamily="2" charset="2"/>
              <a:buChar char="v"/>
            </a:pPr>
            <a:r>
              <a:rPr lang="en-US" dirty="0">
                <a:solidFill>
                  <a:srgbClr val="C00000">
                    <a:alpha val="60000"/>
                  </a:srgbClr>
                </a:solidFill>
                <a:latin typeface="Century" panose="02040604050505020304" pitchFamily="18" charset="0"/>
              </a:rPr>
              <a:t>Roughly 66% applicants are certified</a:t>
            </a:r>
          </a:p>
          <a:p>
            <a:pPr>
              <a:lnSpc>
                <a:spcPct val="140000"/>
              </a:lnSpc>
              <a:buFont typeface="Wingdings" pitchFamily="2" charset="2"/>
              <a:buChar char="v"/>
            </a:pPr>
            <a:r>
              <a:rPr lang="en-US" dirty="0">
                <a:solidFill>
                  <a:srgbClr val="C00000">
                    <a:alpha val="60000"/>
                  </a:srgbClr>
                </a:solidFill>
                <a:latin typeface="Century" panose="02040604050505020304" pitchFamily="18" charset="0"/>
              </a:rPr>
              <a:t>Education, experience factors highly correlated to the case status</a:t>
            </a:r>
          </a:p>
          <a:p>
            <a:pPr>
              <a:lnSpc>
                <a:spcPct val="140000"/>
              </a:lnSpc>
              <a:buFont typeface="Wingdings" pitchFamily="2" charset="2"/>
              <a:buChar char="v"/>
            </a:pPr>
            <a:r>
              <a:rPr lang="en-US" dirty="0">
                <a:solidFill>
                  <a:srgbClr val="C00000">
                    <a:alpha val="60000"/>
                  </a:srgbClr>
                </a:solidFill>
                <a:latin typeface="Century" panose="02040604050505020304" pitchFamily="18" charset="0"/>
              </a:rPr>
              <a:t>Education/degree increases the chance of certified VISA application</a:t>
            </a:r>
          </a:p>
          <a:p>
            <a:pPr>
              <a:lnSpc>
                <a:spcPct val="140000"/>
              </a:lnSpc>
              <a:buFont typeface="Wingdings" pitchFamily="2" charset="2"/>
              <a:buChar char="v"/>
            </a:pPr>
            <a:endParaRPr lang="en-US" dirty="0">
              <a:latin typeface="Century" panose="02040604050505020304" pitchFamily="18" charset="0"/>
            </a:endParaRPr>
          </a:p>
          <a:p>
            <a:pPr>
              <a:lnSpc>
                <a:spcPct val="140000"/>
              </a:lnSpc>
              <a:buFont typeface="Wingdings" pitchFamily="2" charset="2"/>
              <a:buChar char="v"/>
            </a:pPr>
            <a:endParaRPr lang="en-US" dirty="0">
              <a:latin typeface="Century" panose="02040604050505020304" pitchFamily="18" charset="0"/>
            </a:endParaRPr>
          </a:p>
          <a:p>
            <a:pPr>
              <a:lnSpc>
                <a:spcPct val="140000"/>
              </a:lnSpc>
            </a:pPr>
            <a:endParaRPr lang="en-US" dirty="0"/>
          </a:p>
        </p:txBody>
      </p:sp>
      <p:pic>
        <p:nvPicPr>
          <p:cNvPr id="7" name="Picture 6">
            <a:extLst>
              <a:ext uri="{FF2B5EF4-FFF2-40B4-BE49-F238E27FC236}">
                <a16:creationId xmlns:a16="http://schemas.microsoft.com/office/drawing/2014/main" id="{31E4092C-68A3-1DB9-2513-A0CE072764B2}"/>
              </a:ext>
            </a:extLst>
          </p:cNvPr>
          <p:cNvPicPr>
            <a:picLocks noChangeAspect="1"/>
          </p:cNvPicPr>
          <p:nvPr/>
        </p:nvPicPr>
        <p:blipFill>
          <a:blip r:embed="rId2"/>
          <a:srcRect t="26715" r="2" b="5545"/>
          <a:stretch/>
        </p:blipFill>
        <p:spPr>
          <a:xfrm>
            <a:off x="4979982" y="540033"/>
            <a:ext cx="3201611" cy="2754000"/>
          </a:xfrm>
          <a:prstGeom prst="rect">
            <a:avLst/>
          </a:prstGeom>
        </p:spPr>
      </p:pic>
      <p:pic>
        <p:nvPicPr>
          <p:cNvPr id="9" name="Picture 8">
            <a:extLst>
              <a:ext uri="{FF2B5EF4-FFF2-40B4-BE49-F238E27FC236}">
                <a16:creationId xmlns:a16="http://schemas.microsoft.com/office/drawing/2014/main" id="{79659CE6-3D82-D6CB-07A9-1D7F791AB34B}"/>
              </a:ext>
            </a:extLst>
          </p:cNvPr>
          <p:cNvPicPr>
            <a:picLocks noChangeAspect="1"/>
          </p:cNvPicPr>
          <p:nvPr/>
        </p:nvPicPr>
        <p:blipFill>
          <a:blip r:embed="rId3"/>
          <a:srcRect l="8481" r="29323" b="-1"/>
          <a:stretch/>
        </p:blipFill>
        <p:spPr>
          <a:xfrm>
            <a:off x="8449992" y="540033"/>
            <a:ext cx="3201607" cy="2754000"/>
          </a:xfrm>
          <a:prstGeom prst="rect">
            <a:avLst/>
          </a:prstGeom>
        </p:spPr>
      </p:pic>
      <p:pic>
        <p:nvPicPr>
          <p:cNvPr id="8" name="Picture 7">
            <a:extLst>
              <a:ext uri="{FF2B5EF4-FFF2-40B4-BE49-F238E27FC236}">
                <a16:creationId xmlns:a16="http://schemas.microsoft.com/office/drawing/2014/main" id="{07F6933F-7574-2B18-C086-A64AC56F5914}"/>
              </a:ext>
            </a:extLst>
          </p:cNvPr>
          <p:cNvPicPr>
            <a:picLocks noChangeAspect="1"/>
          </p:cNvPicPr>
          <p:nvPr/>
        </p:nvPicPr>
        <p:blipFill>
          <a:blip r:embed="rId4"/>
          <a:srcRect t="5412" b="21202"/>
          <a:stretch/>
        </p:blipFill>
        <p:spPr>
          <a:xfrm>
            <a:off x="4979987" y="3564000"/>
            <a:ext cx="6671613" cy="2754000"/>
          </a:xfrm>
          <a:prstGeom prst="rect">
            <a:avLst/>
          </a:prstGeom>
        </p:spPr>
      </p:pic>
    </p:spTree>
    <p:extLst>
      <p:ext uri="{BB962C8B-B14F-4D97-AF65-F5344CB8AC3E}">
        <p14:creationId xmlns:p14="http://schemas.microsoft.com/office/powerpoint/2010/main" val="28695069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EEE96A74-B62B-4642-AB22-7776A5F48C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195350-5956-F755-E99B-54D57271D585}"/>
              </a:ext>
            </a:extLst>
          </p:cNvPr>
          <p:cNvSpPr>
            <a:spLocks noGrp="1"/>
          </p:cNvSpPr>
          <p:nvPr>
            <p:ph type="title"/>
          </p:nvPr>
        </p:nvSpPr>
        <p:spPr>
          <a:xfrm>
            <a:off x="990000" y="540000"/>
            <a:ext cx="3528000" cy="2303213"/>
          </a:xfrm>
        </p:spPr>
        <p:txBody>
          <a:bodyPr anchor="ctr">
            <a:normAutofit/>
          </a:bodyPr>
          <a:lstStyle/>
          <a:p>
            <a:pPr algn="ctr"/>
            <a:r>
              <a:rPr lang="en-US" u="sng" dirty="0">
                <a:solidFill>
                  <a:srgbClr val="C00000"/>
                </a:solidFill>
                <a:latin typeface="Century" panose="02040604050505020304" pitchFamily="18" charset="0"/>
              </a:rPr>
              <a:t>EDA (Exploratory Data Analysis)</a:t>
            </a:r>
            <a:br>
              <a:rPr lang="en-US" u="sng" dirty="0"/>
            </a:br>
            <a:endParaRPr lang="en-US" u="sng" dirty="0"/>
          </a:p>
        </p:txBody>
      </p:sp>
      <p:cxnSp>
        <p:nvCxnSpPr>
          <p:cNvPr id="30" name="Straight Connector 29">
            <a:extLst>
              <a:ext uri="{FF2B5EF4-FFF2-40B4-BE49-F238E27FC236}">
                <a16:creationId xmlns:a16="http://schemas.microsoft.com/office/drawing/2014/main" id="{3A513CAD-9784-4D35-BAF9-1F7DDD697BD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rot="5400000">
            <a:off x="4714750" y="1691606"/>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C3C8DB4B-6BEC-9639-2E50-BC67A766BEB1}"/>
              </a:ext>
            </a:extLst>
          </p:cNvPr>
          <p:cNvSpPr>
            <a:spLocks noGrp="1"/>
          </p:cNvSpPr>
          <p:nvPr>
            <p:ph idx="1"/>
          </p:nvPr>
        </p:nvSpPr>
        <p:spPr>
          <a:xfrm>
            <a:off x="5543552" y="450000"/>
            <a:ext cx="6107460" cy="2484000"/>
          </a:xfrm>
        </p:spPr>
        <p:txBody>
          <a:bodyPr anchor="ctr">
            <a:normAutofit fontScale="85000" lnSpcReduction="10000"/>
          </a:bodyPr>
          <a:lstStyle/>
          <a:p>
            <a:pPr>
              <a:buFont typeface="Wingdings" pitchFamily="2" charset="2"/>
              <a:buChar char="v"/>
            </a:pPr>
            <a:r>
              <a:rPr lang="en-US" dirty="0">
                <a:solidFill>
                  <a:srgbClr val="C00000">
                    <a:alpha val="60000"/>
                  </a:srgbClr>
                </a:solidFill>
                <a:latin typeface="Century" panose="02040604050505020304" pitchFamily="18" charset="0"/>
              </a:rPr>
              <a:t>Across the regions Bachelors and Masters hold highest population</a:t>
            </a:r>
          </a:p>
          <a:p>
            <a:pPr>
              <a:buFont typeface="Wingdings" pitchFamily="2" charset="2"/>
              <a:buChar char="v"/>
            </a:pPr>
            <a:r>
              <a:rPr lang="en-US" dirty="0">
                <a:solidFill>
                  <a:srgbClr val="C00000">
                    <a:alpha val="60000"/>
                  </a:srgbClr>
                </a:solidFill>
                <a:latin typeface="Century" panose="02040604050505020304" pitchFamily="18" charset="0"/>
              </a:rPr>
              <a:t>The Midwest region has highest certified applications</a:t>
            </a:r>
          </a:p>
          <a:p>
            <a:pPr>
              <a:buFont typeface="Wingdings" pitchFamily="2" charset="2"/>
              <a:buChar char="v"/>
            </a:pPr>
            <a:r>
              <a:rPr lang="en-US" dirty="0">
                <a:solidFill>
                  <a:srgbClr val="C00000">
                    <a:alpha val="60000"/>
                  </a:srgbClr>
                </a:solidFill>
                <a:latin typeface="Century" panose="02040604050505020304" pitchFamily="18" charset="0"/>
              </a:rPr>
              <a:t>Certified visa applicants are primarily from Europe</a:t>
            </a:r>
          </a:p>
        </p:txBody>
      </p:sp>
      <p:pic>
        <p:nvPicPr>
          <p:cNvPr id="5" name="Picture 4" descr="A colorful squares with numbers&#10;&#10;Description automatically generated">
            <a:extLst>
              <a:ext uri="{FF2B5EF4-FFF2-40B4-BE49-F238E27FC236}">
                <a16:creationId xmlns:a16="http://schemas.microsoft.com/office/drawing/2014/main" id="{9777351A-89B6-0C2B-CEE5-A21C85230D7A}"/>
              </a:ext>
            </a:extLst>
          </p:cNvPr>
          <p:cNvPicPr>
            <a:picLocks noChangeAspect="1"/>
          </p:cNvPicPr>
          <p:nvPr/>
        </p:nvPicPr>
        <p:blipFill>
          <a:blip r:embed="rId2"/>
          <a:srcRect t="1066" b="8360"/>
          <a:stretch/>
        </p:blipFill>
        <p:spPr>
          <a:xfrm>
            <a:off x="541339" y="3999639"/>
            <a:ext cx="3524400" cy="1747722"/>
          </a:xfrm>
          <a:prstGeom prst="rect">
            <a:avLst/>
          </a:prstGeom>
        </p:spPr>
      </p:pic>
      <p:pic>
        <p:nvPicPr>
          <p:cNvPr id="6" name="Picture 5" descr="A graph of blue and orange squares&#10;&#10;Description automatically generated">
            <a:extLst>
              <a:ext uri="{FF2B5EF4-FFF2-40B4-BE49-F238E27FC236}">
                <a16:creationId xmlns:a16="http://schemas.microsoft.com/office/drawing/2014/main" id="{C30B7E13-9C5E-A977-ED34-7EFACB44BDC0}"/>
              </a:ext>
            </a:extLst>
          </p:cNvPr>
          <p:cNvPicPr>
            <a:picLocks noChangeAspect="1"/>
          </p:cNvPicPr>
          <p:nvPr/>
        </p:nvPicPr>
        <p:blipFill>
          <a:blip r:embed="rId3"/>
          <a:srcRect b="2287"/>
          <a:stretch/>
        </p:blipFill>
        <p:spPr>
          <a:xfrm>
            <a:off x="4333975" y="3999637"/>
            <a:ext cx="3524400" cy="1747725"/>
          </a:xfrm>
          <a:prstGeom prst="rect">
            <a:avLst/>
          </a:prstGeom>
        </p:spPr>
      </p:pic>
      <p:pic>
        <p:nvPicPr>
          <p:cNvPr id="7" name="Picture 6">
            <a:extLst>
              <a:ext uri="{FF2B5EF4-FFF2-40B4-BE49-F238E27FC236}">
                <a16:creationId xmlns:a16="http://schemas.microsoft.com/office/drawing/2014/main" id="{7F1B905A-1F0B-63D8-9B55-EF936E117480}"/>
              </a:ext>
            </a:extLst>
          </p:cNvPr>
          <p:cNvPicPr>
            <a:picLocks noChangeAspect="1"/>
          </p:cNvPicPr>
          <p:nvPr/>
        </p:nvPicPr>
        <p:blipFill>
          <a:blip r:embed="rId4"/>
          <a:stretch>
            <a:fillRect/>
          </a:stretch>
        </p:blipFill>
        <p:spPr>
          <a:xfrm>
            <a:off x="8126612" y="4058483"/>
            <a:ext cx="3524400" cy="1630034"/>
          </a:xfrm>
          <a:prstGeom prst="rect">
            <a:avLst/>
          </a:prstGeom>
        </p:spPr>
      </p:pic>
    </p:spTree>
    <p:extLst>
      <p:ext uri="{BB962C8B-B14F-4D97-AF65-F5344CB8AC3E}">
        <p14:creationId xmlns:p14="http://schemas.microsoft.com/office/powerpoint/2010/main" val="19390086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A5CFEF-EFDB-808B-093F-C4D060DED151}"/>
              </a:ext>
            </a:extLst>
          </p:cNvPr>
          <p:cNvSpPr>
            <a:spLocks noGrp="1"/>
          </p:cNvSpPr>
          <p:nvPr>
            <p:ph type="title"/>
          </p:nvPr>
        </p:nvSpPr>
        <p:spPr/>
        <p:txBody>
          <a:bodyPr/>
          <a:lstStyle/>
          <a:p>
            <a:r>
              <a:rPr lang="en-US" u="sng" dirty="0">
                <a:solidFill>
                  <a:srgbClr val="C00000"/>
                </a:solidFill>
                <a:latin typeface="Century" panose="02040604050505020304" pitchFamily="18" charset="0"/>
              </a:rPr>
              <a:t>EDA (Exploratory Data Analysis)</a:t>
            </a:r>
            <a:br>
              <a:rPr lang="en-US" u="sng" dirty="0"/>
            </a:br>
            <a:endParaRPr lang="en-US" dirty="0"/>
          </a:p>
        </p:txBody>
      </p:sp>
      <p:pic>
        <p:nvPicPr>
          <p:cNvPr id="4" name="Content Placeholder 3">
            <a:extLst>
              <a:ext uri="{FF2B5EF4-FFF2-40B4-BE49-F238E27FC236}">
                <a16:creationId xmlns:a16="http://schemas.microsoft.com/office/drawing/2014/main" id="{06187C3A-E460-F259-9B60-11A8A08B5EC5}"/>
              </a:ext>
            </a:extLst>
          </p:cNvPr>
          <p:cNvPicPr>
            <a:picLocks noGrp="1" noChangeAspect="1"/>
          </p:cNvPicPr>
          <p:nvPr>
            <p:ph idx="1"/>
          </p:nvPr>
        </p:nvPicPr>
        <p:blipFill>
          <a:blip r:embed="rId2"/>
          <a:stretch>
            <a:fillRect/>
          </a:stretch>
        </p:blipFill>
        <p:spPr>
          <a:xfrm>
            <a:off x="4878355" y="1104550"/>
            <a:ext cx="6837960" cy="3207808"/>
          </a:xfrm>
          <a:prstGeom prst="rect">
            <a:avLst/>
          </a:prstGeom>
        </p:spPr>
      </p:pic>
      <p:sp>
        <p:nvSpPr>
          <p:cNvPr id="7" name="TextBox 6">
            <a:extLst>
              <a:ext uri="{FF2B5EF4-FFF2-40B4-BE49-F238E27FC236}">
                <a16:creationId xmlns:a16="http://schemas.microsoft.com/office/drawing/2014/main" id="{6A7969EE-04D2-59C2-3F27-99A0149A26AD}"/>
              </a:ext>
            </a:extLst>
          </p:cNvPr>
          <p:cNvSpPr txBox="1"/>
          <p:nvPr/>
        </p:nvSpPr>
        <p:spPr>
          <a:xfrm>
            <a:off x="1151467" y="1508125"/>
            <a:ext cx="2743200" cy="1200329"/>
          </a:xfrm>
          <a:prstGeom prst="rect">
            <a:avLst/>
          </a:prstGeom>
          <a:noFill/>
        </p:spPr>
        <p:txBody>
          <a:bodyPr wrap="square" rtlCol="0">
            <a:spAutoFit/>
          </a:bodyPr>
          <a:lstStyle/>
          <a:p>
            <a:pPr marL="285750" indent="-285750">
              <a:buFont typeface="Wingdings" pitchFamily="2" charset="2"/>
              <a:buChar char="v"/>
            </a:pPr>
            <a:r>
              <a:rPr lang="en-US" b="0" i="0" u="none" strike="noStrike" dirty="0">
                <a:solidFill>
                  <a:srgbClr val="C00000"/>
                </a:solidFill>
                <a:effectLst/>
                <a:latin typeface="Century" panose="02040604050505020304" pitchFamily="18" charset="0"/>
              </a:rPr>
              <a:t>Midwest and Island regions have the highest prevailing wages on average</a:t>
            </a:r>
            <a:endParaRPr lang="en-US" dirty="0">
              <a:solidFill>
                <a:srgbClr val="C00000"/>
              </a:solidFill>
              <a:latin typeface="Century" panose="02040604050505020304" pitchFamily="18" charset="0"/>
            </a:endParaRPr>
          </a:p>
        </p:txBody>
      </p:sp>
    </p:spTree>
    <p:extLst>
      <p:ext uri="{BB962C8B-B14F-4D97-AF65-F5344CB8AC3E}">
        <p14:creationId xmlns:p14="http://schemas.microsoft.com/office/powerpoint/2010/main" val="6447348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C0BD5F-4874-F71E-1F5F-3827201F6964}"/>
              </a:ext>
            </a:extLst>
          </p:cNvPr>
          <p:cNvSpPr>
            <a:spLocks noGrp="1"/>
          </p:cNvSpPr>
          <p:nvPr>
            <p:ph type="title"/>
          </p:nvPr>
        </p:nvSpPr>
        <p:spPr/>
        <p:txBody>
          <a:bodyPr/>
          <a:lstStyle/>
          <a:p>
            <a:r>
              <a:rPr lang="en-US" u="sng" dirty="0">
                <a:solidFill>
                  <a:srgbClr val="C00000"/>
                </a:solidFill>
              </a:rPr>
              <a:t>Model creation</a:t>
            </a:r>
          </a:p>
        </p:txBody>
      </p:sp>
      <p:sp>
        <p:nvSpPr>
          <p:cNvPr id="3" name="Content Placeholder 2">
            <a:extLst>
              <a:ext uri="{FF2B5EF4-FFF2-40B4-BE49-F238E27FC236}">
                <a16:creationId xmlns:a16="http://schemas.microsoft.com/office/drawing/2014/main" id="{9569CC3A-A14F-553B-8487-6E92440D8920}"/>
              </a:ext>
            </a:extLst>
          </p:cNvPr>
          <p:cNvSpPr>
            <a:spLocks noGrp="1"/>
          </p:cNvSpPr>
          <p:nvPr>
            <p:ph idx="1"/>
          </p:nvPr>
        </p:nvSpPr>
        <p:spPr/>
        <p:txBody>
          <a:bodyPr/>
          <a:lstStyle/>
          <a:p>
            <a:r>
              <a:rPr lang="en-US" b="1" u="sng" dirty="0">
                <a:solidFill>
                  <a:srgbClr val="C00000">
                    <a:alpha val="60000"/>
                  </a:srgbClr>
                </a:solidFill>
                <a:latin typeface="Century" panose="02040604050505020304" pitchFamily="18" charset="0"/>
              </a:rPr>
              <a:t>Evaluation Criteria</a:t>
            </a:r>
            <a:r>
              <a:rPr lang="en-US" dirty="0">
                <a:latin typeface="Century" panose="02040604050505020304" pitchFamily="18" charset="0"/>
              </a:rPr>
              <a:t>: M</a:t>
            </a:r>
            <a:r>
              <a:rPr lang="en-US" b="0" i="0" u="none" strike="noStrike" dirty="0">
                <a:effectLst/>
                <a:latin typeface="Century" panose="02040604050505020304" pitchFamily="18" charset="0"/>
              </a:rPr>
              <a:t>odel predicts that the visa application will get certified but in reality, the visa application should get denied, or  will not get certified but in reality, the visa application should get certified.</a:t>
            </a:r>
          </a:p>
          <a:p>
            <a:pPr algn="l">
              <a:buFont typeface="Arial" panose="020B0604020202020204" pitchFamily="34" charset="0"/>
              <a:buChar char="•"/>
            </a:pPr>
            <a:r>
              <a:rPr lang="en-US" b="1" i="0" u="sng" strike="noStrike" dirty="0">
                <a:solidFill>
                  <a:srgbClr val="C00000">
                    <a:alpha val="60000"/>
                  </a:srgbClr>
                </a:solidFill>
                <a:effectLst/>
                <a:latin typeface="Century" panose="02040604050505020304" pitchFamily="18" charset="0"/>
              </a:rPr>
              <a:t>Scenario: </a:t>
            </a:r>
            <a:r>
              <a:rPr lang="en-US" b="0" i="0" u="none" strike="noStrike" dirty="0">
                <a:effectLst/>
                <a:latin typeface="Century" panose="02040604050505020304" pitchFamily="18" charset="0"/>
              </a:rPr>
              <a:t>If a visa is certified US citizens will miss the opportunity to work on that position. If a visa is denied the U.S. will lose a suitable human resource that can contribute to the economy.</a:t>
            </a:r>
          </a:p>
          <a:p>
            <a:endParaRPr lang="en-US" dirty="0">
              <a:latin typeface="Century" panose="02040604050505020304" pitchFamily="18" charset="0"/>
            </a:endParaRPr>
          </a:p>
        </p:txBody>
      </p:sp>
    </p:spTree>
    <p:extLst>
      <p:ext uri="{BB962C8B-B14F-4D97-AF65-F5344CB8AC3E}">
        <p14:creationId xmlns:p14="http://schemas.microsoft.com/office/powerpoint/2010/main" val="38282293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AE0C0B2A-3FD1-4235-A16E-0ED1E028A93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826000" y="3525773"/>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grpSp>
        <p:nvGrpSpPr>
          <p:cNvPr id="12" name="Group 11">
            <a:extLst>
              <a:ext uri="{FF2B5EF4-FFF2-40B4-BE49-F238E27FC236}">
                <a16:creationId xmlns:a16="http://schemas.microsoft.com/office/drawing/2014/main" id="{9494E066-0146-46E9-BAF1-C33240ABA29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2700000">
            <a:off x="10127693" y="4178240"/>
            <a:ext cx="633413" cy="1862138"/>
            <a:chOff x="5959192" y="333389"/>
            <a:chExt cx="633413" cy="1862138"/>
          </a:xfrm>
        </p:grpSpPr>
        <p:grpSp>
          <p:nvGrpSpPr>
            <p:cNvPr id="13" name="Group 12">
              <a:extLst>
                <a:ext uri="{FF2B5EF4-FFF2-40B4-BE49-F238E27FC236}">
                  <a16:creationId xmlns:a16="http://schemas.microsoft.com/office/drawing/2014/main" id="{B02BD80B-C499-4DAC-9580-575B04F8658F}"/>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15" name="Freeform 68">
                <a:extLst>
                  <a:ext uri="{FF2B5EF4-FFF2-40B4-BE49-F238E27FC236}">
                    <a16:creationId xmlns:a16="http://schemas.microsoft.com/office/drawing/2014/main" id="{CCF069F3-858C-4C67-90C2-46017C3D4CE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69">
                <a:extLst>
                  <a:ext uri="{FF2B5EF4-FFF2-40B4-BE49-F238E27FC236}">
                    <a16:creationId xmlns:a16="http://schemas.microsoft.com/office/drawing/2014/main" id="{8A1FFA52-DFA8-4A81-8A85-50BE13257F5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14" name="Line 70">
              <a:extLst>
                <a:ext uri="{FF2B5EF4-FFF2-40B4-BE49-F238E27FC236}">
                  <a16:creationId xmlns:a16="http://schemas.microsoft.com/office/drawing/2014/main" id="{BAEDA471-60CB-4A0C-B9AD-B2B3C51EA2FD}"/>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6278280"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 useBgFill="1">
        <p:nvSpPr>
          <p:cNvPr id="18" name="Rectangle 17">
            <a:extLst>
              <a:ext uri="{FF2B5EF4-FFF2-40B4-BE49-F238E27FC236}">
                <a16:creationId xmlns:a16="http://schemas.microsoft.com/office/drawing/2014/main" id="{3011B0B3-5679-4759-90B8-3B908C4CBD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0043723-D4D9-BE43-47E4-66C06D2EAD8C}"/>
              </a:ext>
            </a:extLst>
          </p:cNvPr>
          <p:cNvSpPr>
            <a:spLocks noGrp="1"/>
          </p:cNvSpPr>
          <p:nvPr>
            <p:ph type="title"/>
          </p:nvPr>
        </p:nvSpPr>
        <p:spPr>
          <a:xfrm>
            <a:off x="1079510" y="531814"/>
            <a:ext cx="10247200" cy="1720850"/>
          </a:xfrm>
        </p:spPr>
        <p:txBody>
          <a:bodyPr vert="horz" lIns="91440" tIns="45720" rIns="91440" bIns="45720" rtlCol="0" anchor="ctr" anchorCtr="0">
            <a:normAutofit/>
          </a:bodyPr>
          <a:lstStyle/>
          <a:p>
            <a:pPr algn="ctr">
              <a:lnSpc>
                <a:spcPct val="90000"/>
              </a:lnSpc>
            </a:pPr>
            <a:r>
              <a:rPr lang="en-US" sz="3700" u="sng" dirty="0">
                <a:solidFill>
                  <a:srgbClr val="C00000"/>
                </a:solidFill>
              </a:rPr>
              <a:t>Check Model performance on training set and test set</a:t>
            </a:r>
          </a:p>
        </p:txBody>
      </p:sp>
      <p:cxnSp>
        <p:nvCxnSpPr>
          <p:cNvPr id="20" name="Straight Connector 19">
            <a:extLst>
              <a:ext uri="{FF2B5EF4-FFF2-40B4-BE49-F238E27FC236}">
                <a16:creationId xmlns:a16="http://schemas.microsoft.com/office/drawing/2014/main" id="{32E97E5C-7A5F-424E-AAE4-654396E9079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rot="5400000">
            <a:off x="5826000" y="1392239"/>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pic>
        <p:nvPicPr>
          <p:cNvPr id="4" name="Content Placeholder 3">
            <a:extLst>
              <a:ext uri="{FF2B5EF4-FFF2-40B4-BE49-F238E27FC236}">
                <a16:creationId xmlns:a16="http://schemas.microsoft.com/office/drawing/2014/main" id="{CB954077-5F4E-3CA0-6F25-540E9486199B}"/>
              </a:ext>
            </a:extLst>
          </p:cNvPr>
          <p:cNvPicPr>
            <a:picLocks noGrp="1" noChangeAspect="1"/>
          </p:cNvPicPr>
          <p:nvPr>
            <p:ph idx="1"/>
          </p:nvPr>
        </p:nvPicPr>
        <p:blipFill>
          <a:blip r:embed="rId2"/>
          <a:stretch>
            <a:fillRect/>
          </a:stretch>
        </p:blipFill>
        <p:spPr>
          <a:xfrm>
            <a:off x="541339" y="2967679"/>
            <a:ext cx="5421600" cy="3225852"/>
          </a:xfrm>
          <a:prstGeom prst="rect">
            <a:avLst/>
          </a:prstGeom>
        </p:spPr>
      </p:pic>
      <p:pic>
        <p:nvPicPr>
          <p:cNvPr id="5" name="Picture 4">
            <a:extLst>
              <a:ext uri="{FF2B5EF4-FFF2-40B4-BE49-F238E27FC236}">
                <a16:creationId xmlns:a16="http://schemas.microsoft.com/office/drawing/2014/main" id="{F174E729-D08A-B1D8-C6B1-A575683BA6FA}"/>
              </a:ext>
            </a:extLst>
          </p:cNvPr>
          <p:cNvPicPr>
            <a:picLocks noChangeAspect="1"/>
          </p:cNvPicPr>
          <p:nvPr/>
        </p:nvPicPr>
        <p:blipFill>
          <a:blip r:embed="rId3"/>
          <a:stretch>
            <a:fillRect/>
          </a:stretch>
        </p:blipFill>
        <p:spPr>
          <a:xfrm>
            <a:off x="6229412" y="3049004"/>
            <a:ext cx="5421600" cy="3063203"/>
          </a:xfrm>
          <a:prstGeom prst="rect">
            <a:avLst/>
          </a:prstGeom>
        </p:spPr>
      </p:pic>
    </p:spTree>
    <p:extLst>
      <p:ext uri="{BB962C8B-B14F-4D97-AF65-F5344CB8AC3E}">
        <p14:creationId xmlns:p14="http://schemas.microsoft.com/office/powerpoint/2010/main" val="35889833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AE0C0B2A-3FD1-4235-A16E-0ED1E028A93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826000" y="3525773"/>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grpSp>
        <p:nvGrpSpPr>
          <p:cNvPr id="12" name="Group 11">
            <a:extLst>
              <a:ext uri="{FF2B5EF4-FFF2-40B4-BE49-F238E27FC236}">
                <a16:creationId xmlns:a16="http://schemas.microsoft.com/office/drawing/2014/main" id="{9494E066-0146-46E9-BAF1-C33240ABA29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2700000">
            <a:off x="10127693" y="4178240"/>
            <a:ext cx="633413" cy="1862138"/>
            <a:chOff x="5959192" y="333389"/>
            <a:chExt cx="633413" cy="1862138"/>
          </a:xfrm>
        </p:grpSpPr>
        <p:grpSp>
          <p:nvGrpSpPr>
            <p:cNvPr id="13" name="Group 12">
              <a:extLst>
                <a:ext uri="{FF2B5EF4-FFF2-40B4-BE49-F238E27FC236}">
                  <a16:creationId xmlns:a16="http://schemas.microsoft.com/office/drawing/2014/main" id="{B02BD80B-C499-4DAC-9580-575B04F8658F}"/>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15" name="Freeform 68">
                <a:extLst>
                  <a:ext uri="{FF2B5EF4-FFF2-40B4-BE49-F238E27FC236}">
                    <a16:creationId xmlns:a16="http://schemas.microsoft.com/office/drawing/2014/main" id="{CCF069F3-858C-4C67-90C2-46017C3D4CE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69">
                <a:extLst>
                  <a:ext uri="{FF2B5EF4-FFF2-40B4-BE49-F238E27FC236}">
                    <a16:creationId xmlns:a16="http://schemas.microsoft.com/office/drawing/2014/main" id="{8A1FFA52-DFA8-4A81-8A85-50BE13257F5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14" name="Line 70">
              <a:extLst>
                <a:ext uri="{FF2B5EF4-FFF2-40B4-BE49-F238E27FC236}">
                  <a16:creationId xmlns:a16="http://schemas.microsoft.com/office/drawing/2014/main" id="{BAEDA471-60CB-4A0C-B9AD-B2B3C51EA2FD}"/>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6278280"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 useBgFill="1">
        <p:nvSpPr>
          <p:cNvPr id="18" name="Rectangle 17">
            <a:extLst>
              <a:ext uri="{FF2B5EF4-FFF2-40B4-BE49-F238E27FC236}">
                <a16:creationId xmlns:a16="http://schemas.microsoft.com/office/drawing/2014/main" id="{3011B0B3-5679-4759-90B8-3B908C4CBD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AC0D293-9CDB-91D2-BC98-FEBEE60DB5C4}"/>
              </a:ext>
            </a:extLst>
          </p:cNvPr>
          <p:cNvSpPr>
            <a:spLocks noGrp="1"/>
          </p:cNvSpPr>
          <p:nvPr>
            <p:ph type="title"/>
          </p:nvPr>
        </p:nvSpPr>
        <p:spPr>
          <a:xfrm>
            <a:off x="1079509" y="531813"/>
            <a:ext cx="8795765" cy="2090021"/>
          </a:xfrm>
        </p:spPr>
        <p:txBody>
          <a:bodyPr vert="horz" lIns="91440" tIns="45720" rIns="91440" bIns="45720" rtlCol="0" anchor="ctr" anchorCtr="0">
            <a:normAutofit/>
          </a:bodyPr>
          <a:lstStyle/>
          <a:p>
            <a:pPr algn="ctr">
              <a:lnSpc>
                <a:spcPct val="90000"/>
              </a:lnSpc>
            </a:pPr>
            <a:r>
              <a:rPr lang="en-US" sz="3700" u="sng" dirty="0">
                <a:solidFill>
                  <a:srgbClr val="C00000"/>
                </a:solidFill>
              </a:rPr>
              <a:t>Bagging classifier use: Train and Test Model</a:t>
            </a:r>
          </a:p>
        </p:txBody>
      </p:sp>
      <p:cxnSp>
        <p:nvCxnSpPr>
          <p:cNvPr id="20" name="Straight Connector 19">
            <a:extLst>
              <a:ext uri="{FF2B5EF4-FFF2-40B4-BE49-F238E27FC236}">
                <a16:creationId xmlns:a16="http://schemas.microsoft.com/office/drawing/2014/main" id="{32E97E5C-7A5F-424E-AAE4-654396E9079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rot="5400000">
            <a:off x="5826000" y="1392239"/>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CF119E00-DE93-042D-57A8-882BAD8AF361}"/>
              </a:ext>
            </a:extLst>
          </p:cNvPr>
          <p:cNvPicPr>
            <a:picLocks noChangeAspect="1"/>
          </p:cNvPicPr>
          <p:nvPr/>
        </p:nvPicPr>
        <p:blipFill>
          <a:blip r:embed="rId2"/>
          <a:stretch>
            <a:fillRect/>
          </a:stretch>
        </p:blipFill>
        <p:spPr>
          <a:xfrm>
            <a:off x="6366000" y="3167665"/>
            <a:ext cx="5421600" cy="3347838"/>
          </a:xfrm>
          <a:prstGeom prst="rect">
            <a:avLst/>
          </a:prstGeom>
        </p:spPr>
      </p:pic>
      <p:pic>
        <p:nvPicPr>
          <p:cNvPr id="4" name="Content Placeholder 3">
            <a:extLst>
              <a:ext uri="{FF2B5EF4-FFF2-40B4-BE49-F238E27FC236}">
                <a16:creationId xmlns:a16="http://schemas.microsoft.com/office/drawing/2014/main" id="{11F7C4F6-869D-6349-C647-C2558E20843A}"/>
              </a:ext>
            </a:extLst>
          </p:cNvPr>
          <p:cNvPicPr>
            <a:picLocks noGrp="1" noChangeAspect="1"/>
          </p:cNvPicPr>
          <p:nvPr>
            <p:ph idx="1"/>
          </p:nvPr>
        </p:nvPicPr>
        <p:blipFill>
          <a:blip r:embed="rId3"/>
          <a:stretch>
            <a:fillRect/>
          </a:stretch>
        </p:blipFill>
        <p:spPr>
          <a:xfrm>
            <a:off x="404400" y="3167665"/>
            <a:ext cx="5421600" cy="3144528"/>
          </a:xfrm>
          <a:prstGeom prst="rect">
            <a:avLst/>
          </a:prstGeom>
        </p:spPr>
      </p:pic>
      <p:sp>
        <p:nvSpPr>
          <p:cNvPr id="6" name="TextBox 5">
            <a:extLst>
              <a:ext uri="{FF2B5EF4-FFF2-40B4-BE49-F238E27FC236}">
                <a16:creationId xmlns:a16="http://schemas.microsoft.com/office/drawing/2014/main" id="{E7BE13A5-0D3E-BB68-8B67-A9F356996136}"/>
              </a:ext>
            </a:extLst>
          </p:cNvPr>
          <p:cNvSpPr txBox="1"/>
          <p:nvPr/>
        </p:nvSpPr>
        <p:spPr>
          <a:xfrm>
            <a:off x="1744133" y="1981199"/>
            <a:ext cx="8043582" cy="923330"/>
          </a:xfrm>
          <a:prstGeom prst="rect">
            <a:avLst/>
          </a:prstGeom>
          <a:noFill/>
        </p:spPr>
        <p:txBody>
          <a:bodyPr wrap="square" rtlCol="0">
            <a:spAutoFit/>
          </a:bodyPr>
          <a:lstStyle/>
          <a:p>
            <a:pPr algn="l"/>
            <a:r>
              <a:rPr lang="en-US" b="0" i="0" u="none" strike="noStrike" dirty="0">
                <a:solidFill>
                  <a:srgbClr val="C00000"/>
                </a:solidFill>
                <a:effectLst/>
                <a:latin typeface="Century" panose="02040604050505020304" pitchFamily="18" charset="0"/>
              </a:rPr>
              <a:t>The tuned bagging model is overfitting training data and has a higher F1 score than the default bagging model.</a:t>
            </a:r>
          </a:p>
          <a:p>
            <a:endParaRPr lang="en-US" dirty="0"/>
          </a:p>
        </p:txBody>
      </p:sp>
    </p:spTree>
    <p:extLst>
      <p:ext uri="{BB962C8B-B14F-4D97-AF65-F5344CB8AC3E}">
        <p14:creationId xmlns:p14="http://schemas.microsoft.com/office/powerpoint/2010/main" val="8334369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B66C9CD-6BF4-44CA-8078-0BB8190807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FEBF323-3CC8-5B75-52CC-B0BEA024B00C}"/>
              </a:ext>
            </a:extLst>
          </p:cNvPr>
          <p:cNvSpPr>
            <a:spLocks noGrp="1"/>
          </p:cNvSpPr>
          <p:nvPr>
            <p:ph type="title"/>
          </p:nvPr>
        </p:nvSpPr>
        <p:spPr>
          <a:xfrm>
            <a:off x="990000" y="536575"/>
            <a:ext cx="4078800" cy="1453003"/>
          </a:xfrm>
        </p:spPr>
        <p:txBody>
          <a:bodyPr wrap="square" anchor="b">
            <a:normAutofit/>
          </a:bodyPr>
          <a:lstStyle/>
          <a:p>
            <a:pPr algn="ctr"/>
            <a:r>
              <a:rPr lang="en-US" u="sng" dirty="0" err="1">
                <a:solidFill>
                  <a:srgbClr val="C00000"/>
                </a:solidFill>
              </a:rPr>
              <a:t>RainForest</a:t>
            </a:r>
            <a:r>
              <a:rPr lang="en-US" u="sng" dirty="0">
                <a:solidFill>
                  <a:srgbClr val="C00000"/>
                </a:solidFill>
              </a:rPr>
              <a:t> Model</a:t>
            </a:r>
          </a:p>
        </p:txBody>
      </p:sp>
      <p:cxnSp>
        <p:nvCxnSpPr>
          <p:cNvPr id="11" name="Straight Connector 10">
            <a:extLst>
              <a:ext uri="{FF2B5EF4-FFF2-40B4-BE49-F238E27FC236}">
                <a16:creationId xmlns:a16="http://schemas.microsoft.com/office/drawing/2014/main" id="{76D745DA-D03E-47A2-9936-01C39D51A46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759400" y="2428148"/>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7A3F991E-82FA-09D4-1A4B-40EFCB31137D}"/>
              </a:ext>
            </a:extLst>
          </p:cNvPr>
          <p:cNvSpPr>
            <a:spLocks noGrp="1"/>
          </p:cNvSpPr>
          <p:nvPr>
            <p:ph idx="1"/>
          </p:nvPr>
        </p:nvSpPr>
        <p:spPr>
          <a:xfrm>
            <a:off x="990000" y="2877018"/>
            <a:ext cx="4078800" cy="2901482"/>
          </a:xfrm>
        </p:spPr>
        <p:txBody>
          <a:bodyPr>
            <a:normAutofit/>
          </a:bodyPr>
          <a:lstStyle/>
          <a:p>
            <a:r>
              <a:rPr lang="en-US" dirty="0" err="1">
                <a:solidFill>
                  <a:srgbClr val="C00000">
                    <a:alpha val="60000"/>
                  </a:srgbClr>
                </a:solidFill>
                <a:latin typeface="Century" panose="02040604050505020304" pitchFamily="18" charset="0"/>
              </a:rPr>
              <a:t>Hypertuned</a:t>
            </a:r>
            <a:r>
              <a:rPr lang="en-US" dirty="0">
                <a:solidFill>
                  <a:srgbClr val="C00000">
                    <a:alpha val="60000"/>
                  </a:srgbClr>
                </a:solidFill>
                <a:latin typeface="Century" panose="02040604050505020304" pitchFamily="18" charset="0"/>
              </a:rPr>
              <a:t> </a:t>
            </a:r>
            <a:r>
              <a:rPr lang="en-US" dirty="0" err="1">
                <a:solidFill>
                  <a:srgbClr val="C00000">
                    <a:alpha val="60000"/>
                  </a:srgbClr>
                </a:solidFill>
                <a:latin typeface="Century" panose="02040604050505020304" pitchFamily="18" charset="0"/>
              </a:rPr>
              <a:t>RainForest</a:t>
            </a:r>
            <a:r>
              <a:rPr lang="en-US" dirty="0">
                <a:solidFill>
                  <a:srgbClr val="C00000">
                    <a:alpha val="60000"/>
                  </a:srgbClr>
                </a:solidFill>
                <a:latin typeface="Century" panose="02040604050505020304" pitchFamily="18" charset="0"/>
              </a:rPr>
              <a:t> Model </a:t>
            </a:r>
            <a:r>
              <a:rPr lang="en-US" b="0" i="0" u="none" strike="noStrike" dirty="0">
                <a:solidFill>
                  <a:srgbClr val="C00000">
                    <a:alpha val="60000"/>
                  </a:srgbClr>
                </a:solidFill>
                <a:effectLst/>
                <a:latin typeface="Century" panose="02040604050505020304" pitchFamily="18" charset="0"/>
              </a:rPr>
              <a:t>performed well on both the training and test data sets</a:t>
            </a:r>
            <a:endParaRPr lang="en-US" dirty="0">
              <a:solidFill>
                <a:srgbClr val="C00000">
                  <a:alpha val="60000"/>
                </a:srgbClr>
              </a:solidFill>
              <a:latin typeface="Century" panose="02040604050505020304" pitchFamily="18" charset="0"/>
            </a:endParaRPr>
          </a:p>
          <a:p>
            <a:endParaRPr lang="en-US" dirty="0"/>
          </a:p>
          <a:p>
            <a:endParaRPr lang="en-US" dirty="0"/>
          </a:p>
        </p:txBody>
      </p:sp>
      <p:sp>
        <p:nvSpPr>
          <p:cNvPr id="13" name="Rectangle 12">
            <a:extLst>
              <a:ext uri="{FF2B5EF4-FFF2-40B4-BE49-F238E27FC236}">
                <a16:creationId xmlns:a16="http://schemas.microsoft.com/office/drawing/2014/main" id="{E95A6F56-5B66-4656-B01E-938834D6A3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6000" y="0"/>
            <a:ext cx="6096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pic>
        <p:nvPicPr>
          <p:cNvPr id="4" name="Picture 3">
            <a:extLst>
              <a:ext uri="{FF2B5EF4-FFF2-40B4-BE49-F238E27FC236}">
                <a16:creationId xmlns:a16="http://schemas.microsoft.com/office/drawing/2014/main" id="{28510761-AD96-80C1-40FB-D0FB254B1EA4}"/>
              </a:ext>
            </a:extLst>
          </p:cNvPr>
          <p:cNvPicPr>
            <a:picLocks noChangeAspect="1"/>
          </p:cNvPicPr>
          <p:nvPr/>
        </p:nvPicPr>
        <p:blipFill>
          <a:blip r:embed="rId2"/>
          <a:stretch>
            <a:fillRect/>
          </a:stretch>
        </p:blipFill>
        <p:spPr>
          <a:xfrm>
            <a:off x="6651127" y="1827709"/>
            <a:ext cx="4999885" cy="3199926"/>
          </a:xfrm>
          <a:prstGeom prst="rect">
            <a:avLst/>
          </a:prstGeom>
        </p:spPr>
      </p:pic>
    </p:spTree>
    <p:extLst>
      <p:ext uri="{BB962C8B-B14F-4D97-AF65-F5344CB8AC3E}">
        <p14:creationId xmlns:p14="http://schemas.microsoft.com/office/powerpoint/2010/main" val="20862512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B66C9CD-6BF4-44CA-8078-0BB8190807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EC60F60-3FA0-DCE5-AF20-0A5B406F78D4}"/>
              </a:ext>
            </a:extLst>
          </p:cNvPr>
          <p:cNvSpPr>
            <a:spLocks noGrp="1"/>
          </p:cNvSpPr>
          <p:nvPr>
            <p:ph type="title"/>
          </p:nvPr>
        </p:nvSpPr>
        <p:spPr>
          <a:xfrm>
            <a:off x="989999" y="395288"/>
            <a:ext cx="8306397" cy="1597753"/>
          </a:xfrm>
        </p:spPr>
        <p:txBody>
          <a:bodyPr wrap="square" anchor="b">
            <a:normAutofit/>
          </a:bodyPr>
          <a:lstStyle/>
          <a:p>
            <a:pPr algn="ctr">
              <a:lnSpc>
                <a:spcPct val="90000"/>
              </a:lnSpc>
            </a:pPr>
            <a:r>
              <a:rPr lang="en-US" sz="2700" i="0" u="sng" strike="noStrike" dirty="0">
                <a:solidFill>
                  <a:srgbClr val="C00000"/>
                </a:solidFill>
                <a:effectLst/>
                <a:latin typeface="Century" panose="02040604050505020304" pitchFamily="18" charset="0"/>
              </a:rPr>
              <a:t>Hyperparameter Tuning - AdaBoost Classifier</a:t>
            </a:r>
            <a:br>
              <a:rPr lang="en-US" sz="2700" b="1" i="0" u="none" strike="noStrike" dirty="0">
                <a:effectLst/>
                <a:latin typeface="-apple-system"/>
              </a:rPr>
            </a:br>
            <a:endParaRPr lang="en-US" sz="2700" dirty="0"/>
          </a:p>
        </p:txBody>
      </p:sp>
      <p:sp>
        <p:nvSpPr>
          <p:cNvPr id="3" name="Content Placeholder 2">
            <a:extLst>
              <a:ext uri="{FF2B5EF4-FFF2-40B4-BE49-F238E27FC236}">
                <a16:creationId xmlns:a16="http://schemas.microsoft.com/office/drawing/2014/main" id="{8530AEC6-21C3-145B-41C9-2BF79958AAFA}"/>
              </a:ext>
            </a:extLst>
          </p:cNvPr>
          <p:cNvSpPr>
            <a:spLocks noGrp="1"/>
          </p:cNvSpPr>
          <p:nvPr>
            <p:ph idx="1"/>
          </p:nvPr>
        </p:nvSpPr>
        <p:spPr>
          <a:xfrm>
            <a:off x="989999" y="2361601"/>
            <a:ext cx="4835063" cy="3416900"/>
          </a:xfrm>
        </p:spPr>
        <p:txBody>
          <a:bodyPr>
            <a:normAutofit fontScale="92500" lnSpcReduction="20000"/>
          </a:bodyPr>
          <a:lstStyle/>
          <a:p>
            <a:pPr marL="0" indent="0">
              <a:lnSpc>
                <a:spcPct val="140000"/>
              </a:lnSpc>
              <a:buNone/>
            </a:pPr>
            <a:r>
              <a:rPr lang="en-US" sz="1700" b="0" i="0" u="none" strike="noStrike" dirty="0">
                <a:effectLst/>
                <a:latin typeface="Century" panose="02040604050505020304" pitchFamily="18" charset="0"/>
              </a:rPr>
              <a:t>T</a:t>
            </a:r>
            <a:r>
              <a:rPr lang="en-US" sz="1700" b="0" i="0" u="none" strike="noStrike" dirty="0">
                <a:solidFill>
                  <a:srgbClr val="C00000">
                    <a:alpha val="60000"/>
                  </a:srgbClr>
                </a:solidFill>
                <a:effectLst/>
                <a:latin typeface="Century" panose="02040604050505020304" pitchFamily="18" charset="0"/>
              </a:rPr>
              <a:t>he Hyper-tuned AdaBoost model is :</a:t>
            </a:r>
          </a:p>
          <a:p>
            <a:pPr>
              <a:lnSpc>
                <a:spcPct val="140000"/>
              </a:lnSpc>
              <a:buFont typeface="Wingdings" pitchFamily="2" charset="2"/>
              <a:buChar char="v"/>
            </a:pPr>
            <a:r>
              <a:rPr lang="en-US" sz="1700" b="0" i="0" u="none" strike="noStrike" dirty="0">
                <a:solidFill>
                  <a:srgbClr val="C00000">
                    <a:alpha val="60000"/>
                  </a:srgbClr>
                </a:solidFill>
                <a:effectLst/>
                <a:latin typeface="Century" panose="02040604050505020304" pitchFamily="18" charset="0"/>
              </a:rPr>
              <a:t>performing well between both the training and test data sets.</a:t>
            </a:r>
          </a:p>
          <a:p>
            <a:pPr>
              <a:lnSpc>
                <a:spcPct val="140000"/>
              </a:lnSpc>
              <a:buFont typeface="Wingdings" pitchFamily="2" charset="2"/>
              <a:buChar char="v"/>
            </a:pPr>
            <a:r>
              <a:rPr lang="en-US" sz="1700" b="0" i="0" u="none" strike="noStrike" dirty="0">
                <a:solidFill>
                  <a:srgbClr val="C00000">
                    <a:alpha val="60000"/>
                  </a:srgbClr>
                </a:solidFill>
                <a:effectLst/>
                <a:latin typeface="Century" panose="02040604050505020304" pitchFamily="18" charset="0"/>
              </a:rPr>
              <a:t>not showing any signs of overfitting.</a:t>
            </a:r>
          </a:p>
          <a:p>
            <a:pPr>
              <a:lnSpc>
                <a:spcPct val="140000"/>
              </a:lnSpc>
              <a:buFont typeface="Wingdings" pitchFamily="2" charset="2"/>
              <a:buChar char="v"/>
            </a:pPr>
            <a:r>
              <a:rPr lang="en-US" sz="1700" b="0" i="0" u="none" strike="noStrike" dirty="0">
                <a:solidFill>
                  <a:srgbClr val="C00000">
                    <a:alpha val="60000"/>
                  </a:srgbClr>
                </a:solidFill>
                <a:effectLst/>
                <a:latin typeface="Century" panose="02040604050505020304" pitchFamily="18" charset="0"/>
              </a:rPr>
              <a:t>has an approximate F1 score of .82 </a:t>
            </a:r>
          </a:p>
          <a:p>
            <a:pPr>
              <a:lnSpc>
                <a:spcPct val="140000"/>
              </a:lnSpc>
              <a:buFont typeface="Wingdings" pitchFamily="2" charset="2"/>
              <a:buChar char="v"/>
            </a:pPr>
            <a:r>
              <a:rPr lang="en-US" sz="1900" b="1" i="0" u="none" strike="noStrike" dirty="0">
                <a:effectLst/>
                <a:latin typeface="Century" panose="02040604050505020304" pitchFamily="18" charset="0"/>
              </a:rPr>
              <a:t>Yes, hyperparameters many times will improve the model performance. Additionally, hyperparameter tuning helps prevent overfitting issues.</a:t>
            </a:r>
            <a:endParaRPr lang="en-US" sz="1900" dirty="0">
              <a:latin typeface="Century" panose="02040604050505020304" pitchFamily="18" charset="0"/>
            </a:endParaRPr>
          </a:p>
        </p:txBody>
      </p:sp>
      <p:cxnSp>
        <p:nvCxnSpPr>
          <p:cNvPr id="11" name="Straight Connector 10">
            <a:extLst>
              <a:ext uri="{FF2B5EF4-FFF2-40B4-BE49-F238E27FC236}">
                <a16:creationId xmlns:a16="http://schemas.microsoft.com/office/drawing/2014/main" id="{CC9CF63D-A2A3-4ECF-BC53-4B0D56918FB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96000" y="540033"/>
            <a:ext cx="0" cy="577800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D8E2BE93-3C15-D4A7-75C0-98906AC7EC8F}"/>
              </a:ext>
            </a:extLst>
          </p:cNvPr>
          <p:cNvPicPr>
            <a:picLocks noChangeAspect="1"/>
          </p:cNvPicPr>
          <p:nvPr/>
        </p:nvPicPr>
        <p:blipFill>
          <a:blip r:embed="rId2"/>
          <a:stretch>
            <a:fillRect/>
          </a:stretch>
        </p:blipFill>
        <p:spPr>
          <a:xfrm>
            <a:off x="6644058" y="1988849"/>
            <a:ext cx="4999885" cy="4162404"/>
          </a:xfrm>
          <a:prstGeom prst="rect">
            <a:avLst/>
          </a:prstGeom>
        </p:spPr>
      </p:pic>
    </p:spTree>
    <p:extLst>
      <p:ext uri="{BB962C8B-B14F-4D97-AF65-F5344CB8AC3E}">
        <p14:creationId xmlns:p14="http://schemas.microsoft.com/office/powerpoint/2010/main" val="32556731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DB66C9CD-6BF4-44CA-8078-0BB8190807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18634BA-3C7C-C5B3-7E40-668E154EB41C}"/>
              </a:ext>
            </a:extLst>
          </p:cNvPr>
          <p:cNvSpPr>
            <a:spLocks noGrp="1"/>
          </p:cNvSpPr>
          <p:nvPr>
            <p:ph type="title"/>
          </p:nvPr>
        </p:nvSpPr>
        <p:spPr>
          <a:xfrm>
            <a:off x="990000" y="395288"/>
            <a:ext cx="4078800" cy="1597754"/>
          </a:xfrm>
        </p:spPr>
        <p:txBody>
          <a:bodyPr wrap="square" anchor="b">
            <a:normAutofit/>
          </a:bodyPr>
          <a:lstStyle/>
          <a:p>
            <a:pPr algn="ctr"/>
            <a:r>
              <a:rPr lang="en-US" b="1" u="sng" dirty="0" err="1">
                <a:solidFill>
                  <a:srgbClr val="C00000"/>
                </a:solidFill>
              </a:rPr>
              <a:t>XGBoost</a:t>
            </a:r>
            <a:r>
              <a:rPr lang="en-US" b="1" u="sng" dirty="0">
                <a:solidFill>
                  <a:srgbClr val="C00000"/>
                </a:solidFill>
              </a:rPr>
              <a:t> Classifier</a:t>
            </a:r>
          </a:p>
        </p:txBody>
      </p:sp>
      <p:sp>
        <p:nvSpPr>
          <p:cNvPr id="9" name="Content Placeholder 8">
            <a:extLst>
              <a:ext uri="{FF2B5EF4-FFF2-40B4-BE49-F238E27FC236}">
                <a16:creationId xmlns:a16="http://schemas.microsoft.com/office/drawing/2014/main" id="{74DF6EE6-83F0-B3E7-AF65-DB84321E1608}"/>
              </a:ext>
            </a:extLst>
          </p:cNvPr>
          <p:cNvSpPr>
            <a:spLocks noGrp="1"/>
          </p:cNvSpPr>
          <p:nvPr>
            <p:ph idx="1"/>
          </p:nvPr>
        </p:nvSpPr>
        <p:spPr>
          <a:xfrm>
            <a:off x="990000" y="2361601"/>
            <a:ext cx="4078800" cy="3416900"/>
          </a:xfrm>
        </p:spPr>
        <p:txBody>
          <a:bodyPr>
            <a:normAutofit fontScale="85000" lnSpcReduction="10000"/>
          </a:bodyPr>
          <a:lstStyle/>
          <a:p>
            <a:pPr algn="l">
              <a:buFont typeface="Arial" panose="020B0604020202020204" pitchFamily="34" charset="0"/>
              <a:buChar char="•"/>
            </a:pPr>
            <a:r>
              <a:rPr lang="en-US" b="0" i="0" u="none" strike="noStrike" dirty="0" err="1">
                <a:solidFill>
                  <a:srgbClr val="C00000">
                    <a:alpha val="60000"/>
                  </a:srgbClr>
                </a:solidFill>
                <a:effectLst/>
                <a:latin typeface="Century" panose="02040604050505020304" pitchFamily="18" charset="0"/>
              </a:rPr>
              <a:t>XGBoost</a:t>
            </a:r>
            <a:r>
              <a:rPr lang="en-US" b="0" i="0" u="none" strike="noStrike" dirty="0">
                <a:solidFill>
                  <a:srgbClr val="C00000">
                    <a:alpha val="60000"/>
                  </a:srgbClr>
                </a:solidFill>
                <a:effectLst/>
                <a:latin typeface="Century" panose="02040604050505020304" pitchFamily="18" charset="0"/>
              </a:rPr>
              <a:t> classifier model was selected </a:t>
            </a:r>
            <a:r>
              <a:rPr lang="en-US" b="1" i="0" u="sng" strike="noStrike" dirty="0">
                <a:solidFill>
                  <a:srgbClr val="C00000">
                    <a:alpha val="60000"/>
                  </a:srgbClr>
                </a:solidFill>
                <a:effectLst/>
                <a:latin typeface="Century" panose="02040604050505020304" pitchFamily="18" charset="0"/>
              </a:rPr>
              <a:t>AS THE MOST FAVOURABLE </a:t>
            </a:r>
            <a:r>
              <a:rPr lang="en-US" b="0" i="0" u="none" strike="noStrike" dirty="0">
                <a:solidFill>
                  <a:srgbClr val="C00000">
                    <a:alpha val="60000"/>
                  </a:srgbClr>
                </a:solidFill>
                <a:effectLst/>
                <a:latin typeface="Century" panose="02040604050505020304" pitchFamily="18" charset="0"/>
              </a:rPr>
              <a:t>since it had consistent performance metrics for both training and test data.</a:t>
            </a:r>
          </a:p>
          <a:p>
            <a:pPr algn="l">
              <a:buFont typeface="Arial" panose="020B0604020202020204" pitchFamily="34" charset="0"/>
              <a:buChar char="•"/>
            </a:pPr>
            <a:r>
              <a:rPr lang="en-US" dirty="0">
                <a:solidFill>
                  <a:srgbClr val="C00000">
                    <a:alpha val="60000"/>
                  </a:srgbClr>
                </a:solidFill>
                <a:latin typeface="Century" panose="02040604050505020304" pitchFamily="18" charset="0"/>
              </a:rPr>
              <a:t>The </a:t>
            </a:r>
            <a:r>
              <a:rPr lang="en-US" b="0" i="0" u="none" strike="noStrike" dirty="0">
                <a:solidFill>
                  <a:srgbClr val="C00000">
                    <a:alpha val="60000"/>
                  </a:srgbClr>
                </a:solidFill>
                <a:effectLst/>
                <a:latin typeface="Century" panose="02040604050505020304" pitchFamily="18" charset="0"/>
              </a:rPr>
              <a:t>tuned </a:t>
            </a:r>
            <a:r>
              <a:rPr lang="en-US" b="0" i="0" u="none" strike="noStrike" dirty="0" err="1">
                <a:solidFill>
                  <a:srgbClr val="C00000">
                    <a:alpha val="60000"/>
                  </a:srgbClr>
                </a:solidFill>
                <a:effectLst/>
                <a:latin typeface="Century" panose="02040604050505020304" pitchFamily="18" charset="0"/>
              </a:rPr>
              <a:t>XGBoost</a:t>
            </a:r>
            <a:r>
              <a:rPr lang="en-US" b="0" i="0" u="none" strike="noStrike" dirty="0">
                <a:solidFill>
                  <a:srgbClr val="C00000">
                    <a:alpha val="60000"/>
                  </a:srgbClr>
                </a:solidFill>
                <a:effectLst/>
                <a:latin typeface="Century" panose="02040604050505020304" pitchFamily="18" charset="0"/>
              </a:rPr>
              <a:t> classifier model had one of the highest F1 scores of approximately 0.832.</a:t>
            </a:r>
          </a:p>
          <a:p>
            <a:endParaRPr lang="en-US" dirty="0"/>
          </a:p>
        </p:txBody>
      </p:sp>
      <p:pic>
        <p:nvPicPr>
          <p:cNvPr id="5" name="Picture 4" descr="A chart with numbers and a graph&#10;&#10;Description automatically generated with medium confidence">
            <a:extLst>
              <a:ext uri="{FF2B5EF4-FFF2-40B4-BE49-F238E27FC236}">
                <a16:creationId xmlns:a16="http://schemas.microsoft.com/office/drawing/2014/main" id="{9EDC013A-D873-0A16-E98B-02CEB1E0AFFE}"/>
              </a:ext>
            </a:extLst>
          </p:cNvPr>
          <p:cNvPicPr>
            <a:picLocks noChangeAspect="1"/>
          </p:cNvPicPr>
          <p:nvPr/>
        </p:nvPicPr>
        <p:blipFill>
          <a:blip r:embed="rId2"/>
          <a:srcRect t="923" b="19415"/>
          <a:stretch/>
        </p:blipFill>
        <p:spPr>
          <a:xfrm>
            <a:off x="6096000" y="540033"/>
            <a:ext cx="5553600" cy="2754000"/>
          </a:xfrm>
          <a:prstGeom prst="rect">
            <a:avLst/>
          </a:prstGeom>
        </p:spPr>
      </p:pic>
      <p:pic>
        <p:nvPicPr>
          <p:cNvPr id="4" name="Content Placeholder 3" descr="A blue and black text on a blue background&#10;&#10;Description automatically generated">
            <a:extLst>
              <a:ext uri="{FF2B5EF4-FFF2-40B4-BE49-F238E27FC236}">
                <a16:creationId xmlns:a16="http://schemas.microsoft.com/office/drawing/2014/main" id="{AEE5E2EC-2B26-5B46-3FD0-05E83DBC5768}"/>
              </a:ext>
            </a:extLst>
          </p:cNvPr>
          <p:cNvPicPr>
            <a:picLocks noChangeAspect="1"/>
          </p:cNvPicPr>
          <p:nvPr/>
        </p:nvPicPr>
        <p:blipFill>
          <a:blip r:embed="rId3"/>
          <a:srcRect r="48074" b="1"/>
          <a:stretch/>
        </p:blipFill>
        <p:spPr>
          <a:xfrm>
            <a:off x="5648400" y="3563968"/>
            <a:ext cx="6001200" cy="2754000"/>
          </a:xfrm>
          <a:prstGeom prst="rect">
            <a:avLst/>
          </a:prstGeom>
        </p:spPr>
      </p:pic>
    </p:spTree>
    <p:extLst>
      <p:ext uri="{BB962C8B-B14F-4D97-AF65-F5344CB8AC3E}">
        <p14:creationId xmlns:p14="http://schemas.microsoft.com/office/powerpoint/2010/main" val="21149597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10F29F-78F4-1EB9-6BE1-DE67314CF2F6}"/>
              </a:ext>
            </a:extLst>
          </p:cNvPr>
          <p:cNvSpPr>
            <a:spLocks noGrp="1"/>
          </p:cNvSpPr>
          <p:nvPr>
            <p:ph type="title"/>
          </p:nvPr>
        </p:nvSpPr>
        <p:spPr/>
        <p:txBody>
          <a:bodyPr/>
          <a:lstStyle/>
          <a:p>
            <a:r>
              <a:rPr lang="en-US" u="sng" dirty="0">
                <a:solidFill>
                  <a:srgbClr val="C00000"/>
                </a:solidFill>
              </a:rPr>
              <a:t>Final Recommendation</a:t>
            </a:r>
          </a:p>
        </p:txBody>
      </p:sp>
      <p:sp>
        <p:nvSpPr>
          <p:cNvPr id="3" name="Content Placeholder 2">
            <a:extLst>
              <a:ext uri="{FF2B5EF4-FFF2-40B4-BE49-F238E27FC236}">
                <a16:creationId xmlns:a16="http://schemas.microsoft.com/office/drawing/2014/main" id="{4D89CF02-FF18-0F2E-6E29-EA0905FB493D}"/>
              </a:ext>
            </a:extLst>
          </p:cNvPr>
          <p:cNvSpPr>
            <a:spLocks noGrp="1"/>
          </p:cNvSpPr>
          <p:nvPr>
            <p:ph idx="1"/>
          </p:nvPr>
        </p:nvSpPr>
        <p:spPr/>
        <p:txBody>
          <a:bodyPr/>
          <a:lstStyle/>
          <a:p>
            <a:pPr>
              <a:buFont typeface="Wingdings" pitchFamily="2" charset="2"/>
              <a:buChar char="v"/>
            </a:pPr>
            <a:r>
              <a:rPr lang="en-US" b="0" i="0" u="none" strike="noStrike" dirty="0">
                <a:solidFill>
                  <a:srgbClr val="C00000">
                    <a:alpha val="60000"/>
                  </a:srgbClr>
                </a:solidFill>
                <a:effectLst/>
                <a:latin typeface="Century" panose="02040604050505020304" pitchFamily="18" charset="0"/>
              </a:rPr>
              <a:t>Based on </a:t>
            </a:r>
            <a:r>
              <a:rPr lang="en-US" dirty="0">
                <a:solidFill>
                  <a:srgbClr val="C00000">
                    <a:alpha val="60000"/>
                  </a:srgbClr>
                </a:solidFill>
                <a:latin typeface="Century" panose="02040604050505020304" pitchFamily="18" charset="0"/>
              </a:rPr>
              <a:t>Bivariate analysis it proves that </a:t>
            </a:r>
            <a:r>
              <a:rPr lang="en-US" b="0" i="0" u="none" strike="noStrike" dirty="0">
                <a:solidFill>
                  <a:srgbClr val="C00000">
                    <a:alpha val="60000"/>
                  </a:srgbClr>
                </a:solidFill>
                <a:effectLst/>
                <a:latin typeface="Century" panose="02040604050505020304" pitchFamily="18" charset="0"/>
              </a:rPr>
              <a:t> additional information such as the applicant skill sets or profession is key to make impact on visa. This additional information will helps in deeper analysis and understanding on why the normalized yearly wages of employees are so high. So, please collect accurate and more analytical data on </a:t>
            </a:r>
            <a:r>
              <a:rPr lang="en-US" b="0" i="0" u="none" strike="noStrike">
                <a:solidFill>
                  <a:srgbClr val="C00000">
                    <a:alpha val="60000"/>
                  </a:srgbClr>
                </a:solidFill>
                <a:effectLst/>
                <a:latin typeface="Century" panose="02040604050505020304" pitchFamily="18" charset="0"/>
              </a:rPr>
              <a:t>these areas.</a:t>
            </a:r>
            <a:endParaRPr lang="en-US" dirty="0">
              <a:solidFill>
                <a:srgbClr val="C00000">
                  <a:alpha val="60000"/>
                </a:srgbClr>
              </a:solidFill>
              <a:latin typeface="Century" panose="02040604050505020304" pitchFamily="18" charset="0"/>
            </a:endParaRPr>
          </a:p>
        </p:txBody>
      </p:sp>
    </p:spTree>
    <p:extLst>
      <p:ext uri="{BB962C8B-B14F-4D97-AF65-F5344CB8AC3E}">
        <p14:creationId xmlns:p14="http://schemas.microsoft.com/office/powerpoint/2010/main" val="1327560056"/>
      </p:ext>
    </p:extLst>
  </p:cSld>
  <p:clrMapOvr>
    <a:masterClrMapping/>
  </p:clrMapOvr>
</p:sld>
</file>

<file path=ppt/theme/theme1.xml><?xml version="1.0" encoding="utf-8"?>
<a:theme xmlns:a="http://schemas.openxmlformats.org/drawingml/2006/main" name="FrostyVTI">
  <a:themeElements>
    <a:clrScheme name="AnalogousFromDarkSeedLeftStep">
      <a:dk1>
        <a:srgbClr val="000000"/>
      </a:dk1>
      <a:lt1>
        <a:srgbClr val="FFFFFF"/>
      </a:lt1>
      <a:dk2>
        <a:srgbClr val="301B2D"/>
      </a:dk2>
      <a:lt2>
        <a:srgbClr val="F0F3F2"/>
      </a:lt2>
      <a:accent1>
        <a:srgbClr val="E72983"/>
      </a:accent1>
      <a:accent2>
        <a:srgbClr val="D517C0"/>
      </a:accent2>
      <a:accent3>
        <a:srgbClr val="AD29E7"/>
      </a:accent3>
      <a:accent4>
        <a:srgbClr val="5725D7"/>
      </a:accent4>
      <a:accent5>
        <a:srgbClr val="2944E7"/>
      </a:accent5>
      <a:accent6>
        <a:srgbClr val="1781D5"/>
      </a:accent6>
      <a:hlink>
        <a:srgbClr val="433FBF"/>
      </a:hlink>
      <a:folHlink>
        <a:srgbClr val="7F7F7F"/>
      </a:folHlink>
    </a:clrScheme>
    <a:fontScheme name="Frosted Leaf">
      <a:majorFont>
        <a:latin typeface="Goudy Old Style"/>
        <a:ea typeface=""/>
        <a:cs typeface=""/>
      </a:majorFont>
      <a:minorFont>
        <a:latin typeface="Avenir Next LT Pro"/>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rostyVTI" id="{DD283BC3-E0B6-4E4B-91CF-F0F54D51BB21}" vid="{3EE220F7-F497-4893-BE1F-7BB1D607421B}"/>
    </a:ext>
  </a:extLst>
</a:theme>
</file>

<file path=docProps/app.xml><?xml version="1.0" encoding="utf-8"?>
<Properties xmlns="http://schemas.openxmlformats.org/officeDocument/2006/extended-properties" xmlns:vt="http://schemas.openxmlformats.org/officeDocument/2006/docPropsVTypes">
  <TotalTime>30432</TotalTime>
  <Words>649</Words>
  <Application>Microsoft Macintosh PowerPoint</Application>
  <PresentationFormat>Widescreen</PresentationFormat>
  <Paragraphs>60</Paragraphs>
  <Slides>17</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-apple-system</vt:lpstr>
      <vt:lpstr>Arial</vt:lpstr>
      <vt:lpstr>Avenir Next LT Pro</vt:lpstr>
      <vt:lpstr>Century</vt:lpstr>
      <vt:lpstr>Goudy Old Style</vt:lpstr>
      <vt:lpstr>system-ui</vt:lpstr>
      <vt:lpstr>Wingdings</vt:lpstr>
      <vt:lpstr>FrostyVTI</vt:lpstr>
      <vt:lpstr>Case Study 5  Ensemble Techniques- Easy Visa. </vt:lpstr>
      <vt:lpstr>Objectives:</vt:lpstr>
      <vt:lpstr>EDA (Exploratory Data Analysis)</vt:lpstr>
      <vt:lpstr>EDA (Exploratory Data Analysis)</vt:lpstr>
      <vt:lpstr>EDA (Exploratory Data Analysis)</vt:lpstr>
      <vt:lpstr>EDA (Exploratory Data Analysis)</vt:lpstr>
      <vt:lpstr>EDA (Exploratory Data Analysis)</vt:lpstr>
      <vt:lpstr>EDA (Exploratory Data Analysis)</vt:lpstr>
      <vt:lpstr>EDA (Exploratory Data Analysis) </vt:lpstr>
      <vt:lpstr>EDA (Exploratory Data Analysis) </vt:lpstr>
      <vt:lpstr>Model creation</vt:lpstr>
      <vt:lpstr>Check Model performance on training set and test set</vt:lpstr>
      <vt:lpstr>Bagging classifier use: Train and Test Model</vt:lpstr>
      <vt:lpstr>RainForest Model</vt:lpstr>
      <vt:lpstr>Hyperparameter Tuning - AdaBoost Classifier </vt:lpstr>
      <vt:lpstr>XGBoost Classifier</vt:lpstr>
      <vt:lpstr>Final Recommendation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Nafis Zafar</dc:creator>
  <cp:lastModifiedBy>Nafis Zafar</cp:lastModifiedBy>
  <cp:revision>6</cp:revision>
  <dcterms:created xsi:type="dcterms:W3CDTF">2024-08-31T01:07:36Z</dcterms:created>
  <dcterms:modified xsi:type="dcterms:W3CDTF">2024-09-21T04:19:38Z</dcterms:modified>
</cp:coreProperties>
</file>