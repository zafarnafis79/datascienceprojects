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94"/>
  </p:normalViewPr>
  <p:slideViewPr>
    <p:cSldViewPr snapToGrid="0">
      <p:cViewPr varScale="1">
        <p:scale>
          <a:sx n="76" d="100"/>
          <a:sy n="76" d="100"/>
        </p:scale>
        <p:origin x="2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AB68D9-DE16-4A5D-BFDC-9A708FC9592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BF11CB-566D-4E6A-9CAE-431E418C3602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2000" dirty="0">
              <a:latin typeface="Aptos Display" panose="020B0004020202020204" pitchFamily="34" charset="0"/>
            </a:rPr>
            <a:t>EDA (Exploratory Data Analysis</a:t>
          </a:r>
        </a:p>
      </dgm:t>
    </dgm:pt>
    <dgm:pt modelId="{21CD8F0F-D056-4E13-8EF3-7D0355FFE5B4}" type="parTrans" cxnId="{024908B7-D3D5-4F8F-BC26-0191DECC8C3C}">
      <dgm:prSet/>
      <dgm:spPr/>
      <dgm:t>
        <a:bodyPr/>
        <a:lstStyle/>
        <a:p>
          <a:endParaRPr lang="en-US"/>
        </a:p>
      </dgm:t>
    </dgm:pt>
    <dgm:pt modelId="{3C2744A3-709D-4AC8-8067-25C9CF18A06E}" type="sibTrans" cxnId="{024908B7-D3D5-4F8F-BC26-0191DECC8C3C}">
      <dgm:prSet/>
      <dgm:spPr/>
      <dgm:t>
        <a:bodyPr/>
        <a:lstStyle/>
        <a:p>
          <a:endParaRPr lang="en-US"/>
        </a:p>
      </dgm:t>
    </dgm:pt>
    <dgm:pt modelId="{D2C6DA9F-4A34-4BFD-A35D-61E74ACB0605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2000" b="1" i="0" u="none" dirty="0">
              <a:latin typeface="Aptos Display" panose="020B0004020202020204" pitchFamily="34" charset="0"/>
            </a:rPr>
            <a:t>Data pre-processing: Missing value treatment, prevent data leakage</a:t>
          </a:r>
          <a:endParaRPr lang="en-US" sz="2000" dirty="0">
            <a:latin typeface="Aptos Display" panose="020B0004020202020204" pitchFamily="34" charset="0"/>
          </a:endParaRPr>
        </a:p>
      </dgm:t>
    </dgm:pt>
    <dgm:pt modelId="{FEF19DB2-8C36-4D0F-B66D-68E7494925DA}" type="parTrans" cxnId="{421C0BB7-4D19-4ADF-90A9-E2EA85D29C1B}">
      <dgm:prSet/>
      <dgm:spPr/>
      <dgm:t>
        <a:bodyPr/>
        <a:lstStyle/>
        <a:p>
          <a:endParaRPr lang="en-US"/>
        </a:p>
      </dgm:t>
    </dgm:pt>
    <dgm:pt modelId="{61E3A2EB-123C-40B4-9C44-2F9497D14296}" type="sibTrans" cxnId="{421C0BB7-4D19-4ADF-90A9-E2EA85D29C1B}">
      <dgm:prSet/>
      <dgm:spPr/>
      <dgm:t>
        <a:bodyPr/>
        <a:lstStyle/>
        <a:p>
          <a:endParaRPr lang="en-US"/>
        </a:p>
      </dgm:t>
    </dgm:pt>
    <dgm:pt modelId="{F449A7B0-300B-44D6-93E8-8D3D71A43375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2000" b="0" i="0" u="none" dirty="0">
              <a:latin typeface="Aptos Display" panose="020B0004020202020204" pitchFamily="34" charset="0"/>
            </a:rPr>
            <a:t>Model Building - Build at least 6 classification models (Using logistic regression, decision trees, random forest, bagging classifier and boosting methods)</a:t>
          </a:r>
          <a:endParaRPr lang="en-US" sz="2000" b="0" i="0" dirty="0">
            <a:latin typeface="Aptos Display" panose="020B0004020202020204" pitchFamily="34" charset="0"/>
          </a:endParaRPr>
        </a:p>
      </dgm:t>
    </dgm:pt>
    <dgm:pt modelId="{047BF113-B1B8-4D00-B80E-66BFF49044F7}" type="parTrans" cxnId="{0715AAEF-47ED-4D21-A433-DDBA705F733F}">
      <dgm:prSet/>
      <dgm:spPr/>
      <dgm:t>
        <a:bodyPr/>
        <a:lstStyle/>
        <a:p>
          <a:endParaRPr lang="en-US"/>
        </a:p>
      </dgm:t>
    </dgm:pt>
    <dgm:pt modelId="{043DD552-0112-4156-8A45-529E51BCE923}" type="sibTrans" cxnId="{0715AAEF-47ED-4D21-A433-DDBA705F733F}">
      <dgm:prSet/>
      <dgm:spPr/>
      <dgm:t>
        <a:bodyPr/>
        <a:lstStyle/>
        <a:p>
          <a:endParaRPr lang="en-US"/>
        </a:p>
      </dgm:t>
    </dgm:pt>
    <dgm:pt modelId="{E1154E06-1E69-4941-B461-B7D24198A8DC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sz="2000" dirty="0">
              <a:latin typeface="Aptos Display" panose="020B0004020202020204" pitchFamily="34" charset="0"/>
            </a:rPr>
            <a:t>Model Building with Oversampled data and </a:t>
          </a:r>
          <a:r>
            <a:rPr lang="en-US" sz="2000" dirty="0" err="1">
              <a:latin typeface="Aptos Display" panose="020B0004020202020204" pitchFamily="34" charset="0"/>
            </a:rPr>
            <a:t>Undersampled</a:t>
          </a:r>
          <a:r>
            <a:rPr lang="en-US" sz="2000" dirty="0">
              <a:latin typeface="Aptos Display" panose="020B0004020202020204" pitchFamily="34" charset="0"/>
            </a:rPr>
            <a:t> data</a:t>
          </a:r>
        </a:p>
      </dgm:t>
    </dgm:pt>
    <dgm:pt modelId="{052B5572-9F65-485E-86AC-AD51BCA2A735}" type="parTrans" cxnId="{A2DBE1CC-189A-4955-98D8-F0B139B372F7}">
      <dgm:prSet/>
      <dgm:spPr/>
      <dgm:t>
        <a:bodyPr/>
        <a:lstStyle/>
        <a:p>
          <a:endParaRPr lang="en-US"/>
        </a:p>
      </dgm:t>
    </dgm:pt>
    <dgm:pt modelId="{AD13C4D6-CEB9-4ABF-8B9F-76387AB6ADB9}" type="sibTrans" cxnId="{A2DBE1CC-189A-4955-98D8-F0B139B372F7}">
      <dgm:prSet/>
      <dgm:spPr/>
      <dgm:t>
        <a:bodyPr/>
        <a:lstStyle/>
        <a:p>
          <a:endParaRPr lang="en-US"/>
        </a:p>
      </dgm:t>
    </dgm:pt>
    <dgm:pt modelId="{751948DD-256F-4338-9C61-2CAFE114A95C}">
      <dgm:prSet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sz="2000" dirty="0">
              <a:latin typeface="Aptos Display" panose="020B0004020202020204" pitchFamily="34" charset="0"/>
            </a:rPr>
            <a:t>Hyperparameter Tuning, productionize model</a:t>
          </a:r>
        </a:p>
      </dgm:t>
    </dgm:pt>
    <dgm:pt modelId="{A11F6B15-341A-4F3A-ABA2-7ACB9953FC55}" type="parTrans" cxnId="{9F671E16-4258-48CC-AB01-0FBDC5FD6371}">
      <dgm:prSet/>
      <dgm:spPr/>
      <dgm:t>
        <a:bodyPr/>
        <a:lstStyle/>
        <a:p>
          <a:endParaRPr lang="en-US"/>
        </a:p>
      </dgm:t>
    </dgm:pt>
    <dgm:pt modelId="{FF2FD32A-F090-4491-8695-085B97344B14}" type="sibTrans" cxnId="{9F671E16-4258-48CC-AB01-0FBDC5FD6371}">
      <dgm:prSet/>
      <dgm:spPr/>
      <dgm:t>
        <a:bodyPr/>
        <a:lstStyle/>
        <a:p>
          <a:endParaRPr lang="en-US"/>
        </a:p>
      </dgm:t>
    </dgm:pt>
    <dgm:pt modelId="{8FE570F4-74A1-4E4B-A9C2-FEEF9951194B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2000" dirty="0">
              <a:latin typeface="Aptos Display" panose="020B0004020202020204" pitchFamily="34" charset="0"/>
            </a:rPr>
            <a:t>Business Insights and Recommendation</a:t>
          </a:r>
        </a:p>
        <a:p>
          <a:endParaRPr lang="en-US" sz="500" dirty="0"/>
        </a:p>
      </dgm:t>
    </dgm:pt>
    <dgm:pt modelId="{A54CC376-E0A5-B445-9C61-813839E4508B}" type="parTrans" cxnId="{9C52B706-D647-8D4B-B2C6-F20CD066A620}">
      <dgm:prSet/>
      <dgm:spPr/>
      <dgm:t>
        <a:bodyPr/>
        <a:lstStyle/>
        <a:p>
          <a:endParaRPr lang="en-US"/>
        </a:p>
      </dgm:t>
    </dgm:pt>
    <dgm:pt modelId="{812E3EAC-38AF-674A-9C1E-227025F3B65A}" type="sibTrans" cxnId="{9C52B706-D647-8D4B-B2C6-F20CD066A620}">
      <dgm:prSet/>
      <dgm:spPr/>
      <dgm:t>
        <a:bodyPr/>
        <a:lstStyle/>
        <a:p>
          <a:endParaRPr lang="en-US"/>
        </a:p>
      </dgm:t>
    </dgm:pt>
    <dgm:pt modelId="{5176AA31-0363-A44D-9C2B-B022F36C4707}" type="pres">
      <dgm:prSet presAssocID="{31AB68D9-DE16-4A5D-BFDC-9A708FC9592B}" presName="linear" presStyleCnt="0">
        <dgm:presLayoutVars>
          <dgm:animLvl val="lvl"/>
          <dgm:resizeHandles val="exact"/>
        </dgm:presLayoutVars>
      </dgm:prSet>
      <dgm:spPr/>
    </dgm:pt>
    <dgm:pt modelId="{122B15B9-532C-0F4E-BA89-81D0295735B3}" type="pres">
      <dgm:prSet presAssocID="{3EBF11CB-566D-4E6A-9CAE-431E418C3602}" presName="parentText" presStyleLbl="node1" presStyleIdx="0" presStyleCnt="6" custLinFactY="-45016" custLinFactNeighborX="-67" custLinFactNeighborY="-100000">
        <dgm:presLayoutVars>
          <dgm:chMax val="0"/>
          <dgm:bulletEnabled val="1"/>
        </dgm:presLayoutVars>
      </dgm:prSet>
      <dgm:spPr/>
    </dgm:pt>
    <dgm:pt modelId="{7707E37E-1BEC-404F-AB2A-AAD57C21C3F9}" type="pres">
      <dgm:prSet presAssocID="{3C2744A3-709D-4AC8-8067-25C9CF18A06E}" presName="spacer" presStyleCnt="0"/>
      <dgm:spPr/>
    </dgm:pt>
    <dgm:pt modelId="{7E75EACB-648D-664D-8A42-478729C92096}" type="pres">
      <dgm:prSet presAssocID="{D2C6DA9F-4A34-4BFD-A35D-61E74ACB0605}" presName="parentText" presStyleLbl="node1" presStyleIdx="1" presStyleCnt="6" custLinFactY="-32489" custLinFactNeighborX="-8246" custLinFactNeighborY="-100000">
        <dgm:presLayoutVars>
          <dgm:chMax val="0"/>
          <dgm:bulletEnabled val="1"/>
        </dgm:presLayoutVars>
      </dgm:prSet>
      <dgm:spPr/>
    </dgm:pt>
    <dgm:pt modelId="{02C7CF1F-8A42-F843-AE9C-32B5BCB52A6C}" type="pres">
      <dgm:prSet presAssocID="{61E3A2EB-123C-40B4-9C44-2F9497D14296}" presName="spacer" presStyleCnt="0"/>
      <dgm:spPr/>
    </dgm:pt>
    <dgm:pt modelId="{8EFF98D5-1D90-DF49-A6A0-392345020BD2}" type="pres">
      <dgm:prSet presAssocID="{F449A7B0-300B-44D6-93E8-8D3D71A43375}" presName="parentText" presStyleLbl="node1" presStyleIdx="2" presStyleCnt="6" custLinFactY="-31018" custLinFactNeighborX="-67" custLinFactNeighborY="-100000">
        <dgm:presLayoutVars>
          <dgm:chMax val="0"/>
          <dgm:bulletEnabled val="1"/>
        </dgm:presLayoutVars>
      </dgm:prSet>
      <dgm:spPr/>
    </dgm:pt>
    <dgm:pt modelId="{0E8192B6-314B-F044-B168-6C24CCF24C93}" type="pres">
      <dgm:prSet presAssocID="{043DD552-0112-4156-8A45-529E51BCE923}" presName="spacer" presStyleCnt="0"/>
      <dgm:spPr/>
    </dgm:pt>
    <dgm:pt modelId="{B03B468B-7B41-4C44-8AF8-490F4327F835}" type="pres">
      <dgm:prSet presAssocID="{E1154E06-1E69-4941-B461-B7D24198A8DC}" presName="parentText" presStyleLbl="node1" presStyleIdx="3" presStyleCnt="6" custLinFactY="-22081" custLinFactNeighborX="1350" custLinFactNeighborY="-100000">
        <dgm:presLayoutVars>
          <dgm:chMax val="0"/>
          <dgm:bulletEnabled val="1"/>
        </dgm:presLayoutVars>
      </dgm:prSet>
      <dgm:spPr/>
    </dgm:pt>
    <dgm:pt modelId="{D3D67FB0-172C-774E-9D76-9068AD9D994E}" type="pres">
      <dgm:prSet presAssocID="{AD13C4D6-CEB9-4ABF-8B9F-76387AB6ADB9}" presName="spacer" presStyleCnt="0"/>
      <dgm:spPr/>
    </dgm:pt>
    <dgm:pt modelId="{946DC1E7-C411-D049-8E90-9E1F5D093338}" type="pres">
      <dgm:prSet presAssocID="{751948DD-256F-4338-9C61-2CAFE114A95C}" presName="parentText" presStyleLbl="node1" presStyleIdx="4" presStyleCnt="6" custLinFactY="-17279" custLinFactNeighborX="-67" custLinFactNeighborY="-100000">
        <dgm:presLayoutVars>
          <dgm:chMax val="0"/>
          <dgm:bulletEnabled val="1"/>
        </dgm:presLayoutVars>
      </dgm:prSet>
      <dgm:spPr/>
    </dgm:pt>
    <dgm:pt modelId="{51939CEF-2AC7-CD44-A6B1-3414669D7AE7}" type="pres">
      <dgm:prSet presAssocID="{FF2FD32A-F090-4491-8695-085B97344B14}" presName="spacer" presStyleCnt="0"/>
      <dgm:spPr/>
    </dgm:pt>
    <dgm:pt modelId="{106A94CE-96F3-7243-8B85-12151C5A58D8}" type="pres">
      <dgm:prSet presAssocID="{8FE570F4-74A1-4E4B-A9C2-FEEF9951194B}" presName="parentText" presStyleLbl="node1" presStyleIdx="5" presStyleCnt="6" custLinFactY="-5041" custLinFactNeighborX="-67" custLinFactNeighborY="-100000">
        <dgm:presLayoutVars>
          <dgm:chMax val="0"/>
          <dgm:bulletEnabled val="1"/>
        </dgm:presLayoutVars>
      </dgm:prSet>
      <dgm:spPr/>
    </dgm:pt>
  </dgm:ptLst>
  <dgm:cxnLst>
    <dgm:cxn modelId="{9C52B706-D647-8D4B-B2C6-F20CD066A620}" srcId="{31AB68D9-DE16-4A5D-BFDC-9A708FC9592B}" destId="{8FE570F4-74A1-4E4B-A9C2-FEEF9951194B}" srcOrd="5" destOrd="0" parTransId="{A54CC376-E0A5-B445-9C61-813839E4508B}" sibTransId="{812E3EAC-38AF-674A-9C1E-227025F3B65A}"/>
    <dgm:cxn modelId="{9F671E16-4258-48CC-AB01-0FBDC5FD6371}" srcId="{31AB68D9-DE16-4A5D-BFDC-9A708FC9592B}" destId="{751948DD-256F-4338-9C61-2CAFE114A95C}" srcOrd="4" destOrd="0" parTransId="{A11F6B15-341A-4F3A-ABA2-7ACB9953FC55}" sibTransId="{FF2FD32A-F090-4491-8695-085B97344B14}"/>
    <dgm:cxn modelId="{9AB07326-980D-E74E-A189-AD2B74225736}" type="presOf" srcId="{31AB68D9-DE16-4A5D-BFDC-9A708FC9592B}" destId="{5176AA31-0363-A44D-9C2B-B022F36C4707}" srcOrd="0" destOrd="0" presId="urn:microsoft.com/office/officeart/2005/8/layout/vList2"/>
    <dgm:cxn modelId="{6340FF5F-F3EE-0E46-8C49-5EDC9EA27B0A}" type="presOf" srcId="{D2C6DA9F-4A34-4BFD-A35D-61E74ACB0605}" destId="{7E75EACB-648D-664D-8A42-478729C92096}" srcOrd="0" destOrd="0" presId="urn:microsoft.com/office/officeart/2005/8/layout/vList2"/>
    <dgm:cxn modelId="{B8D14E6C-FB12-1943-815B-7A79EE308FD8}" type="presOf" srcId="{3EBF11CB-566D-4E6A-9CAE-431E418C3602}" destId="{122B15B9-532C-0F4E-BA89-81D0295735B3}" srcOrd="0" destOrd="0" presId="urn:microsoft.com/office/officeart/2005/8/layout/vList2"/>
    <dgm:cxn modelId="{168C6479-E570-B34F-AC3A-D1FFD6DD2417}" type="presOf" srcId="{F449A7B0-300B-44D6-93E8-8D3D71A43375}" destId="{8EFF98D5-1D90-DF49-A6A0-392345020BD2}" srcOrd="0" destOrd="0" presId="urn:microsoft.com/office/officeart/2005/8/layout/vList2"/>
    <dgm:cxn modelId="{95DDE7A6-D582-AE4E-9A83-E0BBBC139DA6}" type="presOf" srcId="{8FE570F4-74A1-4E4B-A9C2-FEEF9951194B}" destId="{106A94CE-96F3-7243-8B85-12151C5A58D8}" srcOrd="0" destOrd="0" presId="urn:microsoft.com/office/officeart/2005/8/layout/vList2"/>
    <dgm:cxn modelId="{024908B7-D3D5-4F8F-BC26-0191DECC8C3C}" srcId="{31AB68D9-DE16-4A5D-BFDC-9A708FC9592B}" destId="{3EBF11CB-566D-4E6A-9CAE-431E418C3602}" srcOrd="0" destOrd="0" parTransId="{21CD8F0F-D056-4E13-8EF3-7D0355FFE5B4}" sibTransId="{3C2744A3-709D-4AC8-8067-25C9CF18A06E}"/>
    <dgm:cxn modelId="{421C0BB7-4D19-4ADF-90A9-E2EA85D29C1B}" srcId="{31AB68D9-DE16-4A5D-BFDC-9A708FC9592B}" destId="{D2C6DA9F-4A34-4BFD-A35D-61E74ACB0605}" srcOrd="1" destOrd="0" parTransId="{FEF19DB2-8C36-4D0F-B66D-68E7494925DA}" sibTransId="{61E3A2EB-123C-40B4-9C44-2F9497D14296}"/>
    <dgm:cxn modelId="{E5F94AC8-C34B-6A46-A65B-8A75EF6C8FDB}" type="presOf" srcId="{E1154E06-1E69-4941-B461-B7D24198A8DC}" destId="{B03B468B-7B41-4C44-8AF8-490F4327F835}" srcOrd="0" destOrd="0" presId="urn:microsoft.com/office/officeart/2005/8/layout/vList2"/>
    <dgm:cxn modelId="{A2DBE1CC-189A-4955-98D8-F0B139B372F7}" srcId="{31AB68D9-DE16-4A5D-BFDC-9A708FC9592B}" destId="{E1154E06-1E69-4941-B461-B7D24198A8DC}" srcOrd="3" destOrd="0" parTransId="{052B5572-9F65-485E-86AC-AD51BCA2A735}" sibTransId="{AD13C4D6-CEB9-4ABF-8B9F-76387AB6ADB9}"/>
    <dgm:cxn modelId="{1508C3DB-3B35-B446-835D-337F8C0E4518}" type="presOf" srcId="{751948DD-256F-4338-9C61-2CAFE114A95C}" destId="{946DC1E7-C411-D049-8E90-9E1F5D093338}" srcOrd="0" destOrd="0" presId="urn:microsoft.com/office/officeart/2005/8/layout/vList2"/>
    <dgm:cxn modelId="{0715AAEF-47ED-4D21-A433-DDBA705F733F}" srcId="{31AB68D9-DE16-4A5D-BFDC-9A708FC9592B}" destId="{F449A7B0-300B-44D6-93E8-8D3D71A43375}" srcOrd="2" destOrd="0" parTransId="{047BF113-B1B8-4D00-B80E-66BFF49044F7}" sibTransId="{043DD552-0112-4156-8A45-529E51BCE923}"/>
    <dgm:cxn modelId="{92D32A79-C3A9-E246-9BA4-72F22D27DC94}" type="presParOf" srcId="{5176AA31-0363-A44D-9C2B-B022F36C4707}" destId="{122B15B9-532C-0F4E-BA89-81D0295735B3}" srcOrd="0" destOrd="0" presId="urn:microsoft.com/office/officeart/2005/8/layout/vList2"/>
    <dgm:cxn modelId="{DAE42B2D-17CA-FC47-97F8-EC70ADDEFCF8}" type="presParOf" srcId="{5176AA31-0363-A44D-9C2B-B022F36C4707}" destId="{7707E37E-1BEC-404F-AB2A-AAD57C21C3F9}" srcOrd="1" destOrd="0" presId="urn:microsoft.com/office/officeart/2005/8/layout/vList2"/>
    <dgm:cxn modelId="{129CFE49-AC59-594D-91A9-E04976D153D5}" type="presParOf" srcId="{5176AA31-0363-A44D-9C2B-B022F36C4707}" destId="{7E75EACB-648D-664D-8A42-478729C92096}" srcOrd="2" destOrd="0" presId="urn:microsoft.com/office/officeart/2005/8/layout/vList2"/>
    <dgm:cxn modelId="{CAF1C694-69A4-A148-9E12-49B1F981E459}" type="presParOf" srcId="{5176AA31-0363-A44D-9C2B-B022F36C4707}" destId="{02C7CF1F-8A42-F843-AE9C-32B5BCB52A6C}" srcOrd="3" destOrd="0" presId="urn:microsoft.com/office/officeart/2005/8/layout/vList2"/>
    <dgm:cxn modelId="{0CCF31DD-F034-8D42-BFC8-4BFE7038FB78}" type="presParOf" srcId="{5176AA31-0363-A44D-9C2B-B022F36C4707}" destId="{8EFF98D5-1D90-DF49-A6A0-392345020BD2}" srcOrd="4" destOrd="0" presId="urn:microsoft.com/office/officeart/2005/8/layout/vList2"/>
    <dgm:cxn modelId="{CE18C452-D87B-A64D-A338-D0B45875BD07}" type="presParOf" srcId="{5176AA31-0363-A44D-9C2B-B022F36C4707}" destId="{0E8192B6-314B-F044-B168-6C24CCF24C93}" srcOrd="5" destOrd="0" presId="urn:microsoft.com/office/officeart/2005/8/layout/vList2"/>
    <dgm:cxn modelId="{8EFCC658-313D-4842-8C0C-5A0BF8F6D0C5}" type="presParOf" srcId="{5176AA31-0363-A44D-9C2B-B022F36C4707}" destId="{B03B468B-7B41-4C44-8AF8-490F4327F835}" srcOrd="6" destOrd="0" presId="urn:microsoft.com/office/officeart/2005/8/layout/vList2"/>
    <dgm:cxn modelId="{A2707EE3-69DF-0A43-804F-BFA26405A28F}" type="presParOf" srcId="{5176AA31-0363-A44D-9C2B-B022F36C4707}" destId="{D3D67FB0-172C-774E-9D76-9068AD9D994E}" srcOrd="7" destOrd="0" presId="urn:microsoft.com/office/officeart/2005/8/layout/vList2"/>
    <dgm:cxn modelId="{42CD4B11-E8A0-3B4F-9F0F-C280E463DC3F}" type="presParOf" srcId="{5176AA31-0363-A44D-9C2B-B022F36C4707}" destId="{946DC1E7-C411-D049-8E90-9E1F5D093338}" srcOrd="8" destOrd="0" presId="urn:microsoft.com/office/officeart/2005/8/layout/vList2"/>
    <dgm:cxn modelId="{963CB709-A9E5-E845-A577-906BBA198F49}" type="presParOf" srcId="{5176AA31-0363-A44D-9C2B-B022F36C4707}" destId="{51939CEF-2AC7-CD44-A6B1-3414669D7AE7}" srcOrd="9" destOrd="0" presId="urn:microsoft.com/office/officeart/2005/8/layout/vList2"/>
    <dgm:cxn modelId="{55257C2E-343E-6047-93F1-5A924C069BA0}" type="presParOf" srcId="{5176AA31-0363-A44D-9C2B-B022F36C4707}" destId="{106A94CE-96F3-7243-8B85-12151C5A58D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B15B9-532C-0F4E-BA89-81D0295735B3}">
      <dsp:nvSpPr>
        <dsp:cNvPr id="0" name=""/>
        <dsp:cNvSpPr/>
      </dsp:nvSpPr>
      <dsp:spPr>
        <a:xfrm>
          <a:off x="0" y="0"/>
          <a:ext cx="6575231" cy="951855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B0004020202020204" pitchFamily="34" charset="0"/>
            </a:rPr>
            <a:t>EDA (Exploratory Data Analysis</a:t>
          </a:r>
        </a:p>
      </dsp:txBody>
      <dsp:txXfrm>
        <a:off x="46466" y="46466"/>
        <a:ext cx="6482299" cy="858923"/>
      </dsp:txXfrm>
    </dsp:sp>
    <dsp:sp modelId="{7E75EACB-648D-664D-8A42-478729C92096}">
      <dsp:nvSpPr>
        <dsp:cNvPr id="0" name=""/>
        <dsp:cNvSpPr/>
      </dsp:nvSpPr>
      <dsp:spPr>
        <a:xfrm>
          <a:off x="0" y="645526"/>
          <a:ext cx="6575231" cy="951855"/>
        </a:xfrm>
        <a:prstGeom prst="round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u="none" kern="1200" dirty="0">
              <a:latin typeface="Aptos Display" panose="020B0004020202020204" pitchFamily="34" charset="0"/>
            </a:rPr>
            <a:t>Data pre-processing: Missing value treatment, prevent data leakage</a:t>
          </a:r>
          <a:endParaRPr lang="en-US" sz="2000" kern="1200" dirty="0">
            <a:latin typeface="Aptos Display" panose="020B0004020202020204" pitchFamily="34" charset="0"/>
          </a:endParaRPr>
        </a:p>
      </dsp:txBody>
      <dsp:txXfrm>
        <a:off x="46466" y="691992"/>
        <a:ext cx="6482299" cy="858923"/>
      </dsp:txXfrm>
    </dsp:sp>
    <dsp:sp modelId="{8EFF98D5-1D90-DF49-A6A0-392345020BD2}">
      <dsp:nvSpPr>
        <dsp:cNvPr id="0" name=""/>
        <dsp:cNvSpPr/>
      </dsp:nvSpPr>
      <dsp:spPr>
        <a:xfrm>
          <a:off x="0" y="1623589"/>
          <a:ext cx="6575231" cy="951855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u="none" kern="1200" dirty="0">
              <a:latin typeface="Aptos Display" panose="020B0004020202020204" pitchFamily="34" charset="0"/>
            </a:rPr>
            <a:t>Model Building - Build at least 6 classification models (Using logistic regression, decision trees, random forest, bagging classifier and boosting methods)</a:t>
          </a:r>
          <a:endParaRPr lang="en-US" sz="2000" b="0" i="0" kern="1200" dirty="0">
            <a:latin typeface="Aptos Display" panose="020B0004020202020204" pitchFamily="34" charset="0"/>
          </a:endParaRPr>
        </a:p>
      </dsp:txBody>
      <dsp:txXfrm>
        <a:off x="46466" y="1670055"/>
        <a:ext cx="6482299" cy="858923"/>
      </dsp:txXfrm>
    </dsp:sp>
    <dsp:sp modelId="{B03B468B-7B41-4C44-8AF8-490F4327F835}">
      <dsp:nvSpPr>
        <dsp:cNvPr id="0" name=""/>
        <dsp:cNvSpPr/>
      </dsp:nvSpPr>
      <dsp:spPr>
        <a:xfrm>
          <a:off x="0" y="2672717"/>
          <a:ext cx="6575231" cy="951855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B0004020202020204" pitchFamily="34" charset="0"/>
            </a:rPr>
            <a:t>Model Building with Oversampled data and </a:t>
          </a:r>
          <a:r>
            <a:rPr lang="en-US" sz="2000" kern="1200" dirty="0" err="1">
              <a:latin typeface="Aptos Display" panose="020B0004020202020204" pitchFamily="34" charset="0"/>
            </a:rPr>
            <a:t>Undersampled</a:t>
          </a:r>
          <a:r>
            <a:rPr lang="en-US" sz="2000" kern="1200" dirty="0">
              <a:latin typeface="Aptos Display" panose="020B0004020202020204" pitchFamily="34" charset="0"/>
            </a:rPr>
            <a:t> data</a:t>
          </a:r>
        </a:p>
      </dsp:txBody>
      <dsp:txXfrm>
        <a:off x="46466" y="2719183"/>
        <a:ext cx="6482299" cy="858923"/>
      </dsp:txXfrm>
    </dsp:sp>
    <dsp:sp modelId="{946DC1E7-C411-D049-8E90-9E1F5D093338}">
      <dsp:nvSpPr>
        <dsp:cNvPr id="0" name=""/>
        <dsp:cNvSpPr/>
      </dsp:nvSpPr>
      <dsp:spPr>
        <a:xfrm>
          <a:off x="0" y="3682487"/>
          <a:ext cx="6575231" cy="951855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B0004020202020204" pitchFamily="34" charset="0"/>
            </a:rPr>
            <a:t>Hyperparameter Tuning, productionize model</a:t>
          </a:r>
        </a:p>
      </dsp:txBody>
      <dsp:txXfrm>
        <a:off x="46466" y="3728953"/>
        <a:ext cx="6482299" cy="858923"/>
      </dsp:txXfrm>
    </dsp:sp>
    <dsp:sp modelId="{106A94CE-96F3-7243-8B85-12151C5A58D8}">
      <dsp:nvSpPr>
        <dsp:cNvPr id="0" name=""/>
        <dsp:cNvSpPr/>
      </dsp:nvSpPr>
      <dsp:spPr>
        <a:xfrm>
          <a:off x="0" y="4763036"/>
          <a:ext cx="6575231" cy="951855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B0004020202020204" pitchFamily="34" charset="0"/>
            </a:rPr>
            <a:t>Business Insights and Recommendation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6466" y="4809502"/>
        <a:ext cx="6482299" cy="858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008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0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56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0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3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8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6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0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7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9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9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8/30/24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48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A2EAD-E7C7-4F64-924A-52D34FD75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8B528-C6E3-C378-7465-9B16B756A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5601" y="863604"/>
            <a:ext cx="8026398" cy="2827245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rgbClr val="002060"/>
                </a:solidFill>
                <a:latin typeface="Century" panose="02040604050505020304" pitchFamily="18" charset="0"/>
              </a:rPr>
              <a:t>Case Study 6 </a:t>
            </a:r>
            <a:br>
              <a:rPr lang="en-US" sz="4000" b="1" u="sng" dirty="0">
                <a:solidFill>
                  <a:srgbClr val="002060"/>
                </a:solidFill>
                <a:latin typeface="Century" panose="02040604050505020304" pitchFamily="18" charset="0"/>
              </a:rPr>
            </a:br>
            <a:r>
              <a:rPr lang="en-US" sz="4000" b="1" u="sng" dirty="0">
                <a:solidFill>
                  <a:srgbClr val="002060"/>
                </a:solidFill>
                <a:latin typeface="Century" panose="02040604050505020304" pitchFamily="18" charset="0"/>
              </a:rPr>
              <a:t>MODEL TUNING-  REWIND</a:t>
            </a:r>
            <a:r>
              <a:rPr lang="en-US" sz="4000" b="1" dirty="0">
                <a:solidFill>
                  <a:srgbClr val="002060"/>
                </a:solidFill>
                <a:latin typeface="Century" panose="02040604050505020304" pitchFamily="18" charset="0"/>
              </a:rPr>
              <a:t>.</a:t>
            </a:r>
            <a:br>
              <a:rPr lang="en-US" sz="3200" b="1" dirty="0">
                <a:solidFill>
                  <a:srgbClr val="002060"/>
                </a:solidFill>
                <a:latin typeface="Century" panose="02040604050505020304" pitchFamily="18" charset="0"/>
              </a:rPr>
            </a:br>
            <a:endParaRPr lang="en-US" sz="3200" b="1" i="1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30CB1-7603-974F-BFB3-0D0696050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2534" y="4165602"/>
            <a:ext cx="5605992" cy="111759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sz="4000" b="1" i="1" dirty="0" err="1">
                <a:latin typeface="Century" panose="02040604050505020304" pitchFamily="18" charset="0"/>
              </a:rPr>
              <a:t>Nafis</a:t>
            </a:r>
            <a:r>
              <a:rPr lang="en-US" sz="4000" b="1" i="1" dirty="0">
                <a:latin typeface="Century" panose="02040604050505020304" pitchFamily="18" charset="0"/>
              </a:rPr>
              <a:t> Zafar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Row of wind turbines">
            <a:extLst>
              <a:ext uri="{FF2B5EF4-FFF2-40B4-BE49-F238E27FC236}">
                <a16:creationId xmlns:a16="http://schemas.microsoft.com/office/drawing/2014/main" id="{AECCEADD-C46B-2847-7246-73EDAEF1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165600" cy="686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3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8FD33-A783-498F-8569-F45932BB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072" y="146004"/>
            <a:ext cx="6575223" cy="683281"/>
          </a:xfrm>
        </p:spPr>
        <p:txBody>
          <a:bodyPr anchor="t">
            <a:normAutofit/>
          </a:bodyPr>
          <a:lstStyle/>
          <a:p>
            <a:pPr algn="ctr"/>
            <a:r>
              <a:rPr lang="en-US" sz="3500" u="sng" dirty="0">
                <a:solidFill>
                  <a:srgbClr val="002060"/>
                </a:solidFill>
                <a:latin typeface="Century" panose="02040604050505020304" pitchFamily="18" charset="0"/>
              </a:rPr>
              <a:t>Objectives</a:t>
            </a:r>
            <a:r>
              <a:rPr lang="en-US" sz="3500" u="sng" dirty="0">
                <a:solidFill>
                  <a:srgbClr val="002060"/>
                </a:solidFill>
              </a:rPr>
              <a:t>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4757C4-228A-47E5-94C8-058312AB2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23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A94624C-61B4-49AC-CF28-2814402C0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815041"/>
              </p:ext>
            </p:extLst>
          </p:nvPr>
        </p:nvGraphicFramePr>
        <p:xfrm>
          <a:off x="5075775" y="855874"/>
          <a:ext cx="65752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Row of wind turbines">
            <a:extLst>
              <a:ext uri="{FF2B5EF4-FFF2-40B4-BE49-F238E27FC236}">
                <a16:creationId xmlns:a16="http://schemas.microsoft.com/office/drawing/2014/main" id="{093CFAA7-66A6-1C56-89B7-6FF587BB7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4131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0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40B90-DBFB-6F51-31DC-62C3F50A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676" y="148798"/>
            <a:ext cx="7248345" cy="801269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A0DDF8-2888-7477-8FB7-1DD5158A5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1676" y="1270000"/>
            <a:ext cx="7789335" cy="2159000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 fontScale="70000" lnSpcReduction="20000"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latin typeface="Century" panose="02040604050505020304" pitchFamily="18" charset="0"/>
              </a:rPr>
              <a:t>There are 20k records in Train dataset and 5k records in Test dataset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Century" panose="02040604050505020304" pitchFamily="18" charset="0"/>
              </a:rPr>
              <a:t>There are 41 numerical columns in both datasets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Century" panose="02040604050505020304" pitchFamily="18" charset="0"/>
              </a:rPr>
              <a:t>There are no duplicates in both dataset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Century" panose="02040604050505020304" pitchFamily="18" charset="0"/>
              </a:rPr>
              <a:t>There are missing values in train and test data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Century" panose="02040604050505020304" pitchFamily="18" charset="0"/>
              </a:rPr>
              <a:t>Mean value of the independent variables (v1 to v40) ranges from -2.9 to 2.35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Century" panose="02040604050505020304" pitchFamily="18" charset="0"/>
              </a:rPr>
              <a:t>V16 has lowest value of -20.3 and v32 has the highest value 23.6</a:t>
            </a:r>
          </a:p>
          <a:p>
            <a:pPr>
              <a:lnSpc>
                <a:spcPct val="140000"/>
              </a:lnSpc>
            </a:pPr>
            <a:endParaRPr lang="en-US" sz="1100" dirty="0">
              <a:latin typeface="Century" panose="020406040505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3CF2D-59D8-3270-03DD-B6CC154A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3" r="3" b="19596"/>
          <a:stretch/>
        </p:blipFill>
        <p:spPr>
          <a:xfrm>
            <a:off x="3775720" y="3640666"/>
            <a:ext cx="3811491" cy="3217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CBD7FE-84F0-3C28-DE1B-BCCB972EEB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80"/>
          <a:stretch/>
        </p:blipFill>
        <p:spPr>
          <a:xfrm>
            <a:off x="8110294" y="3640666"/>
            <a:ext cx="3811511" cy="3217334"/>
          </a:xfrm>
          <a:prstGeom prst="rect">
            <a:avLst/>
          </a:prstGeom>
        </p:spPr>
      </p:pic>
      <p:pic>
        <p:nvPicPr>
          <p:cNvPr id="15" name="Picture 14" descr="Row of wind turbines">
            <a:extLst>
              <a:ext uri="{FF2B5EF4-FFF2-40B4-BE49-F238E27FC236}">
                <a16:creationId xmlns:a16="http://schemas.microsoft.com/office/drawing/2014/main" id="{FA37422E-F7FE-2789-078B-361F3E7D3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77572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7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8C0C5-5E75-7AEA-ADDB-A0AD587F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732" y="270000"/>
            <a:ext cx="7061199" cy="915334"/>
          </a:xfrm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  <a:endParaRPr lang="en-US" sz="3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7999-746B-D499-39F6-245F02EF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733" y="1016000"/>
            <a:ext cx="7519279" cy="1964267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Century" panose="02040604050505020304" pitchFamily="18" charset="0"/>
              </a:rPr>
              <a:t>Histogram boxplot of v40 shown in SC.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Train dataset has </a:t>
            </a:r>
            <a:r>
              <a:rPr lang="en-US" sz="1600" dirty="0" err="1">
                <a:latin typeface="Century" panose="02040604050505020304" pitchFamily="18" charset="0"/>
              </a:rPr>
              <a:t>apx</a:t>
            </a:r>
            <a:r>
              <a:rPr lang="en-US" sz="1600" dirty="0">
                <a:latin typeface="Century" panose="02040604050505020304" pitchFamily="18" charset="0"/>
              </a:rPr>
              <a:t> 19k count of  0’s and 1110 counts of 1’s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effectLst/>
                <a:latin typeface="Century" panose="02040604050505020304" pitchFamily="18" charset="0"/>
              </a:rPr>
              <a:t>Test dataset has 4,</a:t>
            </a:r>
            <a:r>
              <a:rPr lang="en-US" sz="1600" dirty="0">
                <a:latin typeface="Century" panose="02040604050505020304" pitchFamily="18" charset="0"/>
              </a:rPr>
              <a:t>718 count of 0’s and 282 count of 1’s</a:t>
            </a:r>
            <a:endParaRPr lang="en-US" sz="1600" b="0" i="0" u="none" strike="noStrike" dirty="0">
              <a:effectLst/>
              <a:latin typeface="Century" panose="020406040505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dirty="0">
              <a:latin typeface="Century" panose="02040604050505020304" pitchFamily="18" charset="0"/>
            </a:endParaRPr>
          </a:p>
        </p:txBody>
      </p:sp>
      <p:pic>
        <p:nvPicPr>
          <p:cNvPr id="8" name="Picture 7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60BCC6E3-777A-A716-6ACD-E0367B3B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77" r="14669" b="1"/>
          <a:stretch/>
        </p:blipFill>
        <p:spPr>
          <a:xfrm>
            <a:off x="3884995" y="3427200"/>
            <a:ext cx="4064400" cy="3430800"/>
          </a:xfrm>
          <a:prstGeom prst="rect">
            <a:avLst/>
          </a:prstGeom>
        </p:spPr>
      </p:pic>
      <p:pic>
        <p:nvPicPr>
          <p:cNvPr id="10" name="Picture 9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009AC8F-F59B-61C0-3DDA-E80DCA1CA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53" r="9336"/>
          <a:stretch/>
        </p:blipFill>
        <p:spPr>
          <a:xfrm>
            <a:off x="8127600" y="3427200"/>
            <a:ext cx="4064400" cy="3430800"/>
          </a:xfrm>
          <a:prstGeom prst="rect">
            <a:avLst/>
          </a:prstGeom>
        </p:spPr>
      </p:pic>
      <p:pic>
        <p:nvPicPr>
          <p:cNvPr id="15" name="Picture 14" descr="Row of wind turbines">
            <a:extLst>
              <a:ext uri="{FF2B5EF4-FFF2-40B4-BE49-F238E27FC236}">
                <a16:creationId xmlns:a16="http://schemas.microsoft.com/office/drawing/2014/main" id="{622A6836-7F55-B0A1-9E84-118504978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3775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8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FEDE1-A591-2693-0444-34741560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933" y="423382"/>
            <a:ext cx="8568267" cy="858720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i="0" u="sng" dirty="0">
                <a:solidFill>
                  <a:srgbClr val="002060"/>
                </a:solidFill>
                <a:latin typeface="Century" panose="02040604050505020304" pitchFamily="18" charset="0"/>
              </a:rPr>
              <a:t>Data pre-processing: Missing value treatment, prevent data leakage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82D4-4D50-EEC5-21F1-4EA1D48A2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9799" y="1422400"/>
            <a:ext cx="8376734" cy="2006600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We separated train data into X and Y, Y having the ‘Target’ column.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Then we split the dataset into train and validation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Train dataset has 15k rows and validation has 5k rows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We used ‘median’ for imputing missing values for train, validation and test dataset for X datapoints</a:t>
            </a:r>
          </a:p>
        </p:txBody>
      </p:sp>
      <p:pic>
        <p:nvPicPr>
          <p:cNvPr id="12" name="Picture 11" descr="Row of wind turbines">
            <a:extLst>
              <a:ext uri="{FF2B5EF4-FFF2-40B4-BE49-F238E27FC236}">
                <a16:creationId xmlns:a16="http://schemas.microsoft.com/office/drawing/2014/main" id="{2E3CC317-2390-5F7D-DAED-F1A10AEF0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8933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8D7460-345C-4D44-9239-59D1357AB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32" y="4300048"/>
            <a:ext cx="4035399" cy="24658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8E7F06-66EE-3E3A-8082-D23805408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080" y="4300048"/>
            <a:ext cx="4811920" cy="24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9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A32E0-101F-7B68-D6EA-FE6DA083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423382"/>
            <a:ext cx="7823191" cy="1398252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en-US" sz="3600" b="0" i="0" u="sng" dirty="0">
                <a:solidFill>
                  <a:srgbClr val="002060"/>
                </a:solidFill>
                <a:latin typeface="Century" panose="02040604050505020304" pitchFamily="18" charset="0"/>
              </a:rPr>
              <a:t>Model Building - Build at least 6 classification models </a:t>
            </a:r>
            <a:br>
              <a:rPr lang="en-US" dirty="0"/>
            </a:br>
            <a:endParaRPr lang="en-US" u="sng" dirty="0">
              <a:solidFill>
                <a:srgbClr val="C0000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B55BA-0A2D-2D84-9ABA-8EB9A218F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462" y="1720549"/>
            <a:ext cx="3733781" cy="182163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 </a:t>
            </a:r>
            <a:r>
              <a:rPr lang="en-US" sz="1600" dirty="0">
                <a:solidFill>
                  <a:schemeClr val="tx1"/>
                </a:solidFill>
                <a:latin typeface="Century" panose="02040604050505020304" pitchFamily="18" charset="0"/>
              </a:rPr>
              <a:t>We are building six ML models with original data : Logistic Regression, Bagging, Random Forest, Gradient Boosting, Ada Boosting and Decision Tree.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Here is the </a:t>
            </a:r>
            <a:r>
              <a:rPr lang="en-US" sz="1600" dirty="0">
                <a:solidFill>
                  <a:schemeClr val="tx1"/>
                </a:solidFill>
                <a:latin typeface="Century" panose="02040604050505020304" pitchFamily="18" charset="0"/>
              </a:rPr>
              <a:t>comparison on training dataset</a:t>
            </a:r>
            <a:endParaRPr lang="en-US" sz="1600" b="0" i="0" u="none" strike="noStrike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US" dirty="0">
              <a:latin typeface="Century" panose="020406040505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Row of wind turbines">
            <a:extLst>
              <a:ext uri="{FF2B5EF4-FFF2-40B4-BE49-F238E27FC236}">
                <a16:creationId xmlns:a16="http://schemas.microsoft.com/office/drawing/2014/main" id="{9E6120D3-2771-6961-C394-8352191A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189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CD6CD6-1D77-D30A-2A4F-CFCAE3967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290" y="1328004"/>
            <a:ext cx="4910673" cy="34171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19F97E-2E79-8CD1-432A-8D4BB2962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067" y="4745190"/>
            <a:ext cx="7772400" cy="205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3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76653-3A14-0CC9-2C07-30C8B2104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23382"/>
            <a:ext cx="7382932" cy="829685"/>
          </a:xfrm>
        </p:spPr>
        <p:txBody>
          <a:bodyPr wrap="square" anchor="b">
            <a:noAutofit/>
          </a:bodyPr>
          <a:lstStyle/>
          <a:p>
            <a:pPr algn="ctr"/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Model Building with oversampled and </a:t>
            </a:r>
            <a:r>
              <a:rPr lang="en-US" u="sng" dirty="0" err="1">
                <a:solidFill>
                  <a:srgbClr val="002060"/>
                </a:solidFill>
                <a:latin typeface="Century" panose="02040604050505020304" pitchFamily="18" charset="0"/>
              </a:rPr>
              <a:t>undersampled</a:t>
            </a:r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C1B6D-8863-D8F5-7011-593E3926B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450800"/>
            <a:ext cx="7772400" cy="1143001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We are building a model with oversampled data using </a:t>
            </a: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S</a:t>
            </a:r>
            <a:r>
              <a:rPr lang="en-US" sz="14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entury" panose="02040604050505020304" pitchFamily="18" charset="0"/>
              </a:rPr>
              <a:t>MOTE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 with </a:t>
            </a:r>
            <a:r>
              <a:rPr lang="en-US" sz="1400" dirty="0" err="1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sampling_strategy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=1,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k_neighbors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=5,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random_state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=1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After oversampling the 1 counts jumped from 888 to 15112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Here is the performance of models with oversampled data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4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pic>
        <p:nvPicPr>
          <p:cNvPr id="13" name="Picture 12" descr="Row of wind turbines">
            <a:extLst>
              <a:ext uri="{FF2B5EF4-FFF2-40B4-BE49-F238E27FC236}">
                <a16:creationId xmlns:a16="http://schemas.microsoft.com/office/drawing/2014/main" id="{4E89B99C-0104-A896-29E4-20E541CF4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23733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A10003-2227-570C-4D7A-07E9CF7EA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069" y="4936067"/>
            <a:ext cx="3446859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E5465B-B845-5ABF-4CE6-DBBF5478C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380" y="3115733"/>
            <a:ext cx="5041619" cy="344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6A317-345D-A884-B63F-1708E6C5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91C4CF9-10FE-48F3-8347-3665F0806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0C0E3-02CD-5B51-DE8B-144A6658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23382"/>
            <a:ext cx="7382932" cy="829685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Model Building with oversampled and </a:t>
            </a:r>
            <a:r>
              <a:rPr lang="en-US" u="sng" dirty="0" err="1">
                <a:solidFill>
                  <a:srgbClr val="002060"/>
                </a:solidFill>
                <a:latin typeface="Century" panose="02040604050505020304" pitchFamily="18" charset="0"/>
              </a:rPr>
              <a:t>undersampled</a:t>
            </a:r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 data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AE9AA-800E-F2D4-0B25-A65D99290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450800"/>
            <a:ext cx="7772400" cy="1441801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We are building a model with under sampled data using </a:t>
            </a:r>
            <a:r>
              <a:rPr lang="en-US" sz="1400" dirty="0" err="1">
                <a:solidFill>
                  <a:schemeClr val="tx1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RandomUnderSampler</a:t>
            </a: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  <a:latin typeface="Century" panose="020406040505050203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with </a:t>
            </a:r>
            <a:r>
              <a:rPr lang="en-US" sz="1400" dirty="0" err="1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sampling_strategy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=1,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random_state</a:t>
            </a: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=1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After </a:t>
            </a:r>
            <a:r>
              <a:rPr lang="en-US" sz="1400" dirty="0" err="1">
                <a:solidFill>
                  <a:schemeClr val="tx1"/>
                </a:solidFill>
                <a:latin typeface="Century" panose="02040604050505020304" pitchFamily="18" charset="0"/>
              </a:rPr>
              <a:t>undersampling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the 0 label counts went down from 15112 to 888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Here is the performance of models with oversampled data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4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pic>
        <p:nvPicPr>
          <p:cNvPr id="13" name="Picture 12" descr="Row of wind turbines">
            <a:extLst>
              <a:ext uri="{FF2B5EF4-FFF2-40B4-BE49-F238E27FC236}">
                <a16:creationId xmlns:a16="http://schemas.microsoft.com/office/drawing/2014/main" id="{4E60C63D-29B7-6A49-FDF8-C9EEA710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2373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63643-723B-829D-32B6-FBE1B481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969" y="3965399"/>
            <a:ext cx="3868001" cy="1656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E202DF-53B5-0FBD-F9AD-C511C5A39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059" y="3115745"/>
            <a:ext cx="4686941" cy="341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6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686F2-8CEA-EDB9-82EC-9A6A99C7F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C250224-703C-3D88-951C-807BA64F6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0C462-18E7-3488-B03D-A504CEFF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23382"/>
            <a:ext cx="7382932" cy="829685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Hyperparameter Tuning and </a:t>
            </a:r>
            <a:r>
              <a:rPr lang="en-US" u="sng" dirty="0" err="1">
                <a:solidFill>
                  <a:srgbClr val="002060"/>
                </a:solidFill>
                <a:latin typeface="Century" panose="02040604050505020304" pitchFamily="18" charset="0"/>
              </a:rPr>
              <a:t>Productionise</a:t>
            </a:r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7DA52-F2F7-A9E6-FED2-7C9294DB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450800"/>
            <a:ext cx="7772400" cy="3459867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We tuned AdaBoost with oversampled data. F1 score on validation set was .83 and on training set it was .98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We tuned Random Forest with </a:t>
            </a:r>
            <a:r>
              <a:rPr lang="en-US" sz="1400" dirty="0" err="1">
                <a:solidFill>
                  <a:schemeClr val="tx1"/>
                </a:solidFill>
                <a:latin typeface="Century" panose="02040604050505020304" pitchFamily="18" charset="0"/>
              </a:rPr>
              <a:t>undersampled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data. F1 score on validation set was .59 and on training set it was .96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We tuned </a:t>
            </a:r>
            <a:r>
              <a:rPr lang="en-US" sz="1400" dirty="0" err="1">
                <a:solidFill>
                  <a:schemeClr val="tx1"/>
                </a:solidFill>
                <a:latin typeface="Century" panose="02040604050505020304" pitchFamily="18" charset="0"/>
              </a:rPr>
              <a:t>Gradiant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Boosting with oversampled data. F1 score on validation set was .74 and on training set it was .99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We tuned </a:t>
            </a:r>
            <a:r>
              <a:rPr lang="en-US" sz="1400" dirty="0" err="1">
                <a:solidFill>
                  <a:schemeClr val="tx1"/>
                </a:solidFill>
                <a:latin typeface="Century" panose="02040604050505020304" pitchFamily="18" charset="0"/>
              </a:rPr>
              <a:t>XGBoost</a:t>
            </a: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 with oversampled data. F1 score on validation set was .82 and on training set it was .99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Please see next slide for comparison of model on training set and validation set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4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pic>
        <p:nvPicPr>
          <p:cNvPr id="13" name="Picture 12" descr="Row of wind turbines">
            <a:extLst>
              <a:ext uri="{FF2B5EF4-FFF2-40B4-BE49-F238E27FC236}">
                <a16:creationId xmlns:a16="http://schemas.microsoft.com/office/drawing/2014/main" id="{D18D77DE-F2B7-5830-FDA5-C8956120C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237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0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5356D-13FA-CE97-E1AA-AE698091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88D0B3E-9479-2784-A390-D28A7E3A6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47411-3522-26BA-8F6B-9AC0DA2A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23382"/>
            <a:ext cx="7382932" cy="829685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Hyperparameter Tuning and </a:t>
            </a:r>
            <a:r>
              <a:rPr lang="en-US" u="sng" dirty="0" err="1">
                <a:solidFill>
                  <a:srgbClr val="002060"/>
                </a:solidFill>
                <a:latin typeface="Century" panose="02040604050505020304" pitchFamily="18" charset="0"/>
              </a:rPr>
              <a:t>Productionise</a:t>
            </a:r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B642-4C78-0A74-4EAD-4659A2E2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450800"/>
            <a:ext cx="7552267" cy="1207733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Here is the comparison of model on training set and validation set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Getting good scores from XGB on training set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But getting better scores from AdaBoost tuned w oversampled data in Validation dataset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4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pic>
        <p:nvPicPr>
          <p:cNvPr id="13" name="Picture 12" descr="Row of wind turbines">
            <a:extLst>
              <a:ext uri="{FF2B5EF4-FFF2-40B4-BE49-F238E27FC236}">
                <a16:creationId xmlns:a16="http://schemas.microsoft.com/office/drawing/2014/main" id="{A73FC2EC-E692-2B45-3C99-9FA14AF35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2373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D4EDE1-4C5E-4A7B-27F8-D032BD20B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732" y="3094296"/>
            <a:ext cx="8528235" cy="1477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3E1006-BA8F-2167-19B2-1F3FD0B5A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98" y="4754148"/>
            <a:ext cx="8494369" cy="16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3FC98-7450-B26B-6635-36B4B7F8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A826245-2AC1-96B8-7A15-2A88B9A16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823A4-B911-15D7-3234-C312F556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423382"/>
            <a:ext cx="7382932" cy="829685"/>
          </a:xfrm>
        </p:spPr>
        <p:txBody>
          <a:bodyPr wrap="square" anchor="b">
            <a:normAutofit fontScale="90000"/>
          </a:bodyPr>
          <a:lstStyle/>
          <a:p>
            <a:pPr algn="ctr"/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Business Insights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A39BB-8D23-4D07-20B9-654C17C3F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450800"/>
            <a:ext cx="7552267" cy="1207733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entury" panose="02040604050505020304" pitchFamily="18" charset="0"/>
              </a:rPr>
              <a:t>AdaBoost Classifier with oversampled data is the model I would recommend overall. Because it performs best on validation dataset.</a:t>
            </a: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>
              <a:lnSpc>
                <a:spcPct val="14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pic>
        <p:nvPicPr>
          <p:cNvPr id="13" name="Picture 12" descr="Row of wind turbines">
            <a:extLst>
              <a:ext uri="{FF2B5EF4-FFF2-40B4-BE49-F238E27FC236}">
                <a16:creationId xmlns:a16="http://schemas.microsoft.com/office/drawing/2014/main" id="{A0744333-AF5B-07B1-6DB0-FE301976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2373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1813F9-A573-468E-A246-900C957C0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732" y="3094296"/>
            <a:ext cx="8528235" cy="1477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97BF2-1703-08A1-AAC1-9A7E514B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98" y="4754148"/>
            <a:ext cx="8494369" cy="16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97831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60079</TotalTime>
  <Words>578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Display</vt:lpstr>
      <vt:lpstr>Arial</vt:lpstr>
      <vt:lpstr>Avenir Next LT Pro</vt:lpstr>
      <vt:lpstr>Century</vt:lpstr>
      <vt:lpstr>Goudy Old Style</vt:lpstr>
      <vt:lpstr>Wingdings</vt:lpstr>
      <vt:lpstr>FrostyVTI</vt:lpstr>
      <vt:lpstr>Case Study 6  MODEL TUNING-  REWIND. </vt:lpstr>
      <vt:lpstr>Objectives:</vt:lpstr>
      <vt:lpstr>EDA (Exploratory Data Analysis)</vt:lpstr>
      <vt:lpstr>EDA (Exploratory Data Analysis)</vt:lpstr>
      <vt:lpstr>Data pre-processing: Missing value treatment, prevent data leakage</vt:lpstr>
      <vt:lpstr>Model Building - Build at least 6 classification models  </vt:lpstr>
      <vt:lpstr>Model Building with oversampled and undersampled data</vt:lpstr>
      <vt:lpstr>Model Building with oversampled and undersampled data (cont..)</vt:lpstr>
      <vt:lpstr>Hyperparameter Tuning and Productionise Model</vt:lpstr>
      <vt:lpstr>Hyperparameter Tuning and Productionise Model</vt:lpstr>
      <vt:lpstr>Business Insights and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Nafis Zafar</dc:creator>
  <cp:lastModifiedBy>Nafis Zafar</cp:lastModifiedBy>
  <cp:revision>10</cp:revision>
  <dcterms:created xsi:type="dcterms:W3CDTF">2024-08-31T01:07:36Z</dcterms:created>
  <dcterms:modified xsi:type="dcterms:W3CDTF">2024-10-11T18:27:12Z</dcterms:modified>
</cp:coreProperties>
</file>