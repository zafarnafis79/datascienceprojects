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8" r:id="rId6"/>
    <p:sldId id="279" r:id="rId7"/>
    <p:sldId id="280" r:id="rId8"/>
    <p:sldId id="260" r:id="rId9"/>
    <p:sldId id="281" r:id="rId10"/>
    <p:sldId id="282" r:id="rId11"/>
    <p:sldId id="283" r:id="rId12"/>
    <p:sldId id="285" r:id="rId13"/>
    <p:sldId id="286" r:id="rId14"/>
    <p:sldId id="287" r:id="rId15"/>
    <p:sldId id="289" r:id="rId16"/>
    <p:sldId id="288" r:id="rId17"/>
    <p:sldId id="290" r:id="rId18"/>
    <p:sldId id="291" r:id="rId19"/>
    <p:sldId id="292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7"/>
    <p:restoredTop sz="94694"/>
  </p:normalViewPr>
  <p:slideViewPr>
    <p:cSldViewPr snapToGrid="0">
      <p:cViewPr varScale="1">
        <p:scale>
          <a:sx n="70" d="100"/>
          <a:sy n="70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AB68D9-DE16-4A5D-BFDC-9A708FC9592B}" type="doc">
      <dgm:prSet loTypeId="urn:microsoft.com/office/officeart/2005/8/layout/vList2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EBF11CB-566D-4E6A-9CAE-431E418C3602}">
      <dgm:prSet custT="1"/>
      <dgm:spPr/>
      <dgm:t>
        <a:bodyPr/>
        <a:lstStyle/>
        <a:p>
          <a:r>
            <a:rPr lang="en-US" sz="1500" b="1" dirty="0">
              <a:latin typeface="Aptos Display" panose="020B0004020202020204" pitchFamily="34" charset="0"/>
            </a:rPr>
            <a:t>EDA (Exploratory Data Analysis</a:t>
          </a:r>
        </a:p>
      </dgm:t>
    </dgm:pt>
    <dgm:pt modelId="{21CD8F0F-D056-4E13-8EF3-7D0355FFE5B4}" type="parTrans" cxnId="{024908B7-D3D5-4F8F-BC26-0191DECC8C3C}">
      <dgm:prSet/>
      <dgm:spPr/>
      <dgm:t>
        <a:bodyPr/>
        <a:lstStyle/>
        <a:p>
          <a:endParaRPr lang="en-US"/>
        </a:p>
      </dgm:t>
    </dgm:pt>
    <dgm:pt modelId="{3C2744A3-709D-4AC8-8067-25C9CF18A06E}" type="sibTrans" cxnId="{024908B7-D3D5-4F8F-BC26-0191DECC8C3C}">
      <dgm:prSet/>
      <dgm:spPr/>
      <dgm:t>
        <a:bodyPr/>
        <a:lstStyle/>
        <a:p>
          <a:endParaRPr lang="en-US"/>
        </a:p>
      </dgm:t>
    </dgm:pt>
    <dgm:pt modelId="{D2C6DA9F-4A34-4BFD-A35D-61E74ACB0605}">
      <dgm:prSet custT="1"/>
      <dgm:spPr/>
      <dgm:t>
        <a:bodyPr/>
        <a:lstStyle/>
        <a:p>
          <a:r>
            <a:rPr lang="en-US" sz="1500" b="1" i="0" u="none" dirty="0">
              <a:latin typeface="Aptos Display" panose="020B0004020202020204" pitchFamily="34" charset="0"/>
            </a:rPr>
            <a:t>Data pre-processing: Missing value treatment, Outlier Check</a:t>
          </a:r>
          <a:endParaRPr lang="en-US" sz="1500" dirty="0">
            <a:latin typeface="Aptos Display" panose="020B0004020202020204" pitchFamily="34" charset="0"/>
          </a:endParaRPr>
        </a:p>
      </dgm:t>
    </dgm:pt>
    <dgm:pt modelId="{FEF19DB2-8C36-4D0F-B66D-68E7494925DA}" type="parTrans" cxnId="{421C0BB7-4D19-4ADF-90A9-E2EA85D29C1B}">
      <dgm:prSet/>
      <dgm:spPr/>
      <dgm:t>
        <a:bodyPr/>
        <a:lstStyle/>
        <a:p>
          <a:endParaRPr lang="en-US"/>
        </a:p>
      </dgm:t>
    </dgm:pt>
    <dgm:pt modelId="{61E3A2EB-123C-40B4-9C44-2F9497D14296}" type="sibTrans" cxnId="{421C0BB7-4D19-4ADF-90A9-E2EA85D29C1B}">
      <dgm:prSet/>
      <dgm:spPr/>
      <dgm:t>
        <a:bodyPr/>
        <a:lstStyle/>
        <a:p>
          <a:endParaRPr lang="en-US"/>
        </a:p>
      </dgm:t>
    </dgm:pt>
    <dgm:pt modelId="{F449A7B0-300B-44D6-93E8-8D3D71A43375}">
      <dgm:prSet custT="1"/>
      <dgm:spPr/>
      <dgm:t>
        <a:bodyPr/>
        <a:lstStyle/>
        <a:p>
          <a:r>
            <a:rPr lang="en-US" sz="1500" b="1" i="0" dirty="0">
              <a:latin typeface="Aptos Display" panose="020B0004020202020204" pitchFamily="34" charset="0"/>
            </a:rPr>
            <a:t>Apply K Means Clustering: Apply K-means Clustering - Plot the Elbow curve - Check Silhouette Scores - Figure out appropriate number of clusters - Cluster Profiling</a:t>
          </a:r>
        </a:p>
      </dgm:t>
    </dgm:pt>
    <dgm:pt modelId="{047BF113-B1B8-4D00-B80E-66BFF49044F7}" type="parTrans" cxnId="{0715AAEF-47ED-4D21-A433-DDBA705F733F}">
      <dgm:prSet/>
      <dgm:spPr/>
      <dgm:t>
        <a:bodyPr/>
        <a:lstStyle/>
        <a:p>
          <a:endParaRPr lang="en-US"/>
        </a:p>
      </dgm:t>
    </dgm:pt>
    <dgm:pt modelId="{043DD552-0112-4156-8A45-529E51BCE923}" type="sibTrans" cxnId="{0715AAEF-47ED-4D21-A433-DDBA705F733F}">
      <dgm:prSet/>
      <dgm:spPr/>
      <dgm:t>
        <a:bodyPr/>
        <a:lstStyle/>
        <a:p>
          <a:endParaRPr lang="en-US"/>
        </a:p>
      </dgm:t>
    </dgm:pt>
    <dgm:pt modelId="{E1154E06-1E69-4941-B461-B7D24198A8DC}">
      <dgm:prSet custT="1"/>
      <dgm:spPr/>
      <dgm:t>
        <a:bodyPr/>
        <a:lstStyle/>
        <a:p>
          <a:r>
            <a:rPr lang="en-US" sz="1500" b="1" i="0" dirty="0">
              <a:latin typeface="Aptos Display" panose="020B0004020202020204" pitchFamily="34" charset="0"/>
            </a:rPr>
            <a:t>Applying Hierarchical clustering: </a:t>
          </a:r>
        </a:p>
        <a:p>
          <a:r>
            <a:rPr lang="en-US" sz="1500" b="1" i="0" dirty="0">
              <a:latin typeface="Aptos Display" panose="020B0004020202020204" pitchFamily="34" charset="0"/>
            </a:rPr>
            <a:t>Hierarchical clustering, Dendrograms, cophenetic correlation, Cluster Profiling</a:t>
          </a:r>
        </a:p>
      </dgm:t>
    </dgm:pt>
    <dgm:pt modelId="{052B5572-9F65-485E-86AC-AD51BCA2A735}" type="parTrans" cxnId="{A2DBE1CC-189A-4955-98D8-F0B139B372F7}">
      <dgm:prSet/>
      <dgm:spPr/>
      <dgm:t>
        <a:bodyPr/>
        <a:lstStyle/>
        <a:p>
          <a:endParaRPr lang="en-US"/>
        </a:p>
      </dgm:t>
    </dgm:pt>
    <dgm:pt modelId="{AD13C4D6-CEB9-4ABF-8B9F-76387AB6ADB9}" type="sibTrans" cxnId="{A2DBE1CC-189A-4955-98D8-F0B139B372F7}">
      <dgm:prSet/>
      <dgm:spPr/>
      <dgm:t>
        <a:bodyPr/>
        <a:lstStyle/>
        <a:p>
          <a:endParaRPr lang="en-US"/>
        </a:p>
      </dgm:t>
    </dgm:pt>
    <dgm:pt modelId="{751948DD-256F-4338-9C61-2CAFE114A95C}">
      <dgm:prSet custT="1"/>
      <dgm:spPr/>
      <dgm:t>
        <a:bodyPr/>
        <a:lstStyle/>
        <a:p>
          <a:r>
            <a:rPr lang="en-US" sz="1500" dirty="0">
              <a:latin typeface="Aptos Display" panose="020B0004020202020204" pitchFamily="34" charset="0"/>
            </a:rPr>
            <a:t> </a:t>
          </a:r>
          <a:r>
            <a:rPr lang="en-US" sz="1500" b="1" dirty="0">
              <a:latin typeface="Aptos Display" panose="020B0004020202020204" pitchFamily="34" charset="0"/>
            </a:rPr>
            <a:t>K-Means vs Hierarchical Clustering</a:t>
          </a:r>
        </a:p>
      </dgm:t>
    </dgm:pt>
    <dgm:pt modelId="{A11F6B15-341A-4F3A-ABA2-7ACB9953FC55}" type="parTrans" cxnId="{9F671E16-4258-48CC-AB01-0FBDC5FD6371}">
      <dgm:prSet/>
      <dgm:spPr/>
      <dgm:t>
        <a:bodyPr/>
        <a:lstStyle/>
        <a:p>
          <a:endParaRPr lang="en-US"/>
        </a:p>
      </dgm:t>
    </dgm:pt>
    <dgm:pt modelId="{FF2FD32A-F090-4491-8695-085B97344B14}" type="sibTrans" cxnId="{9F671E16-4258-48CC-AB01-0FBDC5FD6371}">
      <dgm:prSet/>
      <dgm:spPr/>
      <dgm:t>
        <a:bodyPr/>
        <a:lstStyle/>
        <a:p>
          <a:endParaRPr lang="en-US"/>
        </a:p>
      </dgm:t>
    </dgm:pt>
    <dgm:pt modelId="{8FE570F4-74A1-4E4B-A9C2-FEEF9951194B}">
      <dgm:prSet custT="1"/>
      <dgm:spPr/>
      <dgm:t>
        <a:bodyPr/>
        <a:lstStyle/>
        <a:p>
          <a:r>
            <a:rPr lang="en-US" sz="1500" b="1" dirty="0">
              <a:latin typeface="Aptos Display" panose="020B0004020202020204" pitchFamily="34" charset="0"/>
            </a:rPr>
            <a:t>Actionable Insights ad recommendations</a:t>
          </a:r>
        </a:p>
        <a:p>
          <a:endParaRPr lang="en-US" sz="500" dirty="0"/>
        </a:p>
      </dgm:t>
    </dgm:pt>
    <dgm:pt modelId="{A54CC376-E0A5-B445-9C61-813839E4508B}" type="parTrans" cxnId="{9C52B706-D647-8D4B-B2C6-F20CD066A620}">
      <dgm:prSet/>
      <dgm:spPr/>
      <dgm:t>
        <a:bodyPr/>
        <a:lstStyle/>
        <a:p>
          <a:endParaRPr lang="en-US"/>
        </a:p>
      </dgm:t>
    </dgm:pt>
    <dgm:pt modelId="{812E3EAC-38AF-674A-9C1E-227025F3B65A}" type="sibTrans" cxnId="{9C52B706-D647-8D4B-B2C6-F20CD066A620}">
      <dgm:prSet/>
      <dgm:spPr/>
      <dgm:t>
        <a:bodyPr/>
        <a:lstStyle/>
        <a:p>
          <a:endParaRPr lang="en-US"/>
        </a:p>
      </dgm:t>
    </dgm:pt>
    <dgm:pt modelId="{2A3372FE-7399-5F4F-B7A6-0AC1DF3D001A}" type="pres">
      <dgm:prSet presAssocID="{31AB68D9-DE16-4A5D-BFDC-9A708FC9592B}" presName="linear" presStyleCnt="0">
        <dgm:presLayoutVars>
          <dgm:animLvl val="lvl"/>
          <dgm:resizeHandles val="exact"/>
        </dgm:presLayoutVars>
      </dgm:prSet>
      <dgm:spPr/>
    </dgm:pt>
    <dgm:pt modelId="{AC4E1FF1-F7C6-5548-AD39-2573AF9D1B33}" type="pres">
      <dgm:prSet presAssocID="{3EBF11CB-566D-4E6A-9CAE-431E418C360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1CA9DA3-F645-F845-9CFB-6C6F9E9F6D89}" type="pres">
      <dgm:prSet presAssocID="{3C2744A3-709D-4AC8-8067-25C9CF18A06E}" presName="spacer" presStyleCnt="0"/>
      <dgm:spPr/>
    </dgm:pt>
    <dgm:pt modelId="{3B748F36-71F0-E343-BA2F-EE0050858723}" type="pres">
      <dgm:prSet presAssocID="{D2C6DA9F-4A34-4BFD-A35D-61E74ACB060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0E458A1-61EC-F649-ADBA-F49951A24F1E}" type="pres">
      <dgm:prSet presAssocID="{61E3A2EB-123C-40B4-9C44-2F9497D14296}" presName="spacer" presStyleCnt="0"/>
      <dgm:spPr/>
    </dgm:pt>
    <dgm:pt modelId="{CAC9604B-7F59-954C-8042-7CFB568F8265}" type="pres">
      <dgm:prSet presAssocID="{F449A7B0-300B-44D6-93E8-8D3D71A433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D138305-3718-0244-B2AD-86B00D212F20}" type="pres">
      <dgm:prSet presAssocID="{043DD552-0112-4156-8A45-529E51BCE923}" presName="spacer" presStyleCnt="0"/>
      <dgm:spPr/>
    </dgm:pt>
    <dgm:pt modelId="{383A26AB-8C80-C049-B110-A917C14C55DA}" type="pres">
      <dgm:prSet presAssocID="{E1154E06-1E69-4941-B461-B7D24198A8D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2628199-015C-2D42-896B-9472F0831B93}" type="pres">
      <dgm:prSet presAssocID="{AD13C4D6-CEB9-4ABF-8B9F-76387AB6ADB9}" presName="spacer" presStyleCnt="0"/>
      <dgm:spPr/>
    </dgm:pt>
    <dgm:pt modelId="{825CC8E0-6084-1F4D-A033-FADF24600860}" type="pres">
      <dgm:prSet presAssocID="{751948DD-256F-4338-9C61-2CAFE114A95C}" presName="parentText" presStyleLbl="node1" presStyleIdx="4" presStyleCnt="6" custLinFactY="2500" custLinFactNeighborX="-7644" custLinFactNeighborY="100000">
        <dgm:presLayoutVars>
          <dgm:chMax val="0"/>
          <dgm:bulletEnabled val="1"/>
        </dgm:presLayoutVars>
      </dgm:prSet>
      <dgm:spPr/>
    </dgm:pt>
    <dgm:pt modelId="{D0D8593B-267A-354E-9FE8-728A91C5C87A}" type="pres">
      <dgm:prSet presAssocID="{FF2FD32A-F090-4491-8695-085B97344B14}" presName="spacer" presStyleCnt="0"/>
      <dgm:spPr/>
    </dgm:pt>
    <dgm:pt modelId="{EE0DBD0E-551E-184C-ADAF-7B7420A3A87C}" type="pres">
      <dgm:prSet presAssocID="{8FE570F4-74A1-4E4B-A9C2-FEEF9951194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C52B706-D647-8D4B-B2C6-F20CD066A620}" srcId="{31AB68D9-DE16-4A5D-BFDC-9A708FC9592B}" destId="{8FE570F4-74A1-4E4B-A9C2-FEEF9951194B}" srcOrd="5" destOrd="0" parTransId="{A54CC376-E0A5-B445-9C61-813839E4508B}" sibTransId="{812E3EAC-38AF-674A-9C1E-227025F3B65A}"/>
    <dgm:cxn modelId="{9F671E16-4258-48CC-AB01-0FBDC5FD6371}" srcId="{31AB68D9-DE16-4A5D-BFDC-9A708FC9592B}" destId="{751948DD-256F-4338-9C61-2CAFE114A95C}" srcOrd="4" destOrd="0" parTransId="{A11F6B15-341A-4F3A-ABA2-7ACB9953FC55}" sibTransId="{FF2FD32A-F090-4491-8695-085B97344B14}"/>
    <dgm:cxn modelId="{C4E15167-0208-134D-A349-25CD5DA5B0F2}" type="presOf" srcId="{3EBF11CB-566D-4E6A-9CAE-431E418C3602}" destId="{AC4E1FF1-F7C6-5548-AD39-2573AF9D1B33}" srcOrd="0" destOrd="0" presId="urn:microsoft.com/office/officeart/2005/8/layout/vList2"/>
    <dgm:cxn modelId="{71B1EB69-57A5-4F45-B214-69B34C628530}" type="presOf" srcId="{751948DD-256F-4338-9C61-2CAFE114A95C}" destId="{825CC8E0-6084-1F4D-A033-FADF24600860}" srcOrd="0" destOrd="0" presId="urn:microsoft.com/office/officeart/2005/8/layout/vList2"/>
    <dgm:cxn modelId="{6135EA8B-6842-F34A-B53C-35E23FB2F3B7}" type="presOf" srcId="{F449A7B0-300B-44D6-93E8-8D3D71A43375}" destId="{CAC9604B-7F59-954C-8042-7CFB568F8265}" srcOrd="0" destOrd="0" presId="urn:microsoft.com/office/officeart/2005/8/layout/vList2"/>
    <dgm:cxn modelId="{1A819C8F-401C-2346-8C20-2804D9D3A03F}" type="presOf" srcId="{31AB68D9-DE16-4A5D-BFDC-9A708FC9592B}" destId="{2A3372FE-7399-5F4F-B7A6-0AC1DF3D001A}" srcOrd="0" destOrd="0" presId="urn:microsoft.com/office/officeart/2005/8/layout/vList2"/>
    <dgm:cxn modelId="{E2A1589A-6B25-8F4E-ADD8-5CBF250B56A8}" type="presOf" srcId="{E1154E06-1E69-4941-B461-B7D24198A8DC}" destId="{383A26AB-8C80-C049-B110-A917C14C55DA}" srcOrd="0" destOrd="0" presId="urn:microsoft.com/office/officeart/2005/8/layout/vList2"/>
    <dgm:cxn modelId="{024908B7-D3D5-4F8F-BC26-0191DECC8C3C}" srcId="{31AB68D9-DE16-4A5D-BFDC-9A708FC9592B}" destId="{3EBF11CB-566D-4E6A-9CAE-431E418C3602}" srcOrd="0" destOrd="0" parTransId="{21CD8F0F-D056-4E13-8EF3-7D0355FFE5B4}" sibTransId="{3C2744A3-709D-4AC8-8067-25C9CF18A06E}"/>
    <dgm:cxn modelId="{421C0BB7-4D19-4ADF-90A9-E2EA85D29C1B}" srcId="{31AB68D9-DE16-4A5D-BFDC-9A708FC9592B}" destId="{D2C6DA9F-4A34-4BFD-A35D-61E74ACB0605}" srcOrd="1" destOrd="0" parTransId="{FEF19DB2-8C36-4D0F-B66D-68E7494925DA}" sibTransId="{61E3A2EB-123C-40B4-9C44-2F9497D14296}"/>
    <dgm:cxn modelId="{5A4C07C7-676A-DA4C-A332-FE5446961697}" type="presOf" srcId="{8FE570F4-74A1-4E4B-A9C2-FEEF9951194B}" destId="{EE0DBD0E-551E-184C-ADAF-7B7420A3A87C}" srcOrd="0" destOrd="0" presId="urn:microsoft.com/office/officeart/2005/8/layout/vList2"/>
    <dgm:cxn modelId="{A2DBE1CC-189A-4955-98D8-F0B139B372F7}" srcId="{31AB68D9-DE16-4A5D-BFDC-9A708FC9592B}" destId="{E1154E06-1E69-4941-B461-B7D24198A8DC}" srcOrd="3" destOrd="0" parTransId="{052B5572-9F65-485E-86AC-AD51BCA2A735}" sibTransId="{AD13C4D6-CEB9-4ABF-8B9F-76387AB6ADB9}"/>
    <dgm:cxn modelId="{0715AAEF-47ED-4D21-A433-DDBA705F733F}" srcId="{31AB68D9-DE16-4A5D-BFDC-9A708FC9592B}" destId="{F449A7B0-300B-44D6-93E8-8D3D71A43375}" srcOrd="2" destOrd="0" parTransId="{047BF113-B1B8-4D00-B80E-66BFF49044F7}" sibTransId="{043DD552-0112-4156-8A45-529E51BCE923}"/>
    <dgm:cxn modelId="{977BCDEF-DCFD-3C4E-B033-26206544F1E4}" type="presOf" srcId="{D2C6DA9F-4A34-4BFD-A35D-61E74ACB0605}" destId="{3B748F36-71F0-E343-BA2F-EE0050858723}" srcOrd="0" destOrd="0" presId="urn:microsoft.com/office/officeart/2005/8/layout/vList2"/>
    <dgm:cxn modelId="{0B2882B4-B7BF-9748-90C7-9B8D701ADA0D}" type="presParOf" srcId="{2A3372FE-7399-5F4F-B7A6-0AC1DF3D001A}" destId="{AC4E1FF1-F7C6-5548-AD39-2573AF9D1B33}" srcOrd="0" destOrd="0" presId="urn:microsoft.com/office/officeart/2005/8/layout/vList2"/>
    <dgm:cxn modelId="{A846F461-0CBF-8E42-9027-5B48D01F4B14}" type="presParOf" srcId="{2A3372FE-7399-5F4F-B7A6-0AC1DF3D001A}" destId="{21CA9DA3-F645-F845-9CFB-6C6F9E9F6D89}" srcOrd="1" destOrd="0" presId="urn:microsoft.com/office/officeart/2005/8/layout/vList2"/>
    <dgm:cxn modelId="{A483F4C1-E0B6-254E-8791-EBB1289E2F46}" type="presParOf" srcId="{2A3372FE-7399-5F4F-B7A6-0AC1DF3D001A}" destId="{3B748F36-71F0-E343-BA2F-EE0050858723}" srcOrd="2" destOrd="0" presId="urn:microsoft.com/office/officeart/2005/8/layout/vList2"/>
    <dgm:cxn modelId="{D5F3D61D-A697-0548-9C3C-58AD456B746F}" type="presParOf" srcId="{2A3372FE-7399-5F4F-B7A6-0AC1DF3D001A}" destId="{20E458A1-61EC-F649-ADBA-F49951A24F1E}" srcOrd="3" destOrd="0" presId="urn:microsoft.com/office/officeart/2005/8/layout/vList2"/>
    <dgm:cxn modelId="{66E0FFA0-C4C3-1041-8C7E-670CD801BEB3}" type="presParOf" srcId="{2A3372FE-7399-5F4F-B7A6-0AC1DF3D001A}" destId="{CAC9604B-7F59-954C-8042-7CFB568F8265}" srcOrd="4" destOrd="0" presId="urn:microsoft.com/office/officeart/2005/8/layout/vList2"/>
    <dgm:cxn modelId="{3BBBD277-5F8B-254A-A10C-C17B51492ADF}" type="presParOf" srcId="{2A3372FE-7399-5F4F-B7A6-0AC1DF3D001A}" destId="{AD138305-3718-0244-B2AD-86B00D212F20}" srcOrd="5" destOrd="0" presId="urn:microsoft.com/office/officeart/2005/8/layout/vList2"/>
    <dgm:cxn modelId="{1F395087-14B3-7D45-9282-F2E1FCA36D06}" type="presParOf" srcId="{2A3372FE-7399-5F4F-B7A6-0AC1DF3D001A}" destId="{383A26AB-8C80-C049-B110-A917C14C55DA}" srcOrd="6" destOrd="0" presId="urn:microsoft.com/office/officeart/2005/8/layout/vList2"/>
    <dgm:cxn modelId="{0AA67C26-8926-A640-97EA-EEA670CE8FBB}" type="presParOf" srcId="{2A3372FE-7399-5F4F-B7A6-0AC1DF3D001A}" destId="{22628199-015C-2D42-896B-9472F0831B93}" srcOrd="7" destOrd="0" presId="urn:microsoft.com/office/officeart/2005/8/layout/vList2"/>
    <dgm:cxn modelId="{4FC89CBB-55AB-974E-A1FD-17B29F1B623D}" type="presParOf" srcId="{2A3372FE-7399-5F4F-B7A6-0AC1DF3D001A}" destId="{825CC8E0-6084-1F4D-A033-FADF24600860}" srcOrd="8" destOrd="0" presId="urn:microsoft.com/office/officeart/2005/8/layout/vList2"/>
    <dgm:cxn modelId="{D6305D64-0BED-4046-BFE3-C0765877141B}" type="presParOf" srcId="{2A3372FE-7399-5F4F-B7A6-0AC1DF3D001A}" destId="{D0D8593B-267A-354E-9FE8-728A91C5C87A}" srcOrd="9" destOrd="0" presId="urn:microsoft.com/office/officeart/2005/8/layout/vList2"/>
    <dgm:cxn modelId="{F81F010E-3446-3B47-B092-A3EBF340ED7D}" type="presParOf" srcId="{2A3372FE-7399-5F4F-B7A6-0AC1DF3D001A}" destId="{EE0DBD0E-551E-184C-ADAF-7B7420A3A8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E1FF1-F7C6-5548-AD39-2573AF9D1B33}">
      <dsp:nvSpPr>
        <dsp:cNvPr id="0" name=""/>
        <dsp:cNvSpPr/>
      </dsp:nvSpPr>
      <dsp:spPr>
        <a:xfrm>
          <a:off x="0" y="2335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ptos Display" panose="020B0004020202020204" pitchFamily="34" charset="0"/>
            </a:rPr>
            <a:t>EDA (Exploratory Data Analysis</a:t>
          </a:r>
        </a:p>
      </dsp:txBody>
      <dsp:txXfrm>
        <a:off x="44170" y="46505"/>
        <a:ext cx="5303854" cy="816493"/>
      </dsp:txXfrm>
    </dsp:sp>
    <dsp:sp modelId="{3B748F36-71F0-E343-BA2F-EE0050858723}">
      <dsp:nvSpPr>
        <dsp:cNvPr id="0" name=""/>
        <dsp:cNvSpPr/>
      </dsp:nvSpPr>
      <dsp:spPr>
        <a:xfrm>
          <a:off x="0" y="921371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u="none" kern="1200" dirty="0">
              <a:latin typeface="Aptos Display" panose="020B0004020202020204" pitchFamily="34" charset="0"/>
            </a:rPr>
            <a:t>Data pre-processing: Missing value treatment, Outlier Check</a:t>
          </a:r>
          <a:endParaRPr lang="en-US" sz="1500" kern="1200" dirty="0">
            <a:latin typeface="Aptos Display" panose="020B0004020202020204" pitchFamily="34" charset="0"/>
          </a:endParaRPr>
        </a:p>
      </dsp:txBody>
      <dsp:txXfrm>
        <a:off x="44170" y="965541"/>
        <a:ext cx="5303854" cy="816493"/>
      </dsp:txXfrm>
    </dsp:sp>
    <dsp:sp modelId="{CAC9604B-7F59-954C-8042-7CFB568F8265}">
      <dsp:nvSpPr>
        <dsp:cNvPr id="0" name=""/>
        <dsp:cNvSpPr/>
      </dsp:nvSpPr>
      <dsp:spPr>
        <a:xfrm>
          <a:off x="0" y="1840408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Aptos Display" panose="020B0004020202020204" pitchFamily="34" charset="0"/>
            </a:rPr>
            <a:t>Apply K Means Clustering: Apply K-means Clustering - Plot the Elbow curve - Check Silhouette Scores - Figure out appropriate number of clusters - Cluster Profiling</a:t>
          </a:r>
        </a:p>
      </dsp:txBody>
      <dsp:txXfrm>
        <a:off x="44170" y="1884578"/>
        <a:ext cx="5303854" cy="816493"/>
      </dsp:txXfrm>
    </dsp:sp>
    <dsp:sp modelId="{383A26AB-8C80-C049-B110-A917C14C55DA}">
      <dsp:nvSpPr>
        <dsp:cNvPr id="0" name=""/>
        <dsp:cNvSpPr/>
      </dsp:nvSpPr>
      <dsp:spPr>
        <a:xfrm>
          <a:off x="0" y="2759445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Aptos Display" panose="020B0004020202020204" pitchFamily="34" charset="0"/>
            </a:rPr>
            <a:t>Applying Hierarchical clustering: 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>
              <a:latin typeface="Aptos Display" panose="020B0004020202020204" pitchFamily="34" charset="0"/>
            </a:rPr>
            <a:t>Hierarchical clustering, Dendrograms, cophenetic correlation, Cluster Profiling</a:t>
          </a:r>
        </a:p>
      </dsp:txBody>
      <dsp:txXfrm>
        <a:off x="44170" y="2803615"/>
        <a:ext cx="5303854" cy="816493"/>
      </dsp:txXfrm>
    </dsp:sp>
    <dsp:sp modelId="{825CC8E0-6084-1F4D-A033-FADF24600860}">
      <dsp:nvSpPr>
        <dsp:cNvPr id="0" name=""/>
        <dsp:cNvSpPr/>
      </dsp:nvSpPr>
      <dsp:spPr>
        <a:xfrm>
          <a:off x="0" y="3715306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 panose="020B0004020202020204" pitchFamily="34" charset="0"/>
            </a:rPr>
            <a:t> </a:t>
          </a:r>
          <a:r>
            <a:rPr lang="en-US" sz="1500" b="1" kern="1200" dirty="0">
              <a:latin typeface="Aptos Display" panose="020B0004020202020204" pitchFamily="34" charset="0"/>
            </a:rPr>
            <a:t>K-Means vs Hierarchical Clustering</a:t>
          </a:r>
        </a:p>
      </dsp:txBody>
      <dsp:txXfrm>
        <a:off x="44170" y="3759476"/>
        <a:ext cx="5303854" cy="816493"/>
      </dsp:txXfrm>
    </dsp:sp>
    <dsp:sp modelId="{EE0DBD0E-551E-184C-ADAF-7B7420A3A87C}">
      <dsp:nvSpPr>
        <dsp:cNvPr id="0" name=""/>
        <dsp:cNvSpPr/>
      </dsp:nvSpPr>
      <dsp:spPr>
        <a:xfrm>
          <a:off x="0" y="4597519"/>
          <a:ext cx="5392194" cy="90483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2700" h="254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Aptos Display" panose="020B0004020202020204" pitchFamily="34" charset="0"/>
            </a:rPr>
            <a:t>Actionable Insights ad recommendations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44170" y="4641689"/>
        <a:ext cx="5303854" cy="8164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008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06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56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0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3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8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6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0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7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9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9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11/3/24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8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F4CD6D0-88B6-45F4-AC60-54587D3C9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ata displayed on screen">
            <a:extLst>
              <a:ext uri="{FF2B5EF4-FFF2-40B4-BE49-F238E27FC236}">
                <a16:creationId xmlns:a16="http://schemas.microsoft.com/office/drawing/2014/main" id="{8DDDC574-814D-E2B3-7EFB-431DEB1C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91" b="3539"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2E86F6D-198D-45C3-AC93-8D31B8A4D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2678805"/>
            <a:ext cx="12191999" cy="417919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40000"/>
                </a:srgbClr>
              </a:gs>
              <a:gs pos="100000">
                <a:srgbClr val="000000">
                  <a:alpha val="0"/>
                </a:srgbClr>
              </a:gs>
              <a:gs pos="37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8B528-C6E3-C378-7465-9B16B756A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09" y="3273552"/>
            <a:ext cx="4754295" cy="282825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 b="1" u="sng" dirty="0">
                <a:solidFill>
                  <a:srgbClr val="FFFFFF"/>
                </a:solidFill>
                <a:latin typeface="Century" panose="02040604050505020304" pitchFamily="18" charset="0"/>
              </a:rPr>
              <a:t>Case Study 7 </a:t>
            </a:r>
            <a:br>
              <a:rPr lang="en-US" sz="3000" b="1" u="sng" dirty="0">
                <a:solidFill>
                  <a:srgbClr val="FFFFFF"/>
                </a:solidFill>
                <a:latin typeface="Century" panose="02040604050505020304" pitchFamily="18" charset="0"/>
              </a:rPr>
            </a:br>
            <a:r>
              <a:rPr lang="en-US" sz="3000" b="1" u="sng" dirty="0">
                <a:solidFill>
                  <a:srgbClr val="FFFFFF"/>
                </a:solidFill>
                <a:latin typeface="Century" panose="02040604050505020304" pitchFamily="18" charset="0"/>
              </a:rPr>
              <a:t>Unsupervised Learning</a:t>
            </a:r>
            <a:br>
              <a:rPr lang="en-US" sz="3000" b="1" u="sng" dirty="0">
                <a:solidFill>
                  <a:srgbClr val="FFFFFF"/>
                </a:solidFill>
                <a:latin typeface="Century" panose="02040604050505020304" pitchFamily="18" charset="0"/>
              </a:rPr>
            </a:br>
            <a:r>
              <a:rPr lang="en-US" sz="3000" b="1" u="sng" dirty="0" err="1">
                <a:solidFill>
                  <a:srgbClr val="FFFFFF"/>
                </a:solidFill>
                <a:latin typeface="Century" panose="02040604050505020304" pitchFamily="18" charset="0"/>
              </a:rPr>
              <a:t>Trail&amp;Ahead</a:t>
            </a:r>
            <a:br>
              <a:rPr lang="en-US" sz="1900" b="1" dirty="0">
                <a:solidFill>
                  <a:srgbClr val="FFFFFF"/>
                </a:solidFill>
                <a:latin typeface="Century" panose="02040604050505020304" pitchFamily="18" charset="0"/>
              </a:rPr>
            </a:br>
            <a:endParaRPr lang="en-US" sz="1900" b="1" i="1" dirty="0">
              <a:solidFill>
                <a:srgbClr val="FFFFFF"/>
              </a:solidFill>
              <a:latin typeface="Century" panose="020406040505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30CB1-7603-974F-BFB3-0D0696050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769810"/>
            <a:ext cx="5140952" cy="1813870"/>
          </a:xfrm>
        </p:spPr>
        <p:txBody>
          <a:bodyPr anchor="ctr">
            <a:normAutofit/>
          </a:bodyPr>
          <a:lstStyle/>
          <a:p>
            <a:r>
              <a:rPr lang="en-US" sz="3000" b="1" i="1" dirty="0" err="1">
                <a:solidFill>
                  <a:srgbClr val="FFFFFF">
                    <a:alpha val="80000"/>
                  </a:srgbClr>
                </a:solidFill>
                <a:latin typeface="Century" panose="02040604050505020304" pitchFamily="18" charset="0"/>
              </a:rPr>
              <a:t>Nafis</a:t>
            </a:r>
            <a:r>
              <a:rPr lang="en-US" sz="3000" b="1" i="1" dirty="0">
                <a:solidFill>
                  <a:srgbClr val="FFFFFF">
                    <a:alpha val="80000"/>
                  </a:srgbClr>
                </a:solidFill>
                <a:latin typeface="Century" panose="02040604050505020304" pitchFamily="18" charset="0"/>
              </a:rPr>
              <a:t> Zafar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14D892-36B8-4065-9158-50C22E1E6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5810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093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8FD33-A783-498F-8569-F45932BB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684203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anchor="b">
            <a:normAutofit/>
          </a:bodyPr>
          <a:lstStyle/>
          <a:p>
            <a:pPr algn="ctr"/>
            <a:r>
              <a:rPr lang="en-US" u="sng" dirty="0">
                <a:latin typeface="Century" panose="02040604050505020304" pitchFamily="18" charset="0"/>
              </a:rPr>
              <a:t>Objectives</a:t>
            </a:r>
            <a:r>
              <a:rPr lang="en-US" u="sng" dirty="0"/>
              <a:t>:</a:t>
            </a:r>
          </a:p>
        </p:txBody>
      </p:sp>
      <p:pic>
        <p:nvPicPr>
          <p:cNvPr id="3" name="Picture 2" descr="Data displayed on screen">
            <a:extLst>
              <a:ext uri="{FF2B5EF4-FFF2-40B4-BE49-F238E27FC236}">
                <a16:creationId xmlns:a16="http://schemas.microsoft.com/office/drawing/2014/main" id="{E6FB8CD1-EA07-97C9-9243-ABAC012EF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54" r="24094" b="-2"/>
          <a:stretch/>
        </p:blipFill>
        <p:spPr>
          <a:xfrm>
            <a:off x="717006" y="540000"/>
            <a:ext cx="5778000" cy="5778000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A94624C-61B4-49AC-CF28-2814402C04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824843"/>
              </p:ext>
            </p:extLst>
          </p:nvPr>
        </p:nvGraphicFramePr>
        <p:xfrm>
          <a:off x="6495006" y="1225296"/>
          <a:ext cx="539219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600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40B90-DBFB-6F51-31DC-62C3F50A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676" y="148798"/>
            <a:ext cx="7248345" cy="801269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A0DDF8-2888-7477-8FB7-1DD5158A5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1676" y="1270000"/>
            <a:ext cx="7789335" cy="2159000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latin typeface="Aptos Display" panose="020B0004020202020204" pitchFamily="34" charset="0"/>
              </a:rPr>
              <a:t>There are 340 rows and 15 columns in the dataset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Aptos Display" panose="020B0004020202020204" pitchFamily="34" charset="0"/>
              </a:rPr>
              <a:t>There are 4 non-numeric columns and 11 numeric/data columns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Aptos Display" panose="020B0004020202020204" pitchFamily="34" charset="0"/>
              </a:rPr>
              <a:t>There are 0 duplicate values in the data set</a:t>
            </a:r>
          </a:p>
          <a:p>
            <a:pPr>
              <a:lnSpc>
                <a:spcPct val="140000"/>
              </a:lnSpc>
            </a:pPr>
            <a:r>
              <a:rPr lang="en-US" sz="1800" dirty="0">
                <a:latin typeface="Aptos Display" panose="020B0004020202020204" pitchFamily="34" charset="0"/>
              </a:rPr>
              <a:t>There are no NULL values in the dataset</a:t>
            </a:r>
          </a:p>
          <a:p>
            <a:pPr>
              <a:lnSpc>
                <a:spcPct val="140000"/>
              </a:lnSpc>
            </a:pPr>
            <a:endParaRPr lang="en-US" sz="1100" dirty="0">
              <a:latin typeface="Aptos Display" panose="020B0004020202020204" pitchFamily="34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0EB47BC8-818D-3A4C-7B98-37226D4AA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FB4871-174E-AD74-A5E3-441E88455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558" y="3283705"/>
            <a:ext cx="7078604" cy="34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76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EE96A74-B62B-4642-AB22-7776A5F4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8C0C5-5E75-7AEA-ADDB-A0AD587F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32" y="270000"/>
            <a:ext cx="7061199" cy="915334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  <a:endParaRPr lang="en-US" sz="3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A513CAD-9784-4D35-BAF9-1F7DDD69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C7999-746B-D499-39F6-245F02EF8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733" y="1016000"/>
            <a:ext cx="4043003" cy="297078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The mean current price of stock is 80.86 and mean price change is 4.06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Net Cash Flow is </a:t>
            </a:r>
            <a:r>
              <a:rPr lang="en-US" sz="1800" b="0" i="0" dirty="0">
                <a:effectLst/>
                <a:latin typeface="Aptos Display" panose="020B0004020202020204" pitchFamily="34" charset="0"/>
              </a:rPr>
              <a:t>55537620.58 and Net Income of stocks is 1494384602.941</a:t>
            </a:r>
            <a:endParaRPr lang="en-US" sz="1800" dirty="0">
              <a:latin typeface="Aptos Display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BE681-8B2C-12A0-8DDB-D231A0125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493" y="1016000"/>
            <a:ext cx="3692455" cy="5401616"/>
          </a:xfrm>
          <a:prstGeom prst="rect">
            <a:avLst/>
          </a:prstGeom>
        </p:spPr>
      </p:pic>
      <p:pic>
        <p:nvPicPr>
          <p:cNvPr id="6" name="Picture 5" descr="Data displayed on screen">
            <a:extLst>
              <a:ext uri="{FF2B5EF4-FFF2-40B4-BE49-F238E27FC236}">
                <a16:creationId xmlns:a16="http://schemas.microsoft.com/office/drawing/2014/main" id="{2275832B-4E8B-5011-E185-E9328E0A4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CBF705-B72F-1733-A573-C5B427527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509" y="4287662"/>
            <a:ext cx="4514984" cy="212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80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13687-4F97-9AAA-0C35-1BA69CEB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2E68ADC-039A-7141-C33E-2C0E2424F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CAD0C-477F-23D1-31D2-C9995FF1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32" y="270000"/>
            <a:ext cx="7061199" cy="915334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  <a:endParaRPr lang="en-US" sz="3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3157EBC-F873-F220-69F0-2A12F555D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10864-9F5C-2DC0-BACD-FF454C2E4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733" y="1016000"/>
            <a:ext cx="7302499" cy="2751328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The earning per share is a linear one while majority share earnings are between 0 and 10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The majority of the GICS Sector are within Financial, Healthcare, Industrials and Consumer Discretionary industries</a:t>
            </a:r>
          </a:p>
        </p:txBody>
      </p:sp>
      <p:pic>
        <p:nvPicPr>
          <p:cNvPr id="6" name="Picture 5" descr="Data displayed on screen">
            <a:extLst>
              <a:ext uri="{FF2B5EF4-FFF2-40B4-BE49-F238E27FC236}">
                <a16:creationId xmlns:a16="http://schemas.microsoft.com/office/drawing/2014/main" id="{C982768E-FFA6-A9FE-566F-D660F91E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8F6504-4A05-5FB3-D45E-46F68ED47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318" y="4219630"/>
            <a:ext cx="3351130" cy="2368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116C4-848C-9ACB-6263-4D9B675C8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720" y="3936998"/>
            <a:ext cx="4929932" cy="275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5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17C4A-5C7E-A9FC-D2B0-CBAB3D6A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2A11D8B-D7FE-CD85-18AA-83BD874E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5750B-6526-18C4-E7DA-E0DF8FBCC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32" y="270000"/>
            <a:ext cx="7061199" cy="915334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  <a:endParaRPr lang="en-US" sz="3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EEC7BA3-7E3A-3EE2-C969-CE6A8EF36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9735-4BD3-DEE2-E9DE-449BE4685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733" y="1016000"/>
            <a:ext cx="7755467" cy="1901241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We can see high correlation between Current Price and Earning, Outstanding Share and Net Income,  Earning and Net Income.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We observed that except for Energy all GISC sectors have positive Price Increase.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IT sector has the highest Cash Ratio while Utilities sector has the lowest</a:t>
            </a:r>
          </a:p>
        </p:txBody>
      </p:sp>
      <p:pic>
        <p:nvPicPr>
          <p:cNvPr id="6" name="Picture 5" descr="Data displayed on screen">
            <a:extLst>
              <a:ext uri="{FF2B5EF4-FFF2-40B4-BE49-F238E27FC236}">
                <a16:creationId xmlns:a16="http://schemas.microsoft.com/office/drawing/2014/main" id="{B0A199A8-64A6-6B3A-1D6C-6168B6F56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B1395B-4ACE-E096-8046-5F43FADC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732" y="3153513"/>
            <a:ext cx="7537449" cy="370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98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97E6D-E548-6ED1-A340-9B017AB4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D5BCAC7-8B77-A221-6001-D3870F030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8208A-7AB4-57EA-31E6-EBA54538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732" y="270000"/>
            <a:ext cx="7061199" cy="915334"/>
          </a:xfrm>
        </p:spPr>
        <p:txBody>
          <a:bodyPr anchor="ctr">
            <a:normAutofit/>
          </a:bodyPr>
          <a:lstStyle/>
          <a:p>
            <a:pPr algn="ctr"/>
            <a:r>
              <a:rPr lang="en-US" sz="3500" u="sng" dirty="0">
                <a:latin typeface="Century" panose="02040604050505020304" pitchFamily="18" charset="0"/>
              </a:rPr>
              <a:t>EDA (Exploratory Data Analysis)</a:t>
            </a:r>
            <a:endParaRPr lang="en-US" sz="35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0801167-7212-C292-4F63-024CB7B7F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714750" y="1691606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12CCA-64D8-180A-EC23-C96774186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6126" y="1185334"/>
            <a:ext cx="7755467" cy="2111248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Energy Sector has the highest PE Ratio and highest Volatility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Telecommunications Sector has lowest P/E Ratio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Aptos Display" panose="020B0004020202020204" pitchFamily="34" charset="0"/>
              </a:rPr>
              <a:t>Utilities Sector has the lowest Volatility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Aptos Display" panose="020B0004020202020204" pitchFamily="34" charset="0"/>
            </a:endParaRPr>
          </a:p>
        </p:txBody>
      </p:sp>
      <p:pic>
        <p:nvPicPr>
          <p:cNvPr id="6" name="Picture 5" descr="Data displayed on screen">
            <a:extLst>
              <a:ext uri="{FF2B5EF4-FFF2-40B4-BE49-F238E27FC236}">
                <a16:creationId xmlns:a16="http://schemas.microsoft.com/office/drawing/2014/main" id="{20F361BF-6228-3071-BCAE-2B849B98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2D2E1E-0D81-518A-8CC5-84CA8135F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532853"/>
            <a:ext cx="7379121" cy="317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9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FEDE1-A591-2693-0444-34741560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933" y="423382"/>
            <a:ext cx="8568267" cy="858720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i="0" u="sng" dirty="0">
                <a:solidFill>
                  <a:srgbClr val="002060"/>
                </a:solidFill>
                <a:latin typeface="Century" panose="02040604050505020304" pitchFamily="18" charset="0"/>
              </a:rPr>
              <a:t>Data pre-processing: Missing value treatment, Outlier Check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82D4-4D50-EEC5-21F1-4EA1D48A2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The Dataset does not have missing values or NULL values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The Price of Shares averages 80 but we see some outlier values ranging from 200 to 700 and one extreme at 1200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Price Change, Net Cash Flow, Net Income and Earning have both positive and negative outliers</a:t>
            </a: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7632AB46-FF7B-2B5E-FDFD-3DF2B01ED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53B0A0-FB80-9A1D-E569-9C93DCB70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60" y="2962656"/>
            <a:ext cx="7772400" cy="384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96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D064E-D33D-D326-41D4-2C9AC1CD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446CEAA-390F-E454-3A45-7E1AF68A0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C4C74-8A77-8CBD-2999-20B5087F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933" y="423382"/>
            <a:ext cx="8568267" cy="858720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i="0" u="sng" dirty="0">
                <a:solidFill>
                  <a:srgbClr val="002060"/>
                </a:solidFill>
                <a:latin typeface="Century" panose="02040604050505020304" pitchFamily="18" charset="0"/>
              </a:rPr>
              <a:t>Apply K Means </a:t>
            </a:r>
            <a:r>
              <a:rPr lang="en-US" i="0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Clutering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4A809-3B2C-BFF1-44DF-13462032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We did 14 K-Means Clustering on the dataset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The avg distortion on 1 cluster is 2.54 and the for 14 clusters is 1.67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FBC5F7A7-7FAA-7A98-FDDC-3EAC03319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91033B-3ADE-E87F-CC8F-DEBF4E0F8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60" y="2293112"/>
            <a:ext cx="7772400" cy="433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61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3ED2BD-DC0A-6BF8-7537-1DBE3B82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97B4ECD-6AA3-FE5D-BBB1-94A7001B8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0E8D0-4C56-3D0D-3309-4E8E2C9C3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423382"/>
            <a:ext cx="7936993" cy="858720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i="0" u="sng" dirty="0">
                <a:solidFill>
                  <a:srgbClr val="002060"/>
                </a:solidFill>
                <a:latin typeface="Century" panose="02040604050505020304" pitchFamily="18" charset="0"/>
              </a:rPr>
              <a:t>Apply K Means </a:t>
            </a:r>
            <a:r>
              <a:rPr lang="en-US" i="0" u="sng" dirty="0" err="1">
                <a:solidFill>
                  <a:srgbClr val="002060"/>
                </a:solidFill>
                <a:latin typeface="Century" panose="02040604050505020304" pitchFamily="18" charset="0"/>
              </a:rPr>
              <a:t>Clutering</a:t>
            </a:r>
            <a:r>
              <a:rPr lang="en-US" u="sng" dirty="0">
                <a:solidFill>
                  <a:srgbClr val="002060"/>
                </a:solidFill>
                <a:latin typeface="Century" panose="02040604050505020304" pitchFamily="18" charset="0"/>
              </a:rPr>
              <a:t>: Plot Elbow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7AD02-A86F-04E4-C3E0-D4B4BC59A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entury" panose="02040604050505020304" pitchFamily="18" charset="0"/>
              </a:rPr>
              <a:t>Elbow is at K=6 and score is 2210</a:t>
            </a: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970513CC-6970-0FEE-9883-AB04E81F0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2E4D43-E6AF-8BF1-B08C-356D437B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60" y="1837563"/>
            <a:ext cx="7772400" cy="467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65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3BB4C-2764-BDD8-D2A8-77759A59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F420FCE-4ABA-6878-390A-0CDF90E8F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12488-E213-EA25-4D66-32376CEE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423382"/>
            <a:ext cx="7936993" cy="648789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Check Silhouette Scores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8BA69-3FE0-231B-AA95-6AD73129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For </a:t>
            </a:r>
            <a:r>
              <a:rPr lang="en-US" sz="1600" dirty="0" err="1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n_clusters</a:t>
            </a: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 = 2, the silhouette score is 0.43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For </a:t>
            </a:r>
            <a:r>
              <a:rPr lang="en-US" sz="1600" dirty="0" err="1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n_clusters</a:t>
            </a: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 = 14, the silhouette score is 0.12</a:t>
            </a: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5AEAEFB7-169C-E48E-C6AF-BD01BF1E1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91B45-6B16-215B-1C36-B553009A6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3" y="2207503"/>
            <a:ext cx="7772400" cy="44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30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5ADAB8-724A-53C8-2718-397DC480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AA414F-5B9D-10F2-7248-86E26D8F3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2CB3E-6EE6-B3D9-0BC6-32E846AD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423382"/>
            <a:ext cx="7936993" cy="648789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Plot of Silhouette Scores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74C3F-52B5-1C39-3EE0-EC7A4888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Following is plot of Silhouette clustering for 340 samples in 4 </a:t>
            </a:r>
            <a:r>
              <a:rPr lang="en-US" sz="1600" dirty="0" err="1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centeres</a:t>
            </a:r>
            <a:endParaRPr lang="en-US" sz="1600" dirty="0">
              <a:solidFill>
                <a:schemeClr val="accent5">
                  <a:lumMod val="50000"/>
                  <a:alpha val="60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B34E3A7B-8A29-1F0B-E0A0-28B65F97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E0211-4404-C0D4-A7EF-4570942F9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3" y="2293112"/>
            <a:ext cx="7772400" cy="43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9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76CE2-F82B-127E-1C28-DBC95BA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EF870B1-B6F5-CD83-90C5-DB88DF96A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E65A5-AD04-BA48-FD76-C90C1919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423382"/>
            <a:ext cx="7936993" cy="648789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Cluster Profiling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CA7E5-5A46-2A05-368A-EE90A0CF1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0207" y="1422400"/>
            <a:ext cx="8106325" cy="1741424"/>
          </a:xfr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Here are the scores of cluster profile by KM Segments 0 to 3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5">
                    <a:lumMod val="50000"/>
                    <a:alpha val="60000"/>
                  </a:schemeClr>
                </a:solidFill>
                <a:latin typeface="Century" panose="02040604050505020304" pitchFamily="18" charset="0"/>
              </a:rPr>
              <a:t>For Cash Price and Cash ratio segment 3 provides higher numbers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5">
                  <a:lumMod val="50000"/>
                  <a:alpha val="60000"/>
                </a:schemeClr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5257346C-C183-3B74-F8E7-9EBAF2177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F7BFD2-1ADD-E5B9-3F71-81945CAF7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73" y="2293112"/>
            <a:ext cx="7926191" cy="1678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EC1144-F757-4839-5E3A-A4827CAB17CD}"/>
              </a:ext>
            </a:extLst>
          </p:cNvPr>
          <p:cNvSpPr txBox="1"/>
          <p:nvPr/>
        </p:nvSpPr>
        <p:spPr>
          <a:xfrm>
            <a:off x="4311396" y="4104150"/>
            <a:ext cx="7173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entury" panose="02040604050505020304" pitchFamily="18" charset="0"/>
              </a:rPr>
              <a:t>In cluster 1, the following companies are present: ['Citigroup Inc.' 'Ford Motor' 'Gilead Sciences' 'Intel Corp.' 'JPMorgan Chase &amp; Co.' 'Coca Cola Company' 'Pfizer Inc.' 'AT&amp;T Inc' 'Verizon Communications' 'Wells Fargo' 'Exxon Mobil Corp.']</a:t>
            </a:r>
          </a:p>
        </p:txBody>
      </p:sp>
    </p:spTree>
    <p:extLst>
      <p:ext uri="{BB962C8B-B14F-4D97-AF65-F5344CB8AC3E}">
        <p14:creationId xmlns:p14="http://schemas.microsoft.com/office/powerpoint/2010/main" val="4206973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36F3E-E683-5CF5-9912-FF060106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6BE3BD2-B63A-417A-38E3-B07547ABF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994CE-2199-BD24-2166-F0230BB1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423382"/>
            <a:ext cx="7936993" cy="648789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Boxplots of variables by Clusters</a:t>
            </a:r>
            <a:endParaRPr lang="en-US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5B3BF3CB-7FC4-EA2A-8388-046B30B76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C3E545-1C51-4902-81EC-2E5540F0B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3441" y="1202945"/>
            <a:ext cx="7490524" cy="2430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D9927C-7A06-5453-529F-A72EE744B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440" y="3901649"/>
            <a:ext cx="7490525" cy="253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4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F72B3C-288A-43D1-C207-3A8DC5A8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199F0C7-E2BD-3AF3-DFE7-94DB4AB07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477E4-EC98-050D-07CB-DC50151FA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2000" u="sng" dirty="0">
                <a:solidFill>
                  <a:srgbClr val="002060"/>
                </a:solidFill>
                <a:latin typeface="Century" panose="02040604050505020304" pitchFamily="18" charset="0"/>
              </a:rPr>
              <a:t>Apply hierarchical Clustering with different linkage method and apply dendrogram</a:t>
            </a: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545EEC81-F02B-7EAC-586B-0A6F2A320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D13608-03CF-3ED9-8B5D-64B42DCC5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8224" y="1685925"/>
            <a:ext cx="7490524" cy="2556891"/>
          </a:xfrm>
        </p:spPr>
        <p:txBody>
          <a:bodyPr>
            <a:normAutofit fontScale="92500" lnSpcReduction="20000"/>
          </a:bodyPr>
          <a:lstStyle/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By c</a:t>
            </a:r>
            <a:r>
              <a:rPr lang="en-US" sz="1500" i="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omputing Cophenetic Correlation we see that </a:t>
            </a:r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Highest cophenetic correlation is 0.942, which is obtained with Euclidean distance and average linkage.</a:t>
            </a:r>
            <a:endParaRPr lang="en-US" sz="1500" i="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pPr algn="l"/>
            <a:r>
              <a:rPr lang="en-US" sz="1500" b="0" i="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The cophenetic correlation is highest for average and average linkage methods.</a:t>
            </a:r>
          </a:p>
          <a:p>
            <a:pPr algn="l"/>
            <a:r>
              <a:rPr lang="en-US" sz="1500" b="0" i="0" dirty="0">
                <a:solidFill>
                  <a:schemeClr val="tx1"/>
                </a:solidFill>
                <a:effectLst/>
                <a:latin typeface="Century" panose="02040604050505020304" pitchFamily="18" charset="0"/>
              </a:rPr>
              <a:t>We will move ahead with average linkage.</a:t>
            </a:r>
          </a:p>
          <a:p>
            <a:pPr algn="l"/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6 appears to be appropriate  number of cluster </a:t>
            </a:r>
            <a:endParaRPr lang="en-US" sz="1500" b="0" i="0" dirty="0">
              <a:solidFill>
                <a:schemeClr val="tx1"/>
              </a:solidFill>
              <a:effectLst/>
              <a:latin typeface="Century" panose="020406040505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FED74D-BF83-F0E6-8873-35064DE24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7" y="2990301"/>
            <a:ext cx="2822495" cy="2090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FE2632-CD88-B349-AC10-448156B98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364" y="5120640"/>
            <a:ext cx="8176636" cy="167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63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79DF4-EF83-6DA0-302B-0ECDD1D5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8B4DC0B-F1B9-6123-808D-528113244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A31B63-C311-10ED-C2ED-9F44ABB5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1200" b="0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en-US" sz="2000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Figure out appropriate number of clusters - Cluster Profiling</a:t>
            </a:r>
            <a:endParaRPr lang="en-US" sz="2000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2D2F2407-4AB6-E09E-D6F3-19CA9EE4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A49AAE-7350-5BC8-1A91-F5D1BB5D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511" y="4303247"/>
            <a:ext cx="7172073" cy="40233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u="sng" dirty="0">
                <a:solidFill>
                  <a:schemeClr val="tx1"/>
                </a:solidFill>
                <a:latin typeface="Century" panose="02040604050505020304" pitchFamily="18" charset="0"/>
              </a:rPr>
              <a:t>Cluster Profile: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FD93B1-4C90-F65A-2DCB-1AEF6CBBC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737" y="1787755"/>
            <a:ext cx="7772400" cy="23895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33B1EA-CE7D-120E-A28E-D92C1D043E59}"/>
              </a:ext>
            </a:extLst>
          </p:cNvPr>
          <p:cNvSpPr txBox="1"/>
          <p:nvPr/>
        </p:nvSpPr>
        <p:spPr>
          <a:xfrm>
            <a:off x="4096511" y="1309416"/>
            <a:ext cx="7351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solidFill>
                  <a:srgbClr val="002060"/>
                </a:solidFill>
                <a:latin typeface="Century" panose="02040604050505020304" pitchFamily="18" charset="0"/>
              </a:rPr>
              <a:t>Dendrogram with Average Linkage has highest Cophenetic correlation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0C8880-E131-371A-B418-9C4C38DEF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456" y="4705583"/>
            <a:ext cx="8105681" cy="212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06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60066-3255-7F45-B9CA-F1F7A47D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FE847C4-B717-3BA7-538C-684B42FA8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08199-0D60-7982-5AD0-A0BCAC9A5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1200" b="0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en-US" sz="2000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Figure out appropriate number of clusters - Cluster Profiling</a:t>
            </a:r>
            <a:endParaRPr lang="en-US" sz="2000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FF4F3C71-8E87-FA39-BD9E-319B1849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59483E-91FC-F092-7248-6FA514CE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660" y="1207009"/>
            <a:ext cx="7471088" cy="3035808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Profile:</a:t>
            </a:r>
          </a:p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2 has 330 companies which is the highest number. In this cluster P/B, P/E ratio and Cash Flow is low</a:t>
            </a:r>
          </a:p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1 has only 2 companies (</a:t>
            </a:r>
            <a:r>
              <a:rPr lang="en-US" sz="1400" dirty="0"/>
              <a:t>'Bank of America Corp' 'Intel Corp.’</a:t>
            </a:r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) that shows high cash flow and Net Earnings</a:t>
            </a:r>
          </a:p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0 has 3 companies (</a:t>
            </a:r>
            <a:r>
              <a:rPr lang="en-US" sz="1400" dirty="0"/>
              <a:t>'Alexion Pharmaceuticals' '</a:t>
            </a:r>
            <a:r>
              <a:rPr lang="en-US" sz="1400" dirty="0" err="1"/>
              <a:t>Amazon.com</a:t>
            </a:r>
            <a:r>
              <a:rPr lang="en-US" sz="1400" dirty="0"/>
              <a:t> Inc' 'Netflix Inc.’</a:t>
            </a:r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) and it has high volatility and high P/E ratio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96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2CF0E-2565-5021-2D3F-549C75194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14434DA-B89B-E3A8-EE78-2CDE534D1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A65DA4-F0C4-E2E3-DCD0-04F1052C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1200" b="0" i="0" dirty="0">
                <a:solidFill>
                  <a:srgbClr val="000000"/>
                </a:solidFill>
                <a:effectLst/>
                <a:latin typeface="Inter"/>
              </a:rPr>
              <a:t> </a:t>
            </a:r>
            <a:r>
              <a:rPr lang="en-US" sz="2000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Figure out appropriate number of clusters - Cluster Profiling</a:t>
            </a:r>
            <a:endParaRPr lang="en-US" sz="2000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BCBFCE89-5D24-5C1A-900E-48166C24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275A5F-6D3E-03F5-60E7-79FD2BB7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660" y="1207009"/>
            <a:ext cx="7204324" cy="621791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Profile (Boxplot of variables by for all clusters)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5DDB9-E646-D3D2-45EA-DD7BA3E6D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660" y="1663560"/>
            <a:ext cx="7772400" cy="2140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C9C00A-46C1-E8D5-B8C2-FB57ECE65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916312"/>
            <a:ext cx="7772400" cy="255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96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DD7B8-6E32-8A6F-11D4-635342C6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EE383AD-10B4-9095-6E23-DA95F02F7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9F4CF-3EB7-EF50-BFFE-6B2BFE08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1800" b="0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 </a:t>
            </a:r>
            <a:r>
              <a:rPr lang="en-US" sz="1800" b="1" i="0" u="sng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K-means vs Hierarchical Clustering</a:t>
            </a:r>
            <a:endParaRPr lang="en-US" sz="1800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DECDEC03-2B4F-3A42-C645-D30E752B6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092F81-C21F-76DF-9212-FB808AB6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660" y="1207009"/>
            <a:ext cx="7204324" cy="1901951"/>
          </a:xfrm>
        </p:spPr>
        <p:txBody>
          <a:bodyPr>
            <a:normAutofit fontScale="70000" lnSpcReduction="20000"/>
          </a:bodyPr>
          <a:lstStyle/>
          <a:p>
            <a:r>
              <a:rPr lang="en-US" sz="1900" dirty="0">
                <a:solidFill>
                  <a:srgbClr val="002060"/>
                </a:solidFill>
                <a:latin typeface="Century" panose="02040604050505020304" pitchFamily="18" charset="0"/>
              </a:rPr>
              <a:t>K-Means Cluster took less execution time</a:t>
            </a:r>
          </a:p>
          <a:p>
            <a:r>
              <a:rPr lang="en-US" sz="1900" b="0" i="0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 Hierarchal clustering was able to provide better clustering </a:t>
            </a:r>
          </a:p>
          <a:p>
            <a:r>
              <a:rPr lang="en-US" sz="1900" dirty="0">
                <a:solidFill>
                  <a:srgbClr val="002060"/>
                </a:solidFill>
                <a:latin typeface="Century" panose="02040604050505020304" pitchFamily="18" charset="0"/>
              </a:rPr>
              <a:t>H</a:t>
            </a:r>
            <a:r>
              <a:rPr lang="en-US" sz="1900" b="0" i="0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ierarchical clustering has comparatively diverse and balanced clusters</a:t>
            </a:r>
            <a:endParaRPr lang="en-US" sz="1900" dirty="0">
              <a:solidFill>
                <a:srgbClr val="002060"/>
              </a:solidFill>
              <a:latin typeface="Century" panose="02040604050505020304" pitchFamily="18" charset="0"/>
            </a:endParaRPr>
          </a:p>
          <a:p>
            <a:r>
              <a:rPr lang="en-US" sz="1900" dirty="0">
                <a:solidFill>
                  <a:srgbClr val="002060"/>
                </a:solidFill>
                <a:latin typeface="Century" panose="02040604050505020304" pitchFamily="18" charset="0"/>
              </a:rPr>
              <a:t>Since data is in l</a:t>
            </a:r>
            <a:r>
              <a:rPr lang="en-US" sz="1900" b="0" i="0" dirty="0">
                <a:solidFill>
                  <a:srgbClr val="002060"/>
                </a:solidFill>
                <a:effectLst/>
                <a:latin typeface="Century" panose="02040604050505020304" pitchFamily="18" charset="0"/>
              </a:rPr>
              <a:t>ess amount hierarchical clustering can be preferred</a:t>
            </a:r>
          </a:p>
          <a:p>
            <a:r>
              <a:rPr lang="en-US" sz="1900" dirty="0">
                <a:solidFill>
                  <a:srgbClr val="002060"/>
                </a:solidFill>
                <a:latin typeface="Century" panose="02040604050505020304" pitchFamily="18" charset="0"/>
              </a:rPr>
              <a:t>But if data increases drastically then K-Means should be considered</a:t>
            </a:r>
            <a:endParaRPr lang="en-US" sz="1900" b="0" i="0" dirty="0">
              <a:solidFill>
                <a:srgbClr val="002060"/>
              </a:solidFill>
              <a:effectLst/>
              <a:latin typeface="Century" panose="02040604050505020304" pitchFamily="18" charset="0"/>
            </a:endParaRPr>
          </a:p>
          <a:p>
            <a:endParaRPr lang="en-US" sz="15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2B678-0FED-0A5D-F9A9-227D6486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7EE69A-4CBA-5E8A-082A-C869EBBBB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C257D3-546C-3F10-75A7-059560A57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75" y="292608"/>
            <a:ext cx="7490525" cy="779563"/>
          </a:xfrm>
        </p:spPr>
        <p:txBody>
          <a:bodyPr wrap="square" anchor="b">
            <a:noAutofit/>
          </a:bodyPr>
          <a:lstStyle/>
          <a:p>
            <a:pPr lvl="0" algn="ctr"/>
            <a:r>
              <a:rPr lang="en-US" sz="1800" b="1" i="0" u="sng" dirty="0">
                <a:solidFill>
                  <a:srgbClr val="000000"/>
                </a:solidFill>
                <a:effectLst/>
                <a:latin typeface="Century" panose="02040604050505020304" pitchFamily="18" charset="0"/>
              </a:rPr>
              <a:t>Actionable Insights &amp; Recommendations</a:t>
            </a:r>
            <a:endParaRPr lang="en-US" sz="1800" u="sng" dirty="0">
              <a:solidFill>
                <a:srgbClr val="002060"/>
              </a:solidFill>
              <a:latin typeface="Century" panose="02040604050505020304" pitchFamily="18" charset="0"/>
            </a:endParaRPr>
          </a:p>
        </p:txBody>
      </p:sp>
      <p:pic>
        <p:nvPicPr>
          <p:cNvPr id="4" name="Picture 3" descr="Data displayed on screen">
            <a:extLst>
              <a:ext uri="{FF2B5EF4-FFF2-40B4-BE49-F238E27FC236}">
                <a16:creationId xmlns:a16="http://schemas.microsoft.com/office/drawing/2014/main" id="{27DE51F3-D041-E71C-C1DB-74F41825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40" y="35559"/>
            <a:ext cx="3779360" cy="6822439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D97B13-E68E-09C1-9220-FA0BB57BC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7660" y="1207009"/>
            <a:ext cx="7204324" cy="1901951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2 (in Hierarchical Clustering) has high volatile stocks. Also Earning Per Share is low and should be avoided for future purchase</a:t>
            </a:r>
          </a:p>
          <a:p>
            <a:r>
              <a:rPr lang="en-US" sz="1500" dirty="0">
                <a:solidFill>
                  <a:schemeClr val="tx1"/>
                </a:solidFill>
                <a:latin typeface="Century" panose="02040604050505020304" pitchFamily="18" charset="0"/>
              </a:rPr>
              <a:t>Cluster 1 (in Hierarchical Clustering)  has high Cash Ratio and Net Income. It should be prominent stock fir further purchase.</a:t>
            </a:r>
          </a:p>
          <a:p>
            <a:endParaRPr lang="en-US" sz="1500" dirty="0">
              <a:solidFill>
                <a:schemeClr val="tx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949027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301B2D"/>
      </a:dk2>
      <a:lt2>
        <a:srgbClr val="F0F3F2"/>
      </a:lt2>
      <a:accent1>
        <a:srgbClr val="E72983"/>
      </a:accent1>
      <a:accent2>
        <a:srgbClr val="D517C0"/>
      </a:accent2>
      <a:accent3>
        <a:srgbClr val="AD29E7"/>
      </a:accent3>
      <a:accent4>
        <a:srgbClr val="5725D7"/>
      </a:accent4>
      <a:accent5>
        <a:srgbClr val="2944E7"/>
      </a:accent5>
      <a:accent6>
        <a:srgbClr val="1781D5"/>
      </a:accent6>
      <a:hlink>
        <a:srgbClr val="433F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67838</TotalTime>
  <Words>803</Words>
  <Application>Microsoft Macintosh PowerPoint</Application>
  <PresentationFormat>Widescreen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 Display</vt:lpstr>
      <vt:lpstr>Arial</vt:lpstr>
      <vt:lpstr>Avenir Next LT Pro</vt:lpstr>
      <vt:lpstr>Century</vt:lpstr>
      <vt:lpstr>Goudy Old Style</vt:lpstr>
      <vt:lpstr>Inter</vt:lpstr>
      <vt:lpstr>Wingdings</vt:lpstr>
      <vt:lpstr>FrostyVTI</vt:lpstr>
      <vt:lpstr>Case Study 7  Unsupervised Learning Trail&amp;Ahead </vt:lpstr>
      <vt:lpstr>Objectives:</vt:lpstr>
      <vt:lpstr>EDA (Exploratory Data Analysis)</vt:lpstr>
      <vt:lpstr>EDA (Exploratory Data Analysis)</vt:lpstr>
      <vt:lpstr>EDA (Exploratory Data Analysis)</vt:lpstr>
      <vt:lpstr>EDA (Exploratory Data Analysis)</vt:lpstr>
      <vt:lpstr>EDA (Exploratory Data Analysis)</vt:lpstr>
      <vt:lpstr>Data pre-processing: Missing value treatment, Outlier Check</vt:lpstr>
      <vt:lpstr>Apply K Means Clutering</vt:lpstr>
      <vt:lpstr>Apply K Means Clutering: Plot Elbow Curve</vt:lpstr>
      <vt:lpstr>Check Silhouette Scores</vt:lpstr>
      <vt:lpstr>Plot of Silhouette Scores</vt:lpstr>
      <vt:lpstr>Cluster Profiling</vt:lpstr>
      <vt:lpstr>Boxplots of variables by Clusters</vt:lpstr>
      <vt:lpstr>Apply hierarchical Clustering with different linkage method and apply dendrogram</vt:lpstr>
      <vt:lpstr> Figure out appropriate number of clusters - Cluster Profiling</vt:lpstr>
      <vt:lpstr> Figure out appropriate number of clusters - Cluster Profiling</vt:lpstr>
      <vt:lpstr> Figure out appropriate number of clusters - Cluster Profiling</vt:lpstr>
      <vt:lpstr> K-means vs Hierarchical Clustering</vt:lpstr>
      <vt:lpstr>Actionable Insights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Nafis Zafar</dc:creator>
  <cp:lastModifiedBy>Nafis Zafar</cp:lastModifiedBy>
  <cp:revision>20</cp:revision>
  <dcterms:created xsi:type="dcterms:W3CDTF">2024-08-31T01:07:36Z</dcterms:created>
  <dcterms:modified xsi:type="dcterms:W3CDTF">2024-11-09T01:59:52Z</dcterms:modified>
</cp:coreProperties>
</file>