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22"/>
  </p:notesMasterIdLst>
  <p:sldIdLst>
    <p:sldId id="256" r:id="rId3"/>
    <p:sldId id="257" r:id="rId4"/>
    <p:sldId id="258" r:id="rId5"/>
    <p:sldId id="259" r:id="rId6"/>
    <p:sldId id="260" r:id="rId7"/>
    <p:sldId id="271" r:id="rId8"/>
    <p:sldId id="272" r:id="rId9"/>
    <p:sldId id="273" r:id="rId10"/>
    <p:sldId id="274" r:id="rId11"/>
    <p:sldId id="275" r:id="rId12"/>
    <p:sldId id="261" r:id="rId13"/>
    <p:sldId id="262" r:id="rId14"/>
    <p:sldId id="264" r:id="rId15"/>
    <p:sldId id="265" r:id="rId16"/>
    <p:sldId id="266" r:id="rId17"/>
    <p:sldId id="267" r:id="rId18"/>
    <p:sldId id="268" r:id="rId19"/>
    <p:sldId id="269" r:id="rId20"/>
    <p:sldId id="270" r:id="rId21"/>
  </p:sldIdLst>
  <p:sldSz cx="9144000" cy="5143500" type="screen16x9"/>
  <p:notesSz cx="6858000" cy="9144000"/>
  <p:embeddedFontLst>
    <p:embeddedFont>
      <p:font typeface="Nunito" pitchFamily="2" charset="77"/>
      <p:regular r:id="rId23"/>
      <p:bold r:id="rId24"/>
      <p:italic r:id="rId25"/>
      <p:boldItalic r:id="rId26"/>
    </p:embeddedFont>
    <p:embeddedFont>
      <p:font typeface="Nunito ExtraBold" panose="020F0502020204030204" pitchFamily="34" charset="0"/>
      <p:bold r:id="rId27"/>
      <p:italic r:id="rId28"/>
      <p:boldItalic r:id="rId29"/>
    </p:embeddedFont>
    <p:embeddedFont>
      <p:font typeface="Nunito SemiBold" panose="020F050202020403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k5xJ1Lmp3SC3rLMM1w3pO1ZeG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481CB7-4120-49B0-A1BB-F382589E12ED}">
  <a:tblStyle styleId="{45481CB7-4120-49B0-A1BB-F382589E12ED}"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75"/>
  </p:normalViewPr>
  <p:slideViewPr>
    <p:cSldViewPr snapToGrid="0">
      <p:cViewPr varScale="1">
        <p:scale>
          <a:sx n="119" d="100"/>
          <a:sy n="119" d="100"/>
        </p:scale>
        <p:origin x="90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tableStyles" Target="tableStyles.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e9006cb6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10e9006cb6c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0e9006cb6c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0e9006cb6c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0ae355dec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10ae355dec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0e9006cb6c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10e9006cb6c_1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125be7063d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g125be7063d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25be7063d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g125be7063df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25be7063d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125be7063df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0e9006cb6c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10e9006cb6c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0ee00f67ea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10ee00f67ea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10ee00f67ea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19</a:t>
            </a:fld>
            <a:endParaRPr sz="1200" b="0" i="0" u="none" strike="noStrike" cap="none">
              <a:solidFill>
                <a:schemeClr val="dk1"/>
              </a:solidFill>
              <a:latin typeface="Calibri"/>
              <a:ea typeface="Calibri"/>
              <a:cs typeface="Calibri"/>
              <a:sym typeface="Calibri"/>
            </a:endParaRPr>
          </a:p>
        </p:txBody>
      </p:sp>
      <p:sp>
        <p:nvSpPr>
          <p:cNvPr id="191" name="Google Shape;191;g10ee00f67ea_0_5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e1a9588eba_0_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ge1a9588eba_0_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ge1a9588eba_0_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ge1a9588eba_0_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ge1a9588eba_0_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ge1a9588eba_0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ge1a9588eba_0_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ge1a9588eba_0_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firstRow="1" bandRow="1">
                <a:noFill/>
                <a:tableStyleId>{45481CB7-4120-49B0-A1BB-F382589E12ED}</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ge1a9588eba_0_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ge1a9588eba_0_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ge1a9588eba_0_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ge1a9588eba_0_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ge1a9588eba_0_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ge1a9588eba_0_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ge1a9588eba_0_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e1a9588eba_0_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ge1a9588eba_0_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e1a9588eba_0_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ge1a9588eba_0_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e1a9588eba_0_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ge1a9588eba_0_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ge1a9588eba_0_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ge1a9588eba_0_42" descr="A close up of a logo&#10;&#10;Description automatically generated"/>
          <p:cNvPicPr preferRelativeResize="0"/>
          <p:nvPr/>
        </p:nvPicPr>
        <p:blipFill rotWithShape="1">
          <a:blip r:embed="rId2">
            <a:alphaModFix/>
          </a:blip>
          <a:srcRect l="42816" t="18358" r="37296" b="19151"/>
          <a:stretch/>
        </p:blipFill>
        <p:spPr>
          <a:xfrm>
            <a:off x="6052536" y="514443"/>
            <a:ext cx="2095112" cy="3703320"/>
          </a:xfrm>
          <a:prstGeom prst="rect">
            <a:avLst/>
          </a:prstGeom>
          <a:noFill/>
          <a:ln>
            <a:noFill/>
          </a:ln>
        </p:spPr>
      </p:pic>
      <p:sp>
        <p:nvSpPr>
          <p:cNvPr id="50" name="Google Shape;50;ge1a9588eba_0_4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ge1a9588eba_0_4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g10ee00f67ea_0_10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g10ee00f67ea_0_104" descr="A close up of a logo&#10;&#10;Description automatically generated"/>
          <p:cNvPicPr preferRelativeResize="0"/>
          <p:nvPr/>
        </p:nvPicPr>
        <p:blipFill rotWithShape="1">
          <a:blip r:embed="rId2">
            <a:alphaModFix/>
          </a:blip>
          <a:srcRect l="42816" t="18358" r="37296" b="19151"/>
          <a:stretch/>
        </p:blipFill>
        <p:spPr>
          <a:xfrm>
            <a:off x="6052536" y="514443"/>
            <a:ext cx="2095112" cy="3703320"/>
          </a:xfrm>
          <a:prstGeom prst="rect">
            <a:avLst/>
          </a:prstGeom>
          <a:noFill/>
          <a:ln>
            <a:noFill/>
          </a:ln>
        </p:spPr>
      </p:pic>
      <p:sp>
        <p:nvSpPr>
          <p:cNvPr id="65" name="Google Shape;65;g10ee00f67ea_0_10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g10ee00f67ea_0_10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g10ee00f67ea_0_10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g10ee00f67ea_0_71"/>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g10ee00f67ea_0_71"/>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g10ee00f67ea_0_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g10ee00f67ea_0_7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g10ee00f67ea_0_7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g10ee00f67ea_0_7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g10ee00f67ea_0_7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g10ee00f67ea_0_8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g10ee00f67ea_0_81"/>
          <p:cNvGraphicFramePr/>
          <p:nvPr/>
        </p:nvGraphicFramePr>
        <p:xfrm>
          <a:off x="201942" y="833662"/>
          <a:ext cx="3000000" cy="3000000"/>
        </p:xfrm>
        <a:graphic>
          <a:graphicData uri="http://schemas.openxmlformats.org/drawingml/2006/table">
            <a:tbl>
              <a:tblPr firstRow="1" bandRow="1">
                <a:noFill/>
                <a:tableStyleId>{45481CB7-4120-49B0-A1BB-F382589E12ED}</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g10ee00f67ea_0_8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g10ee00f67ea_0_8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g10ee00f67ea_0_8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g10ee00f67ea_0_8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g10ee00f67ea_0_8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g10ee00f67ea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g10ee00f67ea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g10ee00f67ea_0_9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g10ee00f67ea_0_9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g10ee00f67ea_0_9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g10ee00f67ea_0_9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g10ee00f67ea_0_9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g10ee00f67ea_0_9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g10ee00f67ea_0_9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10ee00f67ea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e1a9588eba_0_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ge1a9588eba_0_0"/>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ge1a9588eba_0_0"/>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ge1a9588eba_0_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g10ee00f67ea_0_6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g10ee00f67ea_0_6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g10ee00f67ea_0_6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g10ee00f67ea_0_6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g10ee00f67ea_0_6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g10ee00f67ea_0_62"/>
          <p:cNvGrpSpPr/>
          <p:nvPr/>
        </p:nvGrpSpPr>
        <p:grpSpPr>
          <a:xfrm>
            <a:off x="6593" y="10"/>
            <a:ext cx="175500" cy="709221"/>
            <a:chOff x="6593" y="10"/>
            <a:chExt cx="175500" cy="709221"/>
          </a:xfrm>
        </p:grpSpPr>
        <p:sp>
          <p:nvSpPr>
            <p:cNvPr id="60" name="Google Shape;60;g10ee00f67ea_0_6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10ee00f67ea_0_6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ctrTitle"/>
          </p:nvPr>
        </p:nvSpPr>
        <p:spPr>
          <a:xfrm>
            <a:off x="1158150" y="1412050"/>
            <a:ext cx="6827700" cy="581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dirty="0"/>
              <a:t>Case Study 4</a:t>
            </a:r>
            <a:endParaRPr sz="3600" dirty="0"/>
          </a:p>
        </p:txBody>
      </p:sp>
      <p:sp>
        <p:nvSpPr>
          <p:cNvPr id="106" name="Google Shape;106;p1"/>
          <p:cNvSpPr txBox="1">
            <a:spLocks noGrp="1"/>
          </p:cNvSpPr>
          <p:nvPr>
            <p:ph type="ctrTitle"/>
          </p:nvPr>
        </p:nvSpPr>
        <p:spPr>
          <a:xfrm>
            <a:off x="1153000" y="2038575"/>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000" b="0" dirty="0"/>
              <a:t>INN Hotels</a:t>
            </a:r>
            <a:endParaRPr sz="3000" b="0" dirty="0"/>
          </a:p>
        </p:txBody>
      </p:sp>
      <p:sp>
        <p:nvSpPr>
          <p:cNvPr id="107" name="Google Shape;107;p1"/>
          <p:cNvSpPr txBox="1">
            <a:spLocks noGrp="1"/>
          </p:cNvSpPr>
          <p:nvPr>
            <p:ph type="ctrTitle"/>
          </p:nvPr>
        </p:nvSpPr>
        <p:spPr>
          <a:xfrm>
            <a:off x="1153000" y="2429300"/>
            <a:ext cx="6827700" cy="937844"/>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err="1"/>
              <a:t>Nafis</a:t>
            </a:r>
            <a:r>
              <a:rPr lang="en" sz="1600" b="0" dirty="0"/>
              <a:t> Zafar</a:t>
            </a:r>
            <a:br>
              <a:rPr lang="en" sz="1600" b="0" dirty="0"/>
            </a:br>
            <a:r>
              <a:rPr lang="en" sz="1600" b="0" dirty="0"/>
              <a:t>8/23/2024</a:t>
            </a:r>
            <a:endParaRPr sz="1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3" name="Google Shape;113;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10e9006cb6c_1_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Executive Summary</a:t>
            </a:r>
            <a:r>
              <a:rPr lang="en">
                <a:solidFill>
                  <a:srgbClr val="000000"/>
                </a:solidFill>
              </a:rPr>
              <a:t> </a:t>
            </a:r>
            <a:endParaRPr>
              <a:solidFill>
                <a:srgbClr val="000000"/>
              </a:solidFill>
            </a:endParaRPr>
          </a:p>
        </p:txBody>
      </p:sp>
      <p:sp>
        <p:nvSpPr>
          <p:cNvPr id="119" name="Google Shape;119;g10e9006cb6c_1_2"/>
          <p:cNvSpPr txBox="1">
            <a:spLocks noGrp="1"/>
          </p:cNvSpPr>
          <p:nvPr>
            <p:ph type="body" idx="1"/>
          </p:nvPr>
        </p:nvSpPr>
        <p:spPr>
          <a:xfrm>
            <a:off x="202550" y="861974"/>
            <a:ext cx="8629800" cy="3882147"/>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300" dirty="0">
                <a:solidFill>
                  <a:srgbClr val="000000"/>
                </a:solidFill>
              </a:rPr>
              <a:t>Check Hotels busiest weekdays</a:t>
            </a:r>
          </a:p>
          <a:p>
            <a:pPr marL="457200" lvl="0" indent="-317500" algn="l" rtl="0">
              <a:lnSpc>
                <a:spcPct val="115000"/>
              </a:lnSpc>
              <a:spcBef>
                <a:spcPts val="1000"/>
              </a:spcBef>
              <a:spcAft>
                <a:spcPts val="1000"/>
              </a:spcAft>
              <a:buClr>
                <a:srgbClr val="000000"/>
              </a:buClr>
              <a:buSzPts val="1400"/>
              <a:buChar char="●"/>
            </a:pPr>
            <a:r>
              <a:rPr lang="en" sz="1300" dirty="0">
                <a:solidFill>
                  <a:srgbClr val="000000"/>
                </a:solidFill>
              </a:rPr>
              <a:t>Check hotels busiest weekends</a:t>
            </a:r>
          </a:p>
          <a:p>
            <a:pPr marL="457200" lvl="0" indent="-317500" algn="l" rtl="0">
              <a:lnSpc>
                <a:spcPct val="115000"/>
              </a:lnSpc>
              <a:spcBef>
                <a:spcPts val="1000"/>
              </a:spcBef>
              <a:spcAft>
                <a:spcPts val="1000"/>
              </a:spcAft>
              <a:buClr>
                <a:srgbClr val="000000"/>
              </a:buClr>
              <a:buSzPts val="1400"/>
              <a:buChar char="●"/>
            </a:pPr>
            <a:r>
              <a:rPr lang="en" sz="1300" dirty="0">
                <a:solidFill>
                  <a:srgbClr val="000000"/>
                </a:solidFill>
              </a:rPr>
              <a:t>Check reservations by market segment</a:t>
            </a:r>
          </a:p>
          <a:p>
            <a:pPr marL="457200" lvl="0" indent="-317500" algn="l" rtl="0">
              <a:lnSpc>
                <a:spcPct val="115000"/>
              </a:lnSpc>
              <a:spcBef>
                <a:spcPts val="1000"/>
              </a:spcBef>
              <a:spcAft>
                <a:spcPts val="1000"/>
              </a:spcAft>
              <a:buClr>
                <a:srgbClr val="000000"/>
              </a:buClr>
              <a:buSzPts val="1400"/>
              <a:buChar char="●"/>
            </a:pPr>
            <a:r>
              <a:rPr lang="en" sz="1300" dirty="0">
                <a:solidFill>
                  <a:srgbClr val="000000"/>
                </a:solidFill>
              </a:rPr>
              <a:t>Check reservation by family size</a:t>
            </a:r>
          </a:p>
          <a:p>
            <a:pPr marL="457200" lvl="0" indent="-317500" algn="l" rtl="0">
              <a:lnSpc>
                <a:spcPct val="115000"/>
              </a:lnSpc>
              <a:spcBef>
                <a:spcPts val="1000"/>
              </a:spcBef>
              <a:spcAft>
                <a:spcPts val="1000"/>
              </a:spcAft>
              <a:buClr>
                <a:srgbClr val="000000"/>
              </a:buClr>
              <a:buSzPts val="1400"/>
              <a:buChar char="●"/>
            </a:pPr>
            <a:r>
              <a:rPr lang="en" sz="1300" dirty="0">
                <a:solidFill>
                  <a:srgbClr val="000000"/>
                </a:solidFill>
              </a:rPr>
              <a:t>Check cancellations</a:t>
            </a:r>
          </a:p>
          <a:p>
            <a:pPr marL="457200" lvl="0" indent="-317500" algn="l" rtl="0">
              <a:lnSpc>
                <a:spcPct val="115000"/>
              </a:lnSpc>
              <a:spcBef>
                <a:spcPts val="1000"/>
              </a:spcBef>
              <a:spcAft>
                <a:spcPts val="1000"/>
              </a:spcAft>
              <a:buClr>
                <a:srgbClr val="000000"/>
              </a:buClr>
              <a:buSzPts val="1400"/>
              <a:buChar char="●"/>
            </a:pPr>
            <a:r>
              <a:rPr lang="en" sz="1300" dirty="0">
                <a:solidFill>
                  <a:srgbClr val="000000"/>
                </a:solidFill>
              </a:rPr>
              <a:t>Build a statistical regression model with </a:t>
            </a:r>
            <a:r>
              <a:rPr lang="en" sz="1300" dirty="0" err="1">
                <a:solidFill>
                  <a:srgbClr val="000000"/>
                </a:solidFill>
              </a:rPr>
              <a:t>statsmodel</a:t>
            </a:r>
            <a:r>
              <a:rPr lang="en" sz="1300" dirty="0">
                <a:solidFill>
                  <a:srgbClr val="000000"/>
                </a:solidFill>
              </a:rPr>
              <a:t> and identify major keys predictors to make better decisions, predict cancellations and factors behind it</a:t>
            </a:r>
          </a:p>
          <a:p>
            <a:pPr marL="457200" lvl="0" indent="-317500" algn="l" rtl="0">
              <a:lnSpc>
                <a:spcPct val="115000"/>
              </a:lnSpc>
              <a:spcBef>
                <a:spcPts val="1000"/>
              </a:spcBef>
              <a:spcAft>
                <a:spcPts val="1000"/>
              </a:spcAft>
              <a:buClr>
                <a:srgbClr val="000000"/>
              </a:buClr>
              <a:buSzPts val="1400"/>
              <a:buChar char="●"/>
            </a:pPr>
            <a:r>
              <a:rPr lang="en" sz="1300" dirty="0">
                <a:solidFill>
                  <a:srgbClr val="000000"/>
                </a:solidFill>
              </a:rPr>
              <a:t>Create decision tree model and identify key factors that can help predict using pre-pruning and post-</a:t>
            </a:r>
            <a:r>
              <a:rPr lang="en" sz="1300" dirty="0" err="1">
                <a:solidFill>
                  <a:srgbClr val="000000"/>
                </a:solidFill>
              </a:rPr>
              <a:t>prunning</a:t>
            </a:r>
            <a:endParaRPr sz="13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25" name="Google Shape;125;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US" sz="1400" dirty="0">
                <a:solidFill>
                  <a:srgbClr val="000000"/>
                </a:solidFill>
              </a:rPr>
              <a:t>INN Hotels Group is facing crisis with high number of hotel cancellations. Due to change of plans and scheduling conflicts the hotel is seeing more cancellations each day. This is causing significant revenue loss for the hotel group. This is causing increased marketing cost, additional cost on resources to manage last minute bookings and additional cost of distribution channel cost. </a:t>
            </a:r>
            <a:endParaRPr sz="1400" dirty="0">
              <a:solidFill>
                <a:srgbClr val="000000"/>
              </a:solidFill>
            </a:endParaRPr>
          </a:p>
          <a:p>
            <a:pPr marL="457200" lvl="0" indent="-317500" algn="l" rtl="0">
              <a:lnSpc>
                <a:spcPct val="115000"/>
              </a:lnSpc>
              <a:spcBef>
                <a:spcPts val="1000"/>
              </a:spcBef>
              <a:spcAft>
                <a:spcPts val="1000"/>
              </a:spcAft>
              <a:buClr>
                <a:srgbClr val="000000"/>
              </a:buClr>
              <a:buSzPts val="1400"/>
              <a:buChar char="●"/>
            </a:pPr>
            <a:r>
              <a:rPr lang="en" sz="1400" dirty="0">
                <a:solidFill>
                  <a:srgbClr val="000000"/>
                </a:solidFill>
              </a:rPr>
              <a:t>INN Group has reached out for help in a data driven solution to help predict cancellations. This way they can accommodate additional bookings to measure for cancellations and stop the loss of revenue. As a data scientist we will load the bookings data from hotel group, do some EDA (Exploratory Data Analysis), find out key metrics, create a regression model for recommendations and a decision tree model and use pre-pruning and post-pruning techniques to help make better recommendations.</a:t>
            </a:r>
            <a:endParaRPr sz="14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10e9006cb6c_1_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EDA Results</a:t>
            </a:r>
            <a:r>
              <a:rPr lang="en" dirty="0">
                <a:solidFill>
                  <a:srgbClr val="0070C0"/>
                </a:solidFill>
              </a:rPr>
              <a:t> - Univariate</a:t>
            </a:r>
            <a:endParaRPr dirty="0">
              <a:solidFill>
                <a:srgbClr val="1974D2"/>
              </a:solidFill>
            </a:endParaRPr>
          </a:p>
        </p:txBody>
      </p:sp>
      <p:sp>
        <p:nvSpPr>
          <p:cNvPr id="131" name="Google Shape;131;g10e9006cb6c_1_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285750" indent="-285750">
              <a:spcBef>
                <a:spcPts val="1000"/>
              </a:spcBef>
            </a:pPr>
            <a:r>
              <a:rPr lang="en-US" sz="1600" b="0" i="0" u="none" strike="noStrike" dirty="0">
                <a:effectLst/>
                <a:highlight>
                  <a:srgbClr val="FFFFFF"/>
                </a:highlight>
                <a:latin typeface="system-ui"/>
              </a:rPr>
              <a:t>The average lead time is approximately 85 days. The distribution is positively skewed, as the median 57 days.</a:t>
            </a:r>
          </a:p>
          <a:p>
            <a:pPr marL="285750" indent="-285750">
              <a:spcBef>
                <a:spcPts val="1000"/>
              </a:spcBef>
            </a:pPr>
            <a:r>
              <a:rPr lang="en-US" sz="1600" b="0" i="0" u="none" strike="noStrike" dirty="0">
                <a:effectLst/>
                <a:highlight>
                  <a:srgbClr val="FFFFFF"/>
                </a:highlight>
                <a:latin typeface="system-ui"/>
              </a:rPr>
              <a:t>The avg. price of room is $103</a:t>
            </a:r>
          </a:p>
          <a:p>
            <a:pPr marL="0" lvl="0" indent="0" algn="l" rtl="0">
              <a:lnSpc>
                <a:spcPct val="115000"/>
              </a:lnSpc>
              <a:spcBef>
                <a:spcPts val="1000"/>
              </a:spcBef>
              <a:spcAft>
                <a:spcPts val="0"/>
              </a:spcAft>
              <a:buSzPts val="1500"/>
              <a:buNone/>
            </a:pPr>
            <a:endParaRPr lang="en-US" sz="1600" b="0" i="0" u="none" strike="noStrike" dirty="0">
              <a:effectLst/>
              <a:highlight>
                <a:srgbClr val="FFFFFF"/>
              </a:highlight>
              <a:latin typeface="system-ui"/>
            </a:endParaRPr>
          </a:p>
        </p:txBody>
      </p:sp>
      <p:pic>
        <p:nvPicPr>
          <p:cNvPr id="2" name="Picture 1">
            <a:extLst>
              <a:ext uri="{FF2B5EF4-FFF2-40B4-BE49-F238E27FC236}">
                <a16:creationId xmlns:a16="http://schemas.microsoft.com/office/drawing/2014/main" id="{13D632D0-EBE8-0799-B3ED-66B0E42A641B}"/>
              </a:ext>
            </a:extLst>
          </p:cNvPr>
          <p:cNvPicPr>
            <a:picLocks noChangeAspect="1"/>
          </p:cNvPicPr>
          <p:nvPr/>
        </p:nvPicPr>
        <p:blipFill>
          <a:blip r:embed="rId3"/>
          <a:stretch>
            <a:fillRect/>
          </a:stretch>
        </p:blipFill>
        <p:spPr>
          <a:xfrm>
            <a:off x="56050" y="2170432"/>
            <a:ext cx="3902764" cy="2488380"/>
          </a:xfrm>
          <a:prstGeom prst="rect">
            <a:avLst/>
          </a:prstGeom>
        </p:spPr>
      </p:pic>
      <p:pic>
        <p:nvPicPr>
          <p:cNvPr id="3" name="Picture 2">
            <a:extLst>
              <a:ext uri="{FF2B5EF4-FFF2-40B4-BE49-F238E27FC236}">
                <a16:creationId xmlns:a16="http://schemas.microsoft.com/office/drawing/2014/main" id="{5D38E7E5-DC3A-9AF5-4453-A5B333EF51E2}"/>
              </a:ext>
            </a:extLst>
          </p:cNvPr>
          <p:cNvPicPr>
            <a:picLocks noChangeAspect="1"/>
          </p:cNvPicPr>
          <p:nvPr/>
        </p:nvPicPr>
        <p:blipFill>
          <a:blip r:embed="rId4"/>
          <a:stretch>
            <a:fillRect/>
          </a:stretch>
        </p:blipFill>
        <p:spPr>
          <a:xfrm>
            <a:off x="4001847" y="2080395"/>
            <a:ext cx="4721303" cy="24883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3C171-ACA1-BEC3-F191-489B4100109E}"/>
              </a:ext>
            </a:extLst>
          </p:cNvPr>
          <p:cNvSpPr>
            <a:spLocks noGrp="1"/>
          </p:cNvSpPr>
          <p:nvPr>
            <p:ph type="title"/>
          </p:nvPr>
        </p:nvSpPr>
        <p:spPr>
          <a:xfrm>
            <a:off x="201972" y="288368"/>
            <a:ext cx="8520600" cy="572700"/>
          </a:xfrm>
        </p:spPr>
        <p:txBody>
          <a:bodyPr wrap="square" anchor="ctr">
            <a:normAutofit/>
          </a:bodyPr>
          <a:lstStyle/>
          <a:p>
            <a:r>
              <a:rPr lang="en" dirty="0">
                <a:solidFill>
                  <a:srgbClr val="0070C0"/>
                </a:solidFill>
              </a:rPr>
              <a:t>EDA Results - Univariate</a:t>
            </a:r>
            <a:endParaRPr lang="en-US" dirty="0">
              <a:solidFill>
                <a:srgbClr val="0070C0"/>
              </a:solidFill>
            </a:endParaRPr>
          </a:p>
        </p:txBody>
      </p:sp>
      <p:sp>
        <p:nvSpPr>
          <p:cNvPr id="3" name="Text Placeholder 2">
            <a:extLst>
              <a:ext uri="{FF2B5EF4-FFF2-40B4-BE49-F238E27FC236}">
                <a16:creationId xmlns:a16="http://schemas.microsoft.com/office/drawing/2014/main" id="{C79E9C89-FD61-E659-5E3A-5AD24CC0580F}"/>
              </a:ext>
            </a:extLst>
          </p:cNvPr>
          <p:cNvSpPr>
            <a:spLocks noGrp="1"/>
          </p:cNvSpPr>
          <p:nvPr>
            <p:ph type="body" idx="4294967295"/>
          </p:nvPr>
        </p:nvSpPr>
        <p:spPr>
          <a:xfrm>
            <a:off x="201972" y="1051568"/>
            <a:ext cx="4165050" cy="3264408"/>
          </a:xfrm>
        </p:spPr>
        <p:txBody>
          <a:bodyPr anchor="t">
            <a:normAutofit/>
          </a:bodyPr>
          <a:lstStyle/>
          <a:p>
            <a:pPr>
              <a:spcAft>
                <a:spcPts val="600"/>
              </a:spcAft>
              <a:buClr>
                <a:srgbClr val="000000"/>
              </a:buClr>
              <a:buFont typeface="Arial"/>
            </a:pPr>
            <a:r>
              <a:rPr lang="en-US" b="0" i="0" u="none" strike="noStrike" cap="none" dirty="0">
                <a:solidFill>
                  <a:srgbClr val="434343"/>
                </a:solidFill>
              </a:rPr>
              <a:t>Majority of the bookings have 2 adults</a:t>
            </a:r>
          </a:p>
          <a:p>
            <a:pPr>
              <a:spcAft>
                <a:spcPts val="600"/>
              </a:spcAft>
              <a:buClr>
                <a:srgbClr val="000000"/>
              </a:buClr>
              <a:buFont typeface="Arial"/>
            </a:pPr>
            <a:r>
              <a:rPr lang="en-US" dirty="0">
                <a:solidFill>
                  <a:srgbClr val="434343"/>
                </a:solidFill>
              </a:rPr>
              <a:t>Most of the bookings were for 2, 1 or 3 weeknights</a:t>
            </a:r>
            <a:endParaRPr lang="en-US" b="0" i="0" u="none" strike="noStrike" cap="none" dirty="0">
              <a:solidFill>
                <a:srgbClr val="434343"/>
              </a:solidFill>
            </a:endParaRPr>
          </a:p>
          <a:p>
            <a:pPr>
              <a:spcAft>
                <a:spcPts val="600"/>
              </a:spcAft>
              <a:buClr>
                <a:srgbClr val="000000"/>
              </a:buClr>
              <a:buFont typeface="Arial"/>
            </a:pPr>
            <a:endParaRPr lang="en-US" b="0" i="0" u="none" strike="noStrike" cap="none" dirty="0">
              <a:solidFill>
                <a:srgbClr val="434343"/>
              </a:solidFill>
            </a:endParaRPr>
          </a:p>
          <a:p>
            <a:pPr>
              <a:spcAft>
                <a:spcPts val="600"/>
              </a:spcAft>
              <a:buClr>
                <a:srgbClr val="000000"/>
              </a:buClr>
              <a:buFont typeface="Arial"/>
            </a:pPr>
            <a:endParaRPr lang="en-US" b="0" i="0" u="none" strike="noStrike" cap="none" dirty="0">
              <a:solidFill>
                <a:srgbClr val="434343"/>
              </a:solidFill>
            </a:endParaRPr>
          </a:p>
        </p:txBody>
      </p:sp>
      <p:pic>
        <p:nvPicPr>
          <p:cNvPr id="4" name="Picture 3">
            <a:extLst>
              <a:ext uri="{FF2B5EF4-FFF2-40B4-BE49-F238E27FC236}">
                <a16:creationId xmlns:a16="http://schemas.microsoft.com/office/drawing/2014/main" id="{E0C2853A-D535-546F-F4F0-7F772D203809}"/>
              </a:ext>
            </a:extLst>
          </p:cNvPr>
          <p:cNvPicPr>
            <a:picLocks noChangeAspect="1"/>
          </p:cNvPicPr>
          <p:nvPr/>
        </p:nvPicPr>
        <p:blipFill>
          <a:blip r:embed="rId2"/>
          <a:srcRect r="1758" b="3"/>
          <a:stretch/>
        </p:blipFill>
        <p:spPr>
          <a:xfrm>
            <a:off x="4572000" y="288369"/>
            <a:ext cx="4150572" cy="2467358"/>
          </a:xfrm>
          <a:prstGeom prst="rect">
            <a:avLst/>
          </a:prstGeom>
          <a:noFill/>
          <a:ln>
            <a:noFill/>
          </a:ln>
        </p:spPr>
      </p:pic>
      <p:pic>
        <p:nvPicPr>
          <p:cNvPr id="6" name="Picture 5">
            <a:extLst>
              <a:ext uri="{FF2B5EF4-FFF2-40B4-BE49-F238E27FC236}">
                <a16:creationId xmlns:a16="http://schemas.microsoft.com/office/drawing/2014/main" id="{3BC7998E-CC8D-45CB-B815-D2416BDEEAFE}"/>
              </a:ext>
            </a:extLst>
          </p:cNvPr>
          <p:cNvPicPr>
            <a:picLocks noChangeAspect="1"/>
          </p:cNvPicPr>
          <p:nvPr/>
        </p:nvPicPr>
        <p:blipFill>
          <a:blip r:embed="rId3"/>
          <a:stretch>
            <a:fillRect/>
          </a:stretch>
        </p:blipFill>
        <p:spPr>
          <a:xfrm>
            <a:off x="914399" y="2755727"/>
            <a:ext cx="6663848" cy="2225425"/>
          </a:xfrm>
          <a:prstGeom prst="rect">
            <a:avLst/>
          </a:prstGeom>
        </p:spPr>
      </p:pic>
    </p:spTree>
    <p:extLst>
      <p:ext uri="{BB962C8B-B14F-4D97-AF65-F5344CB8AC3E}">
        <p14:creationId xmlns:p14="http://schemas.microsoft.com/office/powerpoint/2010/main" val="2080834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19FE4-9C3C-0763-76CE-51D5A12184A2}"/>
              </a:ext>
            </a:extLst>
          </p:cNvPr>
          <p:cNvSpPr>
            <a:spLocks noGrp="1"/>
          </p:cNvSpPr>
          <p:nvPr>
            <p:ph type="title"/>
          </p:nvPr>
        </p:nvSpPr>
        <p:spPr/>
        <p:txBody>
          <a:bodyPr/>
          <a:lstStyle/>
          <a:p>
            <a:r>
              <a:rPr lang="en" dirty="0">
                <a:solidFill>
                  <a:srgbClr val="0070C0"/>
                </a:solidFill>
              </a:rPr>
              <a:t>EDA Results - Univariate</a:t>
            </a:r>
            <a:endParaRPr lang="en-US" dirty="0"/>
          </a:p>
        </p:txBody>
      </p:sp>
      <p:sp>
        <p:nvSpPr>
          <p:cNvPr id="3" name="Text Placeholder 2">
            <a:extLst>
              <a:ext uri="{FF2B5EF4-FFF2-40B4-BE49-F238E27FC236}">
                <a16:creationId xmlns:a16="http://schemas.microsoft.com/office/drawing/2014/main" id="{3886701D-1660-58BB-5DB1-07D2A0E6562C}"/>
              </a:ext>
            </a:extLst>
          </p:cNvPr>
          <p:cNvSpPr>
            <a:spLocks noGrp="1"/>
          </p:cNvSpPr>
          <p:nvPr>
            <p:ph type="body" idx="1"/>
          </p:nvPr>
        </p:nvSpPr>
        <p:spPr/>
        <p:txBody>
          <a:bodyPr/>
          <a:lstStyle/>
          <a:p>
            <a:r>
              <a:rPr lang="en-US" dirty="0"/>
              <a:t>Majority of the bookings (35k compared to 11k) needed car parking</a:t>
            </a:r>
          </a:p>
          <a:p>
            <a:endParaRPr lang="en-US" dirty="0"/>
          </a:p>
          <a:p>
            <a:r>
              <a:rPr lang="en-US" dirty="0"/>
              <a:t>Majority of the bookings selected the meal plan 1</a:t>
            </a:r>
          </a:p>
          <a:p>
            <a:endParaRPr lang="en-US" dirty="0"/>
          </a:p>
        </p:txBody>
      </p:sp>
      <p:pic>
        <p:nvPicPr>
          <p:cNvPr id="4" name="Picture 3">
            <a:extLst>
              <a:ext uri="{FF2B5EF4-FFF2-40B4-BE49-F238E27FC236}">
                <a16:creationId xmlns:a16="http://schemas.microsoft.com/office/drawing/2014/main" id="{ED576018-B294-4C16-1293-610798C7270B}"/>
              </a:ext>
            </a:extLst>
          </p:cNvPr>
          <p:cNvPicPr>
            <a:picLocks noChangeAspect="1"/>
          </p:cNvPicPr>
          <p:nvPr/>
        </p:nvPicPr>
        <p:blipFill>
          <a:blip r:embed="rId2"/>
          <a:stretch>
            <a:fillRect/>
          </a:stretch>
        </p:blipFill>
        <p:spPr>
          <a:xfrm>
            <a:off x="4990240" y="1727916"/>
            <a:ext cx="3291845" cy="3076428"/>
          </a:xfrm>
          <a:prstGeom prst="rect">
            <a:avLst/>
          </a:prstGeom>
        </p:spPr>
      </p:pic>
      <p:pic>
        <p:nvPicPr>
          <p:cNvPr id="5" name="Picture 4">
            <a:extLst>
              <a:ext uri="{FF2B5EF4-FFF2-40B4-BE49-F238E27FC236}">
                <a16:creationId xmlns:a16="http://schemas.microsoft.com/office/drawing/2014/main" id="{6ABDEA9F-78F0-B66B-4D69-C1BEBBC56124}"/>
              </a:ext>
            </a:extLst>
          </p:cNvPr>
          <p:cNvPicPr>
            <a:picLocks noChangeAspect="1"/>
          </p:cNvPicPr>
          <p:nvPr/>
        </p:nvPicPr>
        <p:blipFill>
          <a:blip r:embed="rId3"/>
          <a:stretch>
            <a:fillRect/>
          </a:stretch>
        </p:blipFill>
        <p:spPr>
          <a:xfrm>
            <a:off x="1081479" y="1872345"/>
            <a:ext cx="2512884" cy="2787571"/>
          </a:xfrm>
          <a:prstGeom prst="rect">
            <a:avLst/>
          </a:prstGeom>
        </p:spPr>
      </p:pic>
    </p:spTree>
    <p:extLst>
      <p:ext uri="{BB962C8B-B14F-4D97-AF65-F5344CB8AC3E}">
        <p14:creationId xmlns:p14="http://schemas.microsoft.com/office/powerpoint/2010/main" val="2742990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8223A-6692-5C16-5F00-24BEC59FFCA0}"/>
              </a:ext>
            </a:extLst>
          </p:cNvPr>
          <p:cNvSpPr>
            <a:spLocks noGrp="1"/>
          </p:cNvSpPr>
          <p:nvPr>
            <p:ph type="title"/>
          </p:nvPr>
        </p:nvSpPr>
        <p:spPr/>
        <p:txBody>
          <a:bodyPr/>
          <a:lstStyle/>
          <a:p>
            <a:r>
              <a:rPr lang="en" dirty="0">
                <a:solidFill>
                  <a:srgbClr val="0070C0"/>
                </a:solidFill>
              </a:rPr>
              <a:t>EDA Results - Univariate</a:t>
            </a:r>
            <a:endParaRPr lang="en-US" dirty="0"/>
          </a:p>
        </p:txBody>
      </p:sp>
      <p:sp>
        <p:nvSpPr>
          <p:cNvPr id="3" name="Text Placeholder 2">
            <a:extLst>
              <a:ext uri="{FF2B5EF4-FFF2-40B4-BE49-F238E27FC236}">
                <a16:creationId xmlns:a16="http://schemas.microsoft.com/office/drawing/2014/main" id="{4F29F399-FB2A-50EE-D808-A4AC10BF9792}"/>
              </a:ext>
            </a:extLst>
          </p:cNvPr>
          <p:cNvSpPr>
            <a:spLocks noGrp="1"/>
          </p:cNvSpPr>
          <p:nvPr>
            <p:ph type="body" idx="1"/>
          </p:nvPr>
        </p:nvSpPr>
        <p:spPr/>
        <p:txBody>
          <a:bodyPr/>
          <a:lstStyle/>
          <a:p>
            <a:r>
              <a:rPr lang="en-US" dirty="0"/>
              <a:t>Majority of bookings selected room type 1</a:t>
            </a:r>
          </a:p>
          <a:p>
            <a:r>
              <a:rPr lang="en-US" dirty="0"/>
              <a:t>September and October are the busiest months</a:t>
            </a:r>
          </a:p>
          <a:p>
            <a:r>
              <a:rPr lang="en-US" dirty="0"/>
              <a:t>Majority of booking were done online</a:t>
            </a:r>
          </a:p>
          <a:p>
            <a:r>
              <a:rPr lang="en-US" b="0" i="0" u="none" strike="noStrike" dirty="0">
                <a:effectLst/>
                <a:highlight>
                  <a:srgbClr val="FFFFFF"/>
                </a:highlight>
                <a:latin typeface="system-ui"/>
              </a:rPr>
              <a:t>32.8% of the bookings canceled and 67.2% of the bookings were </a:t>
            </a:r>
          </a:p>
          <a:p>
            <a:pPr marL="133350" indent="0">
              <a:buNone/>
            </a:pPr>
            <a:r>
              <a:rPr lang="en-US" b="0" i="0" u="none" strike="noStrike" dirty="0">
                <a:effectLst/>
                <a:highlight>
                  <a:srgbClr val="FFFFFF"/>
                </a:highlight>
                <a:latin typeface="system-ui"/>
              </a:rPr>
              <a:t>        not canceled.</a:t>
            </a:r>
            <a:endParaRPr lang="en-US" dirty="0"/>
          </a:p>
          <a:p>
            <a:endParaRPr lang="en-US" dirty="0"/>
          </a:p>
        </p:txBody>
      </p:sp>
      <p:pic>
        <p:nvPicPr>
          <p:cNvPr id="4" name="Picture 3">
            <a:extLst>
              <a:ext uri="{FF2B5EF4-FFF2-40B4-BE49-F238E27FC236}">
                <a16:creationId xmlns:a16="http://schemas.microsoft.com/office/drawing/2014/main" id="{78EAF13C-C826-8F6C-F272-F11104A1FB11}"/>
              </a:ext>
            </a:extLst>
          </p:cNvPr>
          <p:cNvPicPr>
            <a:picLocks noChangeAspect="1"/>
          </p:cNvPicPr>
          <p:nvPr/>
        </p:nvPicPr>
        <p:blipFill>
          <a:blip r:embed="rId2"/>
          <a:stretch>
            <a:fillRect/>
          </a:stretch>
        </p:blipFill>
        <p:spPr>
          <a:xfrm>
            <a:off x="5774698" y="678175"/>
            <a:ext cx="2585977" cy="2114370"/>
          </a:xfrm>
          <a:prstGeom prst="rect">
            <a:avLst/>
          </a:prstGeom>
        </p:spPr>
      </p:pic>
      <p:pic>
        <p:nvPicPr>
          <p:cNvPr id="5" name="Picture 4">
            <a:extLst>
              <a:ext uri="{FF2B5EF4-FFF2-40B4-BE49-F238E27FC236}">
                <a16:creationId xmlns:a16="http://schemas.microsoft.com/office/drawing/2014/main" id="{9F7EF85C-2FE1-34CE-CF21-6F788869A773}"/>
              </a:ext>
            </a:extLst>
          </p:cNvPr>
          <p:cNvPicPr>
            <a:picLocks noChangeAspect="1"/>
          </p:cNvPicPr>
          <p:nvPr/>
        </p:nvPicPr>
        <p:blipFill>
          <a:blip r:embed="rId3"/>
          <a:stretch>
            <a:fillRect/>
          </a:stretch>
        </p:blipFill>
        <p:spPr>
          <a:xfrm>
            <a:off x="561370" y="2887252"/>
            <a:ext cx="3300625" cy="1802291"/>
          </a:xfrm>
          <a:prstGeom prst="rect">
            <a:avLst/>
          </a:prstGeom>
        </p:spPr>
      </p:pic>
      <p:pic>
        <p:nvPicPr>
          <p:cNvPr id="6" name="Picture 5">
            <a:extLst>
              <a:ext uri="{FF2B5EF4-FFF2-40B4-BE49-F238E27FC236}">
                <a16:creationId xmlns:a16="http://schemas.microsoft.com/office/drawing/2014/main" id="{FE3E80A8-CB41-F2E7-635F-11988671DC7C}"/>
              </a:ext>
            </a:extLst>
          </p:cNvPr>
          <p:cNvPicPr>
            <a:picLocks noChangeAspect="1"/>
          </p:cNvPicPr>
          <p:nvPr/>
        </p:nvPicPr>
        <p:blipFill>
          <a:blip r:embed="rId4"/>
          <a:stretch>
            <a:fillRect/>
          </a:stretch>
        </p:blipFill>
        <p:spPr>
          <a:xfrm>
            <a:off x="6205553" y="2824411"/>
            <a:ext cx="2377077" cy="2114370"/>
          </a:xfrm>
          <a:prstGeom prst="rect">
            <a:avLst/>
          </a:prstGeom>
        </p:spPr>
      </p:pic>
      <p:pic>
        <p:nvPicPr>
          <p:cNvPr id="7" name="Picture 6">
            <a:extLst>
              <a:ext uri="{FF2B5EF4-FFF2-40B4-BE49-F238E27FC236}">
                <a16:creationId xmlns:a16="http://schemas.microsoft.com/office/drawing/2014/main" id="{C0ABFA6A-B491-7E65-790B-F4D723484C71}"/>
              </a:ext>
            </a:extLst>
          </p:cNvPr>
          <p:cNvPicPr>
            <a:picLocks noChangeAspect="1"/>
          </p:cNvPicPr>
          <p:nvPr/>
        </p:nvPicPr>
        <p:blipFill>
          <a:blip r:embed="rId5"/>
          <a:stretch>
            <a:fillRect/>
          </a:stretch>
        </p:blipFill>
        <p:spPr>
          <a:xfrm>
            <a:off x="4068764" y="2887252"/>
            <a:ext cx="1930019" cy="2014181"/>
          </a:xfrm>
          <a:prstGeom prst="rect">
            <a:avLst/>
          </a:prstGeom>
        </p:spPr>
      </p:pic>
    </p:spTree>
    <p:extLst>
      <p:ext uri="{BB962C8B-B14F-4D97-AF65-F5344CB8AC3E}">
        <p14:creationId xmlns:p14="http://schemas.microsoft.com/office/powerpoint/2010/main" val="1770166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1255D-47DB-C865-0D06-0B249F9628B8}"/>
              </a:ext>
            </a:extLst>
          </p:cNvPr>
          <p:cNvSpPr>
            <a:spLocks noGrp="1"/>
          </p:cNvSpPr>
          <p:nvPr>
            <p:ph type="title"/>
          </p:nvPr>
        </p:nvSpPr>
        <p:spPr/>
        <p:txBody>
          <a:bodyPr/>
          <a:lstStyle/>
          <a:p>
            <a:r>
              <a:rPr lang="en" dirty="0">
                <a:solidFill>
                  <a:srgbClr val="0070C0"/>
                </a:solidFill>
              </a:rPr>
              <a:t>EDA Results - Bivariate</a:t>
            </a:r>
            <a:endParaRPr lang="en-US" dirty="0"/>
          </a:p>
        </p:txBody>
      </p:sp>
      <p:sp>
        <p:nvSpPr>
          <p:cNvPr id="3" name="Text Placeholder 2">
            <a:extLst>
              <a:ext uri="{FF2B5EF4-FFF2-40B4-BE49-F238E27FC236}">
                <a16:creationId xmlns:a16="http://schemas.microsoft.com/office/drawing/2014/main" id="{EDA9594B-ADB8-2A37-C603-891B9FF47B04}"/>
              </a:ext>
            </a:extLst>
          </p:cNvPr>
          <p:cNvSpPr>
            <a:spLocks noGrp="1"/>
          </p:cNvSpPr>
          <p:nvPr>
            <p:ph type="body" idx="1"/>
          </p:nvPr>
        </p:nvSpPr>
        <p:spPr/>
        <p:txBody>
          <a:bodyPr/>
          <a:lstStyle/>
          <a:p>
            <a:r>
              <a:rPr lang="en-US" dirty="0"/>
              <a:t>Repeated guests and non cancellations are highly correlated. So, repeat customers tend to cancel less</a:t>
            </a:r>
          </a:p>
          <a:p>
            <a:r>
              <a:rPr lang="en-US" dirty="0"/>
              <a:t>Corporate and complimentary bookings tend to cancel less, while online have most cancellations</a:t>
            </a:r>
          </a:p>
          <a:p>
            <a:endParaRPr lang="en-US" dirty="0"/>
          </a:p>
        </p:txBody>
      </p:sp>
      <p:pic>
        <p:nvPicPr>
          <p:cNvPr id="4" name="Picture 3">
            <a:extLst>
              <a:ext uri="{FF2B5EF4-FFF2-40B4-BE49-F238E27FC236}">
                <a16:creationId xmlns:a16="http://schemas.microsoft.com/office/drawing/2014/main" id="{965A7B87-BE27-D5DD-2CC6-F2999D197C57}"/>
              </a:ext>
            </a:extLst>
          </p:cNvPr>
          <p:cNvPicPr>
            <a:picLocks noChangeAspect="1"/>
          </p:cNvPicPr>
          <p:nvPr/>
        </p:nvPicPr>
        <p:blipFill>
          <a:blip r:embed="rId2"/>
          <a:stretch>
            <a:fillRect/>
          </a:stretch>
        </p:blipFill>
        <p:spPr>
          <a:xfrm>
            <a:off x="4572000" y="1949703"/>
            <a:ext cx="4391809" cy="2786811"/>
          </a:xfrm>
          <a:prstGeom prst="rect">
            <a:avLst/>
          </a:prstGeom>
        </p:spPr>
      </p:pic>
      <p:pic>
        <p:nvPicPr>
          <p:cNvPr id="5" name="Picture 4">
            <a:extLst>
              <a:ext uri="{FF2B5EF4-FFF2-40B4-BE49-F238E27FC236}">
                <a16:creationId xmlns:a16="http://schemas.microsoft.com/office/drawing/2014/main" id="{E1F8D99E-79EA-6F43-5CDD-8E18F65E32F1}"/>
              </a:ext>
            </a:extLst>
          </p:cNvPr>
          <p:cNvPicPr>
            <a:picLocks noChangeAspect="1"/>
          </p:cNvPicPr>
          <p:nvPr/>
        </p:nvPicPr>
        <p:blipFill>
          <a:blip r:embed="rId3"/>
          <a:stretch>
            <a:fillRect/>
          </a:stretch>
        </p:blipFill>
        <p:spPr>
          <a:xfrm>
            <a:off x="311650" y="2115779"/>
            <a:ext cx="4585447" cy="2738442"/>
          </a:xfrm>
          <a:prstGeom prst="rect">
            <a:avLst/>
          </a:prstGeom>
        </p:spPr>
      </p:pic>
    </p:spTree>
    <p:extLst>
      <p:ext uri="{BB962C8B-B14F-4D97-AF65-F5344CB8AC3E}">
        <p14:creationId xmlns:p14="http://schemas.microsoft.com/office/powerpoint/2010/main" val="2761677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1F0D6-64BB-91AB-5EBF-1E555A544DFD}"/>
              </a:ext>
            </a:extLst>
          </p:cNvPr>
          <p:cNvSpPr>
            <a:spLocks noGrp="1"/>
          </p:cNvSpPr>
          <p:nvPr>
            <p:ph type="title"/>
          </p:nvPr>
        </p:nvSpPr>
        <p:spPr/>
        <p:txBody>
          <a:bodyPr/>
          <a:lstStyle/>
          <a:p>
            <a:r>
              <a:rPr lang="en" dirty="0">
                <a:solidFill>
                  <a:srgbClr val="0070C0"/>
                </a:solidFill>
              </a:rPr>
              <a:t>EDA Results - Bivariate</a:t>
            </a:r>
            <a:endParaRPr lang="en-US" dirty="0"/>
          </a:p>
        </p:txBody>
      </p:sp>
      <p:sp>
        <p:nvSpPr>
          <p:cNvPr id="3" name="Text Placeholder 2">
            <a:extLst>
              <a:ext uri="{FF2B5EF4-FFF2-40B4-BE49-F238E27FC236}">
                <a16:creationId xmlns:a16="http://schemas.microsoft.com/office/drawing/2014/main" id="{D873A81E-CA79-6964-BF5E-ADE30B1B51B1}"/>
              </a:ext>
            </a:extLst>
          </p:cNvPr>
          <p:cNvSpPr>
            <a:spLocks noGrp="1"/>
          </p:cNvSpPr>
          <p:nvPr>
            <p:ph type="body" idx="1"/>
          </p:nvPr>
        </p:nvSpPr>
        <p:spPr/>
        <p:txBody>
          <a:bodyPr/>
          <a:lstStyle/>
          <a:p>
            <a:r>
              <a:rPr lang="en-US" dirty="0"/>
              <a:t>Family booking: Of all family bookings </a:t>
            </a:r>
            <a:r>
              <a:rPr lang="en-US" b="0" i="0" u="none" strike="noStrike" dirty="0">
                <a:effectLst/>
                <a:highlight>
                  <a:srgbClr val="FFFFFF"/>
                </a:highlight>
                <a:latin typeface="system-ui"/>
              </a:rPr>
              <a:t>18456 bookings were not cancelled and 9985 bookings were cancelled</a:t>
            </a:r>
          </a:p>
          <a:p>
            <a:r>
              <a:rPr lang="en-US" dirty="0">
                <a:highlight>
                  <a:srgbClr val="FFFFFF"/>
                </a:highlight>
                <a:latin typeface="system-ui"/>
              </a:rPr>
              <a:t>Majority bookings were 3 days bookings followed by 2 day bookings</a:t>
            </a:r>
            <a:endParaRPr lang="en-US" dirty="0"/>
          </a:p>
        </p:txBody>
      </p:sp>
      <p:pic>
        <p:nvPicPr>
          <p:cNvPr id="4" name="Picture 3">
            <a:extLst>
              <a:ext uri="{FF2B5EF4-FFF2-40B4-BE49-F238E27FC236}">
                <a16:creationId xmlns:a16="http://schemas.microsoft.com/office/drawing/2014/main" id="{EBA8D552-8992-1FC4-93A3-5B3414EF3556}"/>
              </a:ext>
            </a:extLst>
          </p:cNvPr>
          <p:cNvPicPr>
            <a:picLocks noChangeAspect="1"/>
          </p:cNvPicPr>
          <p:nvPr/>
        </p:nvPicPr>
        <p:blipFill>
          <a:blip r:embed="rId2"/>
          <a:stretch>
            <a:fillRect/>
          </a:stretch>
        </p:blipFill>
        <p:spPr>
          <a:xfrm>
            <a:off x="5100648" y="2122724"/>
            <a:ext cx="3731702" cy="2731497"/>
          </a:xfrm>
          <a:prstGeom prst="rect">
            <a:avLst/>
          </a:prstGeom>
        </p:spPr>
      </p:pic>
      <p:pic>
        <p:nvPicPr>
          <p:cNvPr id="5" name="Picture 4">
            <a:extLst>
              <a:ext uri="{FF2B5EF4-FFF2-40B4-BE49-F238E27FC236}">
                <a16:creationId xmlns:a16="http://schemas.microsoft.com/office/drawing/2014/main" id="{DB59EDF8-1CEE-7A7C-52AC-A9349FCD51C8}"/>
              </a:ext>
            </a:extLst>
          </p:cNvPr>
          <p:cNvPicPr>
            <a:picLocks noChangeAspect="1"/>
          </p:cNvPicPr>
          <p:nvPr/>
        </p:nvPicPr>
        <p:blipFill>
          <a:blip r:embed="rId3"/>
          <a:stretch>
            <a:fillRect/>
          </a:stretch>
        </p:blipFill>
        <p:spPr>
          <a:xfrm>
            <a:off x="311650" y="1749953"/>
            <a:ext cx="4788998" cy="3187808"/>
          </a:xfrm>
          <a:prstGeom prst="rect">
            <a:avLst/>
          </a:prstGeom>
        </p:spPr>
      </p:pic>
    </p:spTree>
    <p:extLst>
      <p:ext uri="{BB962C8B-B14F-4D97-AF65-F5344CB8AC3E}">
        <p14:creationId xmlns:p14="http://schemas.microsoft.com/office/powerpoint/2010/main" val="151608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a:t>
            </a:r>
            <a:r>
              <a:rPr lang="en">
                <a:solidFill>
                  <a:srgbClr val="000000"/>
                </a:solidFill>
              </a:rPr>
              <a:t> </a:t>
            </a:r>
            <a:endParaRPr>
              <a:solidFill>
                <a:srgbClr val="000000"/>
              </a:solidFill>
            </a:endParaRPr>
          </a:p>
        </p:txBody>
      </p:sp>
      <p:sp>
        <p:nvSpPr>
          <p:cNvPr id="138" name="Google Shape;138;p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2D3B45"/>
              </a:buClr>
              <a:buSzPts val="1400"/>
              <a:buChar char="●"/>
            </a:pPr>
            <a:r>
              <a:rPr lang="en" sz="1400" dirty="0">
                <a:solidFill>
                  <a:schemeClr val="bg2"/>
                </a:solidFill>
                <a:highlight>
                  <a:srgbClr val="FFFFFF"/>
                </a:highlight>
              </a:rPr>
              <a:t>No duplicate values found in </a:t>
            </a:r>
            <a:r>
              <a:rPr lang="en" sz="1400" dirty="0" err="1">
                <a:solidFill>
                  <a:schemeClr val="bg2"/>
                </a:solidFill>
                <a:highlight>
                  <a:srgbClr val="FFFFFF"/>
                </a:highlight>
              </a:rPr>
              <a:t>dataframe</a:t>
            </a:r>
            <a:endParaRPr sz="1400" dirty="0">
              <a:solidFill>
                <a:schemeClr val="bg2"/>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US" sz="1400" dirty="0">
                <a:solidFill>
                  <a:schemeClr val="bg2"/>
                </a:solidFill>
                <a:highlight>
                  <a:srgbClr val="FFFFFF"/>
                </a:highlight>
              </a:rPr>
              <a:t>No missing value found in dataset</a:t>
            </a:r>
            <a:endParaRPr sz="1400" dirty="0">
              <a:solidFill>
                <a:schemeClr val="bg2"/>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US" sz="1400" dirty="0">
                <a:solidFill>
                  <a:schemeClr val="bg2"/>
                </a:solidFill>
                <a:highlight>
                  <a:srgbClr val="FFFFFF"/>
                </a:highlight>
              </a:rPr>
              <a:t>Lead time, avg price per room has high number of variables</a:t>
            </a:r>
            <a:endParaRPr sz="1400" dirty="0">
              <a:solidFill>
                <a:schemeClr val="bg2"/>
              </a:solidFill>
              <a:highlight>
                <a:srgbClr val="FFFFFF"/>
              </a:highlight>
            </a:endParaRPr>
          </a:p>
          <a:p>
            <a:pPr marL="0" lvl="0" indent="0" algn="l" rtl="0">
              <a:lnSpc>
                <a:spcPct val="115000"/>
              </a:lnSpc>
              <a:spcBef>
                <a:spcPts val="1000"/>
              </a:spcBef>
              <a:spcAft>
                <a:spcPts val="0"/>
              </a:spcAft>
              <a:buSzPts val="1500"/>
              <a:buNone/>
            </a:pPr>
            <a:endParaRPr sz="1400" dirty="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dirty="0">
              <a:solidFill>
                <a:srgbClr val="2D3B45"/>
              </a:solidFill>
              <a:highlight>
                <a:srgbClr val="FFFFFF"/>
              </a:highlight>
            </a:endParaRPr>
          </a:p>
        </p:txBody>
      </p:sp>
      <p:pic>
        <p:nvPicPr>
          <p:cNvPr id="2" name="Picture 1">
            <a:extLst>
              <a:ext uri="{FF2B5EF4-FFF2-40B4-BE49-F238E27FC236}">
                <a16:creationId xmlns:a16="http://schemas.microsoft.com/office/drawing/2014/main" id="{BECA2261-D36D-674F-D133-77EAD261E606}"/>
              </a:ext>
            </a:extLst>
          </p:cNvPr>
          <p:cNvPicPr>
            <a:picLocks noChangeAspect="1"/>
          </p:cNvPicPr>
          <p:nvPr/>
        </p:nvPicPr>
        <p:blipFill>
          <a:blip r:embed="rId3"/>
          <a:stretch>
            <a:fillRect/>
          </a:stretch>
        </p:blipFill>
        <p:spPr>
          <a:xfrm>
            <a:off x="4132208" y="574725"/>
            <a:ext cx="4809242" cy="1054100"/>
          </a:xfrm>
          <a:prstGeom prst="rect">
            <a:avLst/>
          </a:prstGeom>
        </p:spPr>
      </p:pic>
      <p:pic>
        <p:nvPicPr>
          <p:cNvPr id="3" name="Picture 2">
            <a:extLst>
              <a:ext uri="{FF2B5EF4-FFF2-40B4-BE49-F238E27FC236}">
                <a16:creationId xmlns:a16="http://schemas.microsoft.com/office/drawing/2014/main" id="{BE8CB843-CCFC-6DFE-83AD-9A224197BD23}"/>
              </a:ext>
            </a:extLst>
          </p:cNvPr>
          <p:cNvPicPr>
            <a:picLocks noChangeAspect="1"/>
          </p:cNvPicPr>
          <p:nvPr/>
        </p:nvPicPr>
        <p:blipFill>
          <a:blip r:embed="rId4"/>
          <a:stretch>
            <a:fillRect/>
          </a:stretch>
        </p:blipFill>
        <p:spPr>
          <a:xfrm>
            <a:off x="3012201" y="2213051"/>
            <a:ext cx="2476681" cy="2002675"/>
          </a:xfrm>
          <a:prstGeom prst="rect">
            <a:avLst/>
          </a:prstGeom>
        </p:spPr>
      </p:pic>
      <p:pic>
        <p:nvPicPr>
          <p:cNvPr id="4" name="Picture 3">
            <a:extLst>
              <a:ext uri="{FF2B5EF4-FFF2-40B4-BE49-F238E27FC236}">
                <a16:creationId xmlns:a16="http://schemas.microsoft.com/office/drawing/2014/main" id="{04EE610C-E138-02FF-F64B-120439B4EB36}"/>
              </a:ext>
            </a:extLst>
          </p:cNvPr>
          <p:cNvPicPr>
            <a:picLocks noChangeAspect="1"/>
          </p:cNvPicPr>
          <p:nvPr/>
        </p:nvPicPr>
        <p:blipFill>
          <a:blip r:embed="rId5"/>
          <a:stretch>
            <a:fillRect/>
          </a:stretch>
        </p:blipFill>
        <p:spPr>
          <a:xfrm>
            <a:off x="202550" y="2126989"/>
            <a:ext cx="2290416" cy="2002675"/>
          </a:xfrm>
          <a:prstGeom prst="rect">
            <a:avLst/>
          </a:prstGeom>
        </p:spPr>
      </p:pic>
      <p:pic>
        <p:nvPicPr>
          <p:cNvPr id="5" name="Picture 4">
            <a:extLst>
              <a:ext uri="{FF2B5EF4-FFF2-40B4-BE49-F238E27FC236}">
                <a16:creationId xmlns:a16="http://schemas.microsoft.com/office/drawing/2014/main" id="{E11C1BA7-A402-79BA-8FAB-B396809DC29C}"/>
              </a:ext>
            </a:extLst>
          </p:cNvPr>
          <p:cNvPicPr>
            <a:picLocks noChangeAspect="1"/>
          </p:cNvPicPr>
          <p:nvPr/>
        </p:nvPicPr>
        <p:blipFill>
          <a:blip r:embed="rId6"/>
          <a:stretch>
            <a:fillRect/>
          </a:stretch>
        </p:blipFill>
        <p:spPr>
          <a:xfrm>
            <a:off x="5488882" y="2052338"/>
            <a:ext cx="2882900" cy="2324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a:solidFill>
                  <a:srgbClr val="1974D2"/>
                </a:solidFill>
              </a:rPr>
              <a:t>Model Performance Summary</a:t>
            </a:r>
          </a:p>
        </p:txBody>
      </p:sp>
      <p:sp>
        <p:nvSpPr>
          <p:cNvPr id="144" name="Google Shape;144;p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285750" indent="-285750">
              <a:spcBef>
                <a:spcPts val="1000"/>
              </a:spcBef>
            </a:pPr>
            <a:r>
              <a:rPr lang="en-US" sz="1400" dirty="0">
                <a:solidFill>
                  <a:srgbClr val="000000"/>
                </a:solidFill>
              </a:rPr>
              <a:t>F1 score of the train data set is .68. We </a:t>
            </a:r>
            <a:r>
              <a:rPr lang="en-US" sz="1600" dirty="0">
                <a:solidFill>
                  <a:srgbClr val="000000"/>
                </a:solidFill>
                <a:latin typeface="system-ui"/>
              </a:rPr>
              <a:t>need to re</a:t>
            </a:r>
            <a:r>
              <a:rPr lang="en-US" sz="1600" b="0" i="0" u="none" strike="noStrike" dirty="0">
                <a:effectLst/>
                <a:latin typeface="system-ui"/>
              </a:rPr>
              <a:t>move multicollinearity from the data to get reliable coefficients and p-values</a:t>
            </a:r>
          </a:p>
          <a:p>
            <a:pPr marL="285750" indent="-285750">
              <a:spcBef>
                <a:spcPts val="1000"/>
              </a:spcBef>
            </a:pPr>
            <a:r>
              <a:rPr lang="en-US" sz="1600" b="0" i="0" u="none" strike="noStrike" dirty="0">
                <a:effectLst/>
                <a:latin typeface="system-ui"/>
              </a:rPr>
              <a:t>We will check the p-values of the variables, and drop the column with the highest p-value.</a:t>
            </a:r>
          </a:p>
          <a:p>
            <a:pPr marL="285750" indent="-285750">
              <a:spcBef>
                <a:spcPts val="1000"/>
              </a:spcBef>
            </a:pPr>
            <a:endParaRPr lang="en-US" sz="1400" dirty="0">
              <a:solidFill>
                <a:srgbClr val="000000"/>
              </a:solidFill>
            </a:endParaRPr>
          </a:p>
          <a:p>
            <a:pPr marL="0" lvl="0" indent="0" algn="l" rtl="0">
              <a:lnSpc>
                <a:spcPct val="115000"/>
              </a:lnSpc>
              <a:spcBef>
                <a:spcPts val="1000"/>
              </a:spcBef>
              <a:spcAft>
                <a:spcPts val="0"/>
              </a:spcAft>
              <a:buSzPts val="1500"/>
              <a:buNone/>
            </a:pPr>
            <a:endParaRPr lang="en-US" sz="1400" dirty="0">
              <a:solidFill>
                <a:srgbClr val="000000"/>
              </a:solidFill>
            </a:endParaRPr>
          </a:p>
          <a:p>
            <a:pPr marL="0" lvl="0" indent="0" algn="l" rtl="0">
              <a:lnSpc>
                <a:spcPct val="115000"/>
              </a:lnSpc>
              <a:spcBef>
                <a:spcPts val="1000"/>
              </a:spcBef>
              <a:spcAft>
                <a:spcPts val="0"/>
              </a:spcAft>
              <a:buSzPts val="1500"/>
              <a:buNone/>
            </a:pPr>
            <a:endParaRPr lang="en-US" sz="1400" dirty="0">
              <a:solidFill>
                <a:srgbClr val="000000"/>
              </a:solidFill>
            </a:endParaRPr>
          </a:p>
          <a:p>
            <a:pPr marL="0" lvl="0" indent="0" algn="l" rtl="0">
              <a:lnSpc>
                <a:spcPct val="115000"/>
              </a:lnSpc>
              <a:spcBef>
                <a:spcPts val="1000"/>
              </a:spcBef>
              <a:spcAft>
                <a:spcPts val="1000"/>
              </a:spcAft>
              <a:buSzPts val="1500"/>
              <a:buNone/>
            </a:pPr>
            <a:endParaRPr lang="en-US" sz="1400" dirty="0">
              <a:solidFill>
                <a:srgbClr val="000000"/>
              </a:solidFill>
            </a:endParaRPr>
          </a:p>
        </p:txBody>
      </p:sp>
      <p:sp>
        <p:nvSpPr>
          <p:cNvPr id="145" name="Google Shape;145;p6"/>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2" name="Picture 1">
            <a:extLst>
              <a:ext uri="{FF2B5EF4-FFF2-40B4-BE49-F238E27FC236}">
                <a16:creationId xmlns:a16="http://schemas.microsoft.com/office/drawing/2014/main" id="{FF6EF73E-1A9A-49CF-459D-3B9352442F11}"/>
              </a:ext>
            </a:extLst>
          </p:cNvPr>
          <p:cNvPicPr>
            <a:picLocks noChangeAspect="1"/>
          </p:cNvPicPr>
          <p:nvPr/>
        </p:nvPicPr>
        <p:blipFill>
          <a:blip r:embed="rId3"/>
          <a:stretch>
            <a:fillRect/>
          </a:stretch>
        </p:blipFill>
        <p:spPr>
          <a:xfrm>
            <a:off x="487717" y="2072516"/>
            <a:ext cx="5010601" cy="1285718"/>
          </a:xfrm>
          <a:prstGeom prst="rect">
            <a:avLst/>
          </a:prstGeom>
        </p:spPr>
      </p:pic>
      <p:pic>
        <p:nvPicPr>
          <p:cNvPr id="3" name="Picture 2">
            <a:extLst>
              <a:ext uri="{FF2B5EF4-FFF2-40B4-BE49-F238E27FC236}">
                <a16:creationId xmlns:a16="http://schemas.microsoft.com/office/drawing/2014/main" id="{CF926A3C-FEAB-4AEE-D149-F1F02F2DDA5E}"/>
              </a:ext>
            </a:extLst>
          </p:cNvPr>
          <p:cNvPicPr>
            <a:picLocks noChangeAspect="1"/>
          </p:cNvPicPr>
          <p:nvPr/>
        </p:nvPicPr>
        <p:blipFill>
          <a:blip r:embed="rId4"/>
          <a:stretch>
            <a:fillRect/>
          </a:stretch>
        </p:blipFill>
        <p:spPr>
          <a:xfrm>
            <a:off x="3190889" y="2943477"/>
            <a:ext cx="5750561" cy="17148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ae355dec7_0_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Background and Contents</a:t>
            </a:r>
            <a:endParaRPr>
              <a:solidFill>
                <a:srgbClr val="1974D2"/>
              </a:solidFill>
            </a:endParaRPr>
          </a:p>
        </p:txBody>
      </p:sp>
      <p:sp>
        <p:nvSpPr>
          <p:cNvPr id="156" name="Google Shape;156;g10ae355dec7_0_0"/>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indent="-317500">
              <a:spcBef>
                <a:spcPts val="1000"/>
              </a:spcBef>
              <a:spcAft>
                <a:spcPts val="1000"/>
              </a:spcAft>
              <a:buClr>
                <a:srgbClr val="000000"/>
              </a:buClr>
              <a:buSzPts val="1400"/>
            </a:pPr>
            <a:r>
              <a:rPr lang="en-US" sz="1600" b="0" i="0" u="none" strike="noStrike" dirty="0">
                <a:effectLst/>
                <a:latin typeface="system-ui"/>
              </a:rPr>
              <a:t>We need to reduce both False Negatives and False Positives which are basically incorrect prediction of bookings’ cancellations prediction (and in fact they don’t cancel) and prediction of non-cancellation (and in fact if they cancel).</a:t>
            </a:r>
          </a:p>
          <a:p>
            <a:pPr indent="-317500">
              <a:spcBef>
                <a:spcPts val="1000"/>
              </a:spcBef>
              <a:spcAft>
                <a:spcPts val="1000"/>
              </a:spcAft>
              <a:buClr>
                <a:srgbClr val="000000"/>
              </a:buClr>
              <a:buSzPts val="1400"/>
            </a:pPr>
            <a:r>
              <a:rPr lang="en-US" sz="1600" dirty="0">
                <a:latin typeface="system-ui"/>
              </a:rPr>
              <a:t>For that we need to improve F1 score.</a:t>
            </a:r>
            <a:endParaRPr lang="en-US" sz="1600" b="0" i="0" u="none" strike="noStrike" dirty="0">
              <a:effectLst/>
              <a:latin typeface="system-ui"/>
            </a:endParaRPr>
          </a:p>
          <a:p>
            <a:pPr marL="457200" lvl="0" indent="-317500" algn="l" rtl="0">
              <a:lnSpc>
                <a:spcPct val="115000"/>
              </a:lnSpc>
              <a:spcBef>
                <a:spcPts val="1000"/>
              </a:spcBef>
              <a:spcAft>
                <a:spcPts val="1000"/>
              </a:spcAft>
              <a:buClr>
                <a:srgbClr val="000000"/>
              </a:buClr>
              <a:buSzPts val="1400"/>
              <a:buChar char="●"/>
            </a:pPr>
            <a:endParaRPr sz="1400"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10e9006cb6c_1_3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Model Building - Logistic Regression</a:t>
            </a:r>
            <a:endParaRPr dirty="0">
              <a:solidFill>
                <a:srgbClr val="1974D2"/>
              </a:solidFill>
            </a:endParaRPr>
          </a:p>
        </p:txBody>
      </p:sp>
      <p:sp>
        <p:nvSpPr>
          <p:cNvPr id="162" name="Google Shape;162;g10e9006cb6c_1_33"/>
          <p:cNvSpPr txBox="1">
            <a:spLocks noGrp="1"/>
          </p:cNvSpPr>
          <p:nvPr>
            <p:ph type="body" idx="1"/>
          </p:nvPr>
        </p:nvSpPr>
        <p:spPr>
          <a:xfrm>
            <a:off x="202550" y="861975"/>
            <a:ext cx="4587423" cy="2520052"/>
          </a:xfrm>
          <a:prstGeom prst="rect">
            <a:avLst/>
          </a:prstGeom>
          <a:noFill/>
          <a:ln>
            <a:noFill/>
          </a:ln>
        </p:spPr>
        <p:txBody>
          <a:bodyPr spcFirstLastPara="1" wrap="square" lIns="91425" tIns="91425" rIns="91425" bIns="91425" anchor="t" anchorCtr="0">
            <a:noAutofit/>
          </a:bodyPr>
          <a:lstStyle/>
          <a:p>
            <a:pPr marL="285750" indent="-285750">
              <a:spcBef>
                <a:spcPts val="1000"/>
              </a:spcBef>
            </a:pPr>
            <a:r>
              <a:rPr lang="en-US" sz="1400" dirty="0">
                <a:solidFill>
                  <a:schemeClr val="dk1"/>
                </a:solidFill>
              </a:rPr>
              <a:t>Create confusion </a:t>
            </a:r>
            <a:r>
              <a:rPr lang="en-US" sz="1400" dirty="0" err="1">
                <a:solidFill>
                  <a:schemeClr val="dk1"/>
                </a:solidFill>
              </a:rPr>
              <a:t>metrix</a:t>
            </a:r>
            <a:endParaRPr lang="en-US" sz="1400" dirty="0">
              <a:solidFill>
                <a:schemeClr val="dk1"/>
              </a:solidFill>
            </a:endParaRPr>
          </a:p>
          <a:p>
            <a:pPr marL="285750" indent="-285750">
              <a:spcBef>
                <a:spcPts val="1000"/>
              </a:spcBef>
            </a:pPr>
            <a:r>
              <a:rPr lang="en-US" sz="1400" dirty="0">
                <a:solidFill>
                  <a:schemeClr val="dk1"/>
                </a:solidFill>
              </a:rPr>
              <a:t>Check ROC-AUC Curve</a:t>
            </a:r>
          </a:p>
          <a:p>
            <a:pPr marL="285750" indent="-285750">
              <a:spcBef>
                <a:spcPts val="1000"/>
              </a:spcBef>
            </a:pPr>
            <a:r>
              <a:rPr lang="en-US" sz="1400" dirty="0">
                <a:solidFill>
                  <a:schemeClr val="dk1"/>
                </a:solidFill>
              </a:rPr>
              <a:t>Create multiple test train data combination using various threshold</a:t>
            </a:r>
          </a:p>
          <a:p>
            <a:pPr marL="285750" indent="-285750">
              <a:spcBef>
                <a:spcPts val="1000"/>
              </a:spcBef>
            </a:pPr>
            <a:r>
              <a:rPr lang="en-US" sz="1600" i="0" u="none" strike="noStrike" dirty="0">
                <a:effectLst/>
                <a:latin typeface="system-ui"/>
              </a:rPr>
              <a:t>see Precision-Recall curve and see if we can find a better threshold</a:t>
            </a:r>
          </a:p>
          <a:p>
            <a:pPr marL="285750" indent="-285750">
              <a:spcBef>
                <a:spcPts val="1000"/>
              </a:spcBef>
            </a:pPr>
            <a:endParaRPr sz="1400" dirty="0">
              <a:solidFill>
                <a:schemeClr val="dk1"/>
              </a:solidFill>
            </a:endParaRPr>
          </a:p>
        </p:txBody>
      </p:sp>
      <p:pic>
        <p:nvPicPr>
          <p:cNvPr id="3" name="Picture 2">
            <a:extLst>
              <a:ext uri="{FF2B5EF4-FFF2-40B4-BE49-F238E27FC236}">
                <a16:creationId xmlns:a16="http://schemas.microsoft.com/office/drawing/2014/main" id="{C05D08D4-F5C9-2918-0D69-8F08D4BB33AE}"/>
              </a:ext>
            </a:extLst>
          </p:cNvPr>
          <p:cNvPicPr>
            <a:picLocks noChangeAspect="1"/>
          </p:cNvPicPr>
          <p:nvPr/>
        </p:nvPicPr>
        <p:blipFill>
          <a:blip r:embed="rId3"/>
          <a:stretch>
            <a:fillRect/>
          </a:stretch>
        </p:blipFill>
        <p:spPr>
          <a:xfrm>
            <a:off x="430466" y="3632585"/>
            <a:ext cx="8838351" cy="951941"/>
          </a:xfrm>
          <a:prstGeom prst="rect">
            <a:avLst/>
          </a:prstGeom>
        </p:spPr>
      </p:pic>
      <p:pic>
        <p:nvPicPr>
          <p:cNvPr id="4" name="Picture 3">
            <a:extLst>
              <a:ext uri="{FF2B5EF4-FFF2-40B4-BE49-F238E27FC236}">
                <a16:creationId xmlns:a16="http://schemas.microsoft.com/office/drawing/2014/main" id="{4DD9E626-9340-DFC5-E2CE-FFABAFA8D925}"/>
              </a:ext>
            </a:extLst>
          </p:cNvPr>
          <p:cNvPicPr>
            <a:picLocks noChangeAspect="1"/>
          </p:cNvPicPr>
          <p:nvPr/>
        </p:nvPicPr>
        <p:blipFill>
          <a:blip r:embed="rId4"/>
          <a:stretch>
            <a:fillRect/>
          </a:stretch>
        </p:blipFill>
        <p:spPr>
          <a:xfrm>
            <a:off x="4659556" y="626690"/>
            <a:ext cx="4281894" cy="29906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125be7063df_0_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800">
                <a:solidFill>
                  <a:srgbClr val="1974D2"/>
                </a:solidFill>
              </a:rPr>
              <a:t>Model Performance Evaluation and Improvement - Logistic Regression</a:t>
            </a:r>
            <a:endParaRPr sz="1800">
              <a:solidFill>
                <a:srgbClr val="1974D2"/>
              </a:solidFill>
            </a:endParaRPr>
          </a:p>
        </p:txBody>
      </p:sp>
      <p:sp>
        <p:nvSpPr>
          <p:cNvPr id="168" name="Google Shape;168;g125be7063df_0_0"/>
          <p:cNvSpPr txBox="1">
            <a:spLocks noGrp="1"/>
          </p:cNvSpPr>
          <p:nvPr>
            <p:ph type="body" idx="1"/>
          </p:nvPr>
        </p:nvSpPr>
        <p:spPr>
          <a:xfrm>
            <a:off x="202550" y="861975"/>
            <a:ext cx="4111266" cy="3706800"/>
          </a:xfrm>
          <a:prstGeom prst="rect">
            <a:avLst/>
          </a:prstGeom>
          <a:noFill/>
          <a:ln>
            <a:noFill/>
          </a:ln>
        </p:spPr>
        <p:txBody>
          <a:bodyPr spcFirstLastPara="1" wrap="square" lIns="91425" tIns="91425" rIns="91425" bIns="91425" anchor="t" anchorCtr="0">
            <a:noAutofit/>
          </a:bodyPr>
          <a:lstStyle/>
          <a:p>
            <a:pPr marL="0" indent="0">
              <a:spcBef>
                <a:spcPts val="1000"/>
              </a:spcBef>
              <a:buNone/>
            </a:pPr>
            <a:r>
              <a:rPr lang="en-US" sz="1400" dirty="0">
                <a:latin typeface="system-ui"/>
              </a:rPr>
              <a:t>We</a:t>
            </a:r>
            <a:r>
              <a:rPr lang="en-US" sz="1400" b="0" i="0" u="none" strike="noStrike" dirty="0">
                <a:effectLst/>
                <a:latin typeface="system-ui"/>
              </a:rPr>
              <a:t> can conclude that the logistic regression model with a threshold of 0.37 has the best performance across various metrics, including accuracy, recall, precision, and F1 score. Therefore, it is recommended as the optimal model for predicting booking cancellations in this scenario.</a:t>
            </a:r>
            <a:endParaRPr lang="en-US" sz="1200" dirty="0">
              <a:solidFill>
                <a:schemeClr val="dk1"/>
              </a:solidFill>
            </a:endParaRPr>
          </a:p>
          <a:p>
            <a:pPr marL="0" lvl="0" indent="0" algn="l" rtl="0">
              <a:lnSpc>
                <a:spcPct val="115000"/>
              </a:lnSpc>
              <a:spcBef>
                <a:spcPts val="1000"/>
              </a:spcBef>
              <a:spcAft>
                <a:spcPts val="0"/>
              </a:spcAft>
              <a:buSzPts val="1500"/>
              <a:buNone/>
            </a:pPr>
            <a:endParaRPr sz="1400" dirty="0">
              <a:solidFill>
                <a:schemeClr val="dk1"/>
              </a:solidFill>
            </a:endParaRPr>
          </a:p>
          <a:p>
            <a:pPr marL="0" lvl="0" indent="0" algn="l" rtl="0">
              <a:lnSpc>
                <a:spcPct val="115000"/>
              </a:lnSpc>
              <a:spcBef>
                <a:spcPts val="1000"/>
              </a:spcBef>
              <a:spcAft>
                <a:spcPts val="1000"/>
              </a:spcAft>
              <a:buSzPts val="1500"/>
              <a:buNone/>
            </a:pPr>
            <a:r>
              <a:rPr lang="en" sz="1200" b="1" i="1" dirty="0">
                <a:solidFill>
                  <a:srgbClr val="000000"/>
                </a:solidFill>
              </a:rPr>
              <a:t>Note</a:t>
            </a:r>
            <a:r>
              <a:rPr lang="en" sz="1200" i="1" dirty="0">
                <a:solidFill>
                  <a:srgbClr val="000000"/>
                </a:solidFill>
              </a:rPr>
              <a:t>: You can use more than one slide if needed </a:t>
            </a:r>
            <a:endParaRPr sz="1400" dirty="0">
              <a:solidFill>
                <a:schemeClr val="dk1"/>
              </a:solidFill>
            </a:endParaRPr>
          </a:p>
        </p:txBody>
      </p:sp>
      <p:pic>
        <p:nvPicPr>
          <p:cNvPr id="2" name="Picture 1">
            <a:extLst>
              <a:ext uri="{FF2B5EF4-FFF2-40B4-BE49-F238E27FC236}">
                <a16:creationId xmlns:a16="http://schemas.microsoft.com/office/drawing/2014/main" id="{9EB466CB-A159-4E8B-B4D3-C6F536A16BCA}"/>
              </a:ext>
            </a:extLst>
          </p:cNvPr>
          <p:cNvPicPr>
            <a:picLocks noChangeAspect="1"/>
          </p:cNvPicPr>
          <p:nvPr/>
        </p:nvPicPr>
        <p:blipFill>
          <a:blip r:embed="rId3"/>
          <a:stretch>
            <a:fillRect/>
          </a:stretch>
        </p:blipFill>
        <p:spPr>
          <a:xfrm>
            <a:off x="4157140" y="853659"/>
            <a:ext cx="4986860" cy="34278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125be7063df_0_5"/>
          <p:cNvSpPr txBox="1">
            <a:spLocks noGrp="1"/>
          </p:cNvSpPr>
          <p:nvPr>
            <p:ph type="title"/>
          </p:nvPr>
        </p:nvSpPr>
        <p:spPr>
          <a:xfrm>
            <a:off x="201972" y="288368"/>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SzPts val="2200"/>
              <a:buNone/>
            </a:pPr>
            <a:r>
              <a:rPr lang="en-US" sz="2800" dirty="0"/>
              <a:t>Model Building - Decision Tree</a:t>
            </a:r>
          </a:p>
        </p:txBody>
      </p:sp>
      <p:sp>
        <p:nvSpPr>
          <p:cNvPr id="174" name="Google Shape;174;g125be7063df_0_5"/>
          <p:cNvSpPr txBox="1">
            <a:spLocks noGrp="1"/>
          </p:cNvSpPr>
          <p:nvPr>
            <p:ph type="body" idx="4294967295"/>
          </p:nvPr>
        </p:nvSpPr>
        <p:spPr>
          <a:xfrm>
            <a:off x="201972" y="1051568"/>
            <a:ext cx="4165050" cy="3264408"/>
          </a:xfrm>
        </p:spPr>
        <p:txBody>
          <a:bodyPr spcFirstLastPara="1" lIns="91425" tIns="91425" rIns="91425" bIns="91425" anchor="t" anchorCtr="0">
            <a:normAutofit/>
          </a:bodyPr>
          <a:lstStyle/>
          <a:p>
            <a:pPr marL="457200" lvl="0" indent="-317500">
              <a:spcAft>
                <a:spcPts val="600"/>
              </a:spcAft>
              <a:buClr>
                <a:srgbClr val="000000"/>
              </a:buClr>
              <a:buSzPts val="1400"/>
              <a:buFont typeface="+mj-lt"/>
              <a:buAutoNum type="arabicPeriod"/>
            </a:pPr>
            <a:r>
              <a:rPr lang="en-US" sz="1200" b="0" i="0" u="none" strike="noStrike" cap="none" dirty="0">
                <a:solidFill>
                  <a:schemeClr val="bg2"/>
                </a:solidFill>
                <a:latin typeface="Arial" panose="020B0604020202020204" pitchFamily="34" charset="0"/>
                <a:cs typeface="Arial" panose="020B0604020202020204" pitchFamily="34" charset="0"/>
              </a:rPr>
              <a:t>Visualize the tree (SC attached)</a:t>
            </a:r>
          </a:p>
          <a:p>
            <a:pPr marL="457200" lvl="0" indent="-317500">
              <a:spcAft>
                <a:spcPts val="600"/>
              </a:spcAft>
              <a:buClr>
                <a:srgbClr val="000000"/>
              </a:buClr>
              <a:buSzPts val="1400"/>
              <a:buFont typeface="+mj-lt"/>
              <a:buAutoNum type="arabicPeriod"/>
            </a:pPr>
            <a:r>
              <a:rPr lang="en-US" sz="1200" b="0" i="0" u="none" strike="noStrike" dirty="0">
                <a:solidFill>
                  <a:schemeClr val="bg2"/>
                </a:solidFill>
                <a:effectLst/>
                <a:latin typeface="Arial" panose="020B0604020202020204" pitchFamily="34" charset="0"/>
                <a:cs typeface="Arial" panose="020B0604020202020204" pitchFamily="34" charset="0"/>
              </a:rPr>
              <a:t>The tree starts by evaluating the lead time feature</a:t>
            </a:r>
            <a:endParaRPr lang="en-US" sz="1200" b="0" i="0" u="none" strike="noStrike" cap="none" dirty="0">
              <a:solidFill>
                <a:schemeClr val="bg2"/>
              </a:solidFill>
              <a:latin typeface="Arial" panose="020B0604020202020204" pitchFamily="34" charset="0"/>
              <a:cs typeface="Arial" panose="020B0604020202020204" pitchFamily="34" charset="0"/>
            </a:endParaRPr>
          </a:p>
          <a:p>
            <a:pPr algn="l">
              <a:buFont typeface="+mj-lt"/>
              <a:buAutoNum type="arabicPeriod"/>
            </a:pPr>
            <a:r>
              <a:rPr lang="en-US" sz="1200" b="0" i="0" u="none" strike="noStrike" dirty="0">
                <a:solidFill>
                  <a:schemeClr val="bg2"/>
                </a:solidFill>
                <a:effectLst/>
                <a:latin typeface="Arial" panose="020B0604020202020204" pitchFamily="34" charset="0"/>
                <a:cs typeface="Arial" panose="020B0604020202020204" pitchFamily="34" charset="0"/>
              </a:rPr>
              <a:t>The </a:t>
            </a:r>
            <a:r>
              <a:rPr lang="en-US" sz="1200" b="0" i="0" u="none" strike="noStrike" dirty="0" err="1">
                <a:solidFill>
                  <a:schemeClr val="bg2"/>
                </a:solidFill>
                <a:effectLst/>
                <a:latin typeface="Arial" panose="020B0604020202020204" pitchFamily="34" charset="0"/>
                <a:cs typeface="Arial" panose="020B0604020202020204" pitchFamily="34" charset="0"/>
              </a:rPr>
              <a:t>feauture</a:t>
            </a:r>
            <a:r>
              <a:rPr lang="en-US" sz="1200" b="0" i="0" u="none" strike="noStrike" dirty="0">
                <a:solidFill>
                  <a:schemeClr val="bg2"/>
                </a:solidFill>
                <a:effectLst/>
                <a:latin typeface="Arial" panose="020B0604020202020204" pitchFamily="34" charset="0"/>
                <a:cs typeface="Arial" panose="020B0604020202020204" pitchFamily="34" charset="0"/>
              </a:rPr>
              <a:t> importances the top 3 has changed for estimator:</a:t>
            </a:r>
          </a:p>
          <a:p>
            <a:pPr marL="742950" lvl="1" indent="-285750" algn="l">
              <a:lnSpc>
                <a:spcPct val="100000"/>
              </a:lnSpc>
              <a:spcBef>
                <a:spcPts val="600"/>
              </a:spcBef>
              <a:buFont typeface="Arial" panose="020B0604020202020204" pitchFamily="34" charset="0"/>
              <a:buChar char="•"/>
            </a:pPr>
            <a:r>
              <a:rPr lang="en-US" sz="1200" b="0" i="0" u="none" strike="noStrike" dirty="0" err="1">
                <a:solidFill>
                  <a:schemeClr val="bg2"/>
                </a:solidFill>
                <a:effectLst/>
                <a:latin typeface="Arial" panose="020B0604020202020204" pitchFamily="34" charset="0"/>
                <a:cs typeface="Arial" panose="020B0604020202020204" pitchFamily="34" charset="0"/>
              </a:rPr>
              <a:t>lead_time</a:t>
            </a:r>
            <a:endParaRPr lang="en-US" sz="1200" b="0" i="0" u="none" strike="noStrike" dirty="0">
              <a:solidFill>
                <a:schemeClr val="bg2"/>
              </a:solidFill>
              <a:effectLst/>
              <a:latin typeface="Arial" panose="020B0604020202020204" pitchFamily="34" charset="0"/>
              <a:cs typeface="Arial" panose="020B0604020202020204" pitchFamily="34" charset="0"/>
            </a:endParaRPr>
          </a:p>
          <a:p>
            <a:pPr marL="742950" lvl="1" indent="-285750" algn="l">
              <a:lnSpc>
                <a:spcPct val="100000"/>
              </a:lnSpc>
              <a:spcBef>
                <a:spcPts val="600"/>
              </a:spcBef>
              <a:buFont typeface="Arial" panose="020B0604020202020204" pitchFamily="34" charset="0"/>
              <a:buChar char="•"/>
            </a:pPr>
            <a:r>
              <a:rPr lang="en-US" sz="1200" b="0" i="0" u="none" strike="noStrike" dirty="0" err="1">
                <a:solidFill>
                  <a:schemeClr val="bg2"/>
                </a:solidFill>
                <a:effectLst/>
                <a:latin typeface="Arial" panose="020B0604020202020204" pitchFamily="34" charset="0"/>
                <a:cs typeface="Arial" panose="020B0604020202020204" pitchFamily="34" charset="0"/>
              </a:rPr>
              <a:t>market_segment_type_online</a:t>
            </a:r>
            <a:endParaRPr lang="en-US" sz="1200" b="0" i="0" u="none" strike="noStrike" dirty="0">
              <a:solidFill>
                <a:schemeClr val="bg2"/>
              </a:solidFill>
              <a:effectLst/>
              <a:latin typeface="Arial" panose="020B0604020202020204" pitchFamily="34" charset="0"/>
              <a:cs typeface="Arial" panose="020B0604020202020204" pitchFamily="34" charset="0"/>
            </a:endParaRPr>
          </a:p>
          <a:p>
            <a:pPr marL="742950" lvl="1" indent="-285750" algn="l">
              <a:lnSpc>
                <a:spcPct val="100000"/>
              </a:lnSpc>
              <a:spcBef>
                <a:spcPts val="600"/>
              </a:spcBef>
              <a:buFont typeface="Arial" panose="020B0604020202020204" pitchFamily="34" charset="0"/>
              <a:buChar char="•"/>
            </a:pPr>
            <a:r>
              <a:rPr lang="en-US" sz="1200" b="0" i="0" u="none" strike="noStrike" dirty="0" err="1">
                <a:solidFill>
                  <a:schemeClr val="bg2"/>
                </a:solidFill>
                <a:effectLst/>
                <a:latin typeface="Arial" panose="020B0604020202020204" pitchFamily="34" charset="0"/>
                <a:cs typeface="Arial" panose="020B0604020202020204" pitchFamily="34" charset="0"/>
              </a:rPr>
              <a:t>no_of_special_requests</a:t>
            </a:r>
            <a:endParaRPr lang="en-US" sz="1200" b="0" i="0" u="none" strike="noStrike" dirty="0">
              <a:solidFill>
                <a:schemeClr val="bg2"/>
              </a:solidFill>
              <a:effectLst/>
              <a:latin typeface="Arial" panose="020B0604020202020204" pitchFamily="34" charset="0"/>
              <a:cs typeface="Arial" panose="020B0604020202020204" pitchFamily="34" charset="0"/>
            </a:endParaRPr>
          </a:p>
          <a:p>
            <a:pPr marL="457200" lvl="0" indent="-317500">
              <a:spcAft>
                <a:spcPts val="600"/>
              </a:spcAft>
              <a:buClr>
                <a:srgbClr val="000000"/>
              </a:buClr>
              <a:buSzPts val="1400"/>
              <a:buFont typeface="Arial"/>
              <a:buChar char="●"/>
            </a:pPr>
            <a:endParaRPr lang="en-US" b="0" i="0" u="none" strike="noStrike" cap="none" dirty="0">
              <a:solidFill>
                <a:srgbClr val="0E39A9"/>
              </a:solidFill>
            </a:endParaRPr>
          </a:p>
          <a:p>
            <a:pPr marL="457200" lvl="0" indent="-317500">
              <a:spcAft>
                <a:spcPts val="600"/>
              </a:spcAft>
              <a:buClr>
                <a:srgbClr val="000000"/>
              </a:buClr>
              <a:buSzPts val="1400"/>
              <a:buFont typeface="Arial"/>
              <a:buChar char="●"/>
            </a:pPr>
            <a:endParaRPr lang="en-US" b="0" i="0" u="none" strike="noStrike" cap="none" dirty="0">
              <a:solidFill>
                <a:srgbClr val="0E39A9"/>
              </a:solidFill>
            </a:endParaRPr>
          </a:p>
          <a:p>
            <a:pPr marL="0" lvl="0" indent="0">
              <a:spcAft>
                <a:spcPts val="600"/>
              </a:spcAft>
              <a:buClr>
                <a:srgbClr val="000000"/>
              </a:buClr>
              <a:buSzPts val="1500"/>
              <a:buFont typeface="Arial"/>
              <a:buNone/>
            </a:pPr>
            <a:endParaRPr lang="en-US" b="0" i="0" u="none" strike="noStrike" cap="none" dirty="0">
              <a:solidFill>
                <a:srgbClr val="0E39A9"/>
              </a:solidFill>
            </a:endParaRPr>
          </a:p>
        </p:txBody>
      </p:sp>
      <p:pic>
        <p:nvPicPr>
          <p:cNvPr id="2" name="Picture 1">
            <a:extLst>
              <a:ext uri="{FF2B5EF4-FFF2-40B4-BE49-F238E27FC236}">
                <a16:creationId xmlns:a16="http://schemas.microsoft.com/office/drawing/2014/main" id="{B1A8EA5A-AC6E-22B9-AACF-79FD94D02232}"/>
              </a:ext>
            </a:extLst>
          </p:cNvPr>
          <p:cNvPicPr>
            <a:picLocks noChangeAspect="1"/>
          </p:cNvPicPr>
          <p:nvPr/>
        </p:nvPicPr>
        <p:blipFill>
          <a:blip r:embed="rId3"/>
          <a:srcRect l="26097" r="19039" b="-1"/>
          <a:stretch/>
        </p:blipFill>
        <p:spPr>
          <a:xfrm>
            <a:off x="4557522" y="1051568"/>
            <a:ext cx="4165050" cy="3264408"/>
          </a:xfrm>
          <a:prstGeom prst="rect">
            <a:avLst/>
          </a:prstGeom>
          <a:noFill/>
          <a:ln>
            <a:noFill/>
          </a:ln>
        </p:spPr>
      </p:pic>
      <p:pic>
        <p:nvPicPr>
          <p:cNvPr id="3" name="Picture 2">
            <a:extLst>
              <a:ext uri="{FF2B5EF4-FFF2-40B4-BE49-F238E27FC236}">
                <a16:creationId xmlns:a16="http://schemas.microsoft.com/office/drawing/2014/main" id="{870E9448-6E22-A7E3-3BF8-4B95C47E3FC8}"/>
              </a:ext>
            </a:extLst>
          </p:cNvPr>
          <p:cNvPicPr>
            <a:picLocks noChangeAspect="1"/>
          </p:cNvPicPr>
          <p:nvPr/>
        </p:nvPicPr>
        <p:blipFill>
          <a:blip r:embed="rId4"/>
          <a:stretch>
            <a:fillRect/>
          </a:stretch>
        </p:blipFill>
        <p:spPr>
          <a:xfrm>
            <a:off x="139187" y="3044414"/>
            <a:ext cx="4323085" cy="173492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125be7063df_0_10"/>
          <p:cNvSpPr txBox="1">
            <a:spLocks noGrp="1"/>
          </p:cNvSpPr>
          <p:nvPr>
            <p:ph type="title"/>
          </p:nvPr>
        </p:nvSpPr>
        <p:spPr>
          <a:xfrm>
            <a:off x="201972" y="288368"/>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SzPts val="2200"/>
              <a:buNone/>
            </a:pPr>
            <a:r>
              <a:rPr lang="en-US" sz="2000"/>
              <a:t>Model Performance Evaluation and Improvement - Decision Tree</a:t>
            </a:r>
          </a:p>
        </p:txBody>
      </p:sp>
      <p:sp>
        <p:nvSpPr>
          <p:cNvPr id="180" name="Google Shape;180;g125be7063df_0_10"/>
          <p:cNvSpPr txBox="1">
            <a:spLocks noGrp="1"/>
          </p:cNvSpPr>
          <p:nvPr>
            <p:ph type="body" idx="4294967295"/>
          </p:nvPr>
        </p:nvSpPr>
        <p:spPr>
          <a:xfrm>
            <a:off x="201972" y="1051568"/>
            <a:ext cx="4165050" cy="3264408"/>
          </a:xfrm>
        </p:spPr>
        <p:txBody>
          <a:bodyPr spcFirstLastPara="1" lIns="91425" tIns="91425" rIns="91425" bIns="91425" anchor="t" anchorCtr="0">
            <a:normAutofit/>
          </a:bodyPr>
          <a:lstStyle/>
          <a:p>
            <a:pPr marL="285750" indent="-285750">
              <a:spcAft>
                <a:spcPts val="600"/>
              </a:spcAft>
              <a:buClr>
                <a:srgbClr val="000000"/>
              </a:buClr>
              <a:buFont typeface="Arial"/>
            </a:pPr>
            <a:r>
              <a:rPr lang="en-US" b="0" i="0" u="none" strike="noStrike" cap="none" dirty="0">
                <a:solidFill>
                  <a:srgbClr val="0E39A9"/>
                </a:solidFill>
              </a:rPr>
              <a:t>Cost complexity pruning: Number of nodes in the last tree is: 1 with </a:t>
            </a:r>
            <a:r>
              <a:rPr lang="en-US" b="0" i="0" u="none" strike="noStrike" cap="none" dirty="0" err="1">
                <a:solidFill>
                  <a:srgbClr val="0E39A9"/>
                </a:solidFill>
              </a:rPr>
              <a:t>ccp_alpha</a:t>
            </a:r>
            <a:r>
              <a:rPr lang="en-US" b="0" i="0" u="none" strike="noStrike" cap="none" dirty="0">
                <a:solidFill>
                  <a:srgbClr val="0E39A9"/>
                </a:solidFill>
              </a:rPr>
              <a:t>: 0.081</a:t>
            </a:r>
          </a:p>
          <a:p>
            <a:pPr marL="285750" indent="-285750">
              <a:spcAft>
                <a:spcPts val="600"/>
              </a:spcAft>
              <a:buClr>
                <a:srgbClr val="000000"/>
              </a:buClr>
              <a:buFont typeface="Arial"/>
            </a:pPr>
            <a:r>
              <a:rPr lang="en-US" dirty="0">
                <a:solidFill>
                  <a:srgbClr val="0E39A9"/>
                </a:solidFill>
              </a:rPr>
              <a:t>F1 score vs Alpha in Trains vs Test data</a:t>
            </a:r>
            <a:endParaRPr lang="en-US" b="0" i="0" u="none" strike="noStrike" cap="none" dirty="0">
              <a:solidFill>
                <a:srgbClr val="0E39A9"/>
              </a:solidFill>
            </a:endParaRPr>
          </a:p>
          <a:p>
            <a:pPr marL="285750" indent="-285750">
              <a:spcAft>
                <a:spcPts val="600"/>
              </a:spcAft>
              <a:buClr>
                <a:srgbClr val="000000"/>
              </a:buClr>
              <a:buFont typeface="Arial"/>
            </a:pPr>
            <a:endParaRPr lang="en-US" b="0" i="0" u="none" strike="noStrike" cap="none" dirty="0">
              <a:solidFill>
                <a:srgbClr val="0E39A9"/>
              </a:solidFill>
            </a:endParaRPr>
          </a:p>
          <a:p>
            <a:pPr marL="285750" indent="-285750">
              <a:spcAft>
                <a:spcPts val="600"/>
              </a:spcAft>
              <a:buClr>
                <a:srgbClr val="000000"/>
              </a:buClr>
              <a:buFont typeface="Arial"/>
            </a:pPr>
            <a:endParaRPr lang="en-US" b="0" i="0" u="none" strike="noStrike" cap="none" dirty="0">
              <a:solidFill>
                <a:srgbClr val="0E39A9"/>
              </a:solidFill>
            </a:endParaRPr>
          </a:p>
        </p:txBody>
      </p:sp>
      <p:pic>
        <p:nvPicPr>
          <p:cNvPr id="2" name="Picture 1">
            <a:extLst>
              <a:ext uri="{FF2B5EF4-FFF2-40B4-BE49-F238E27FC236}">
                <a16:creationId xmlns:a16="http://schemas.microsoft.com/office/drawing/2014/main" id="{DBCFE488-4003-3936-9461-4A0A58F121B7}"/>
              </a:ext>
            </a:extLst>
          </p:cNvPr>
          <p:cNvPicPr>
            <a:picLocks noChangeAspect="1"/>
          </p:cNvPicPr>
          <p:nvPr/>
        </p:nvPicPr>
        <p:blipFill>
          <a:blip r:embed="rId3"/>
          <a:srcRect l="8078" r="8986" b="-3"/>
          <a:stretch/>
        </p:blipFill>
        <p:spPr>
          <a:xfrm>
            <a:off x="5083610" y="1051568"/>
            <a:ext cx="3638961" cy="3264408"/>
          </a:xfrm>
          <a:prstGeom prst="rect">
            <a:avLst/>
          </a:prstGeom>
          <a:noFill/>
          <a:ln>
            <a:noFill/>
          </a:ln>
        </p:spPr>
      </p:pic>
      <p:pic>
        <p:nvPicPr>
          <p:cNvPr id="3" name="Picture 2">
            <a:extLst>
              <a:ext uri="{FF2B5EF4-FFF2-40B4-BE49-F238E27FC236}">
                <a16:creationId xmlns:a16="http://schemas.microsoft.com/office/drawing/2014/main" id="{1DF346EC-87EB-EAED-EF6B-500243D71BF8}"/>
              </a:ext>
            </a:extLst>
          </p:cNvPr>
          <p:cNvPicPr>
            <a:picLocks noChangeAspect="1"/>
          </p:cNvPicPr>
          <p:nvPr/>
        </p:nvPicPr>
        <p:blipFill>
          <a:blip r:embed="rId4"/>
          <a:stretch>
            <a:fillRect/>
          </a:stretch>
        </p:blipFill>
        <p:spPr>
          <a:xfrm>
            <a:off x="360737" y="2323652"/>
            <a:ext cx="4564108" cy="19923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10e9006cb6c_1_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Slide Header</a:t>
            </a:r>
            <a:endParaRPr dirty="0">
              <a:solidFill>
                <a:srgbClr val="1974D2"/>
              </a:solidFill>
            </a:endParaRPr>
          </a:p>
        </p:txBody>
      </p:sp>
      <p:sp>
        <p:nvSpPr>
          <p:cNvPr id="186" name="Google Shape;186;g10e9006cb6c_1_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US" sz="1600" b="0" i="0" u="none" strike="noStrike" dirty="0">
                <a:effectLst/>
                <a:latin typeface="system-ui"/>
              </a:rPr>
              <a:t>post-pruning is giving the highest recall on the test set</a:t>
            </a:r>
          </a:p>
          <a:p>
            <a:pPr marL="457200" lvl="0" indent="-317500" algn="l" rtl="0">
              <a:lnSpc>
                <a:spcPct val="115000"/>
              </a:lnSpc>
              <a:spcBef>
                <a:spcPts val="1000"/>
              </a:spcBef>
              <a:spcAft>
                <a:spcPts val="1000"/>
              </a:spcAft>
              <a:buClr>
                <a:srgbClr val="000000"/>
              </a:buClr>
              <a:buSzPts val="1400"/>
              <a:buChar char="●"/>
            </a:pPr>
            <a:r>
              <a:rPr lang="en-US" sz="1600" dirty="0">
                <a:solidFill>
                  <a:schemeClr val="dk1"/>
                </a:solidFill>
                <a:latin typeface="system-ui"/>
              </a:rPr>
              <a:t>Booking with high Leadtime and avg booking price is likely to be cancelled</a:t>
            </a:r>
          </a:p>
          <a:p>
            <a:pPr marL="457200" lvl="0" indent="-317500" algn="l" rtl="0">
              <a:lnSpc>
                <a:spcPct val="115000"/>
              </a:lnSpc>
              <a:spcBef>
                <a:spcPts val="1000"/>
              </a:spcBef>
              <a:spcAft>
                <a:spcPts val="1000"/>
              </a:spcAft>
              <a:buClr>
                <a:srgbClr val="000000"/>
              </a:buClr>
              <a:buSzPts val="1400"/>
              <a:buChar char="●"/>
            </a:pPr>
            <a:r>
              <a:rPr lang="en-US" sz="1600" dirty="0">
                <a:solidFill>
                  <a:schemeClr val="dk1"/>
                </a:solidFill>
                <a:latin typeface="system-ui"/>
              </a:rPr>
              <a:t>Recommendation for Hotel should be: </a:t>
            </a:r>
            <a:r>
              <a:rPr lang="en-US" sz="1600" b="0" i="0" u="none" strike="noStrike" dirty="0">
                <a:effectLst/>
                <a:latin typeface="system-ui"/>
              </a:rPr>
              <a:t>paying special attention to Lead time, reduce average price per room, allow incentive for corporate bookings, increase price in peak season of October and reduce for other months.</a:t>
            </a:r>
            <a:endParaRPr lang="en-US" sz="1400" dirty="0">
              <a:solidFill>
                <a:schemeClr val="dk1"/>
              </a:solidFill>
            </a:endParaRPr>
          </a:p>
          <a:p>
            <a:pPr marL="457200" lvl="0" indent="-317500" algn="l" rtl="0">
              <a:lnSpc>
                <a:spcPct val="115000"/>
              </a:lnSpc>
              <a:spcBef>
                <a:spcPts val="1000"/>
              </a:spcBef>
              <a:spcAft>
                <a:spcPts val="1000"/>
              </a:spcAft>
              <a:buClr>
                <a:srgbClr val="000000"/>
              </a:buClr>
              <a:buSzPts val="1400"/>
              <a:buChar char="●"/>
            </a:pPr>
            <a:endParaRPr lang="en-US" sz="1400" dirty="0">
              <a:solidFill>
                <a:schemeClr val="dk1"/>
              </a:solidFill>
            </a:endParaRPr>
          </a:p>
          <a:p>
            <a:pPr marL="457200" lvl="0" indent="-317500" algn="l" rtl="0">
              <a:lnSpc>
                <a:spcPct val="115000"/>
              </a:lnSpc>
              <a:spcBef>
                <a:spcPts val="1000"/>
              </a:spcBef>
              <a:spcAft>
                <a:spcPts val="1000"/>
              </a:spcAft>
              <a:buClr>
                <a:srgbClr val="000000"/>
              </a:buClr>
              <a:buSzPts val="1400"/>
              <a:buChar char="●"/>
            </a:pPr>
            <a:endParaRPr sz="1400" dirty="0">
              <a:solidFill>
                <a:schemeClr val="dk1"/>
              </a:solidFill>
            </a:endParaRPr>
          </a:p>
        </p:txBody>
      </p:sp>
      <p:pic>
        <p:nvPicPr>
          <p:cNvPr id="4" name="Picture 3">
            <a:extLst>
              <a:ext uri="{FF2B5EF4-FFF2-40B4-BE49-F238E27FC236}">
                <a16:creationId xmlns:a16="http://schemas.microsoft.com/office/drawing/2014/main" id="{84A33B20-3383-71BC-6694-2CC7DE56FE17}"/>
              </a:ext>
            </a:extLst>
          </p:cNvPr>
          <p:cNvPicPr>
            <a:picLocks noChangeAspect="1"/>
          </p:cNvPicPr>
          <p:nvPr/>
        </p:nvPicPr>
        <p:blipFill>
          <a:blip r:embed="rId3"/>
          <a:stretch>
            <a:fillRect/>
          </a:stretch>
        </p:blipFill>
        <p:spPr>
          <a:xfrm>
            <a:off x="950750" y="3076687"/>
            <a:ext cx="7772400" cy="16147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10ee00f67ea_0_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94" name="Google Shape;194;g10ee00f67ea_0_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19</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829</Words>
  <Application>Microsoft Macintosh PowerPoint</Application>
  <PresentationFormat>On-screen Show (16:9)</PresentationFormat>
  <Paragraphs>82</Paragraphs>
  <Slides>19</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system-ui</vt:lpstr>
      <vt:lpstr>Arial</vt:lpstr>
      <vt:lpstr>Nunito SemiBold</vt:lpstr>
      <vt:lpstr>Nunito ExtraBold</vt:lpstr>
      <vt:lpstr>Calibri</vt:lpstr>
      <vt:lpstr>Nunito</vt:lpstr>
      <vt:lpstr>Just Logo</vt:lpstr>
      <vt:lpstr>Just Logo</vt:lpstr>
      <vt:lpstr>Case Study 4</vt:lpstr>
      <vt:lpstr>Contents / Agenda</vt:lpstr>
      <vt:lpstr>Executive Summary </vt:lpstr>
      <vt:lpstr>Business Problem Overview and Solution Approach</vt:lpstr>
      <vt:lpstr>EDA Results - Univariate</vt:lpstr>
      <vt:lpstr>EDA Results - Univariate</vt:lpstr>
      <vt:lpstr>EDA Results - Univariate</vt:lpstr>
      <vt:lpstr>EDA Results - Univariate</vt:lpstr>
      <vt:lpstr>EDA Results - Bivariate</vt:lpstr>
      <vt:lpstr>EDA Results - Bivariate</vt:lpstr>
      <vt:lpstr>Data Preprocessing </vt:lpstr>
      <vt:lpstr>Model Performance Summary</vt:lpstr>
      <vt:lpstr>Data Background and Contents</vt:lpstr>
      <vt:lpstr>Model Building - Logistic Regression</vt:lpstr>
      <vt:lpstr>Model Performance Evaluation and Improvement - Logistic Regression</vt:lpstr>
      <vt:lpstr>Model Building - Decision Tree</vt:lpstr>
      <vt:lpstr>Model Performance Evaluation and Improvement - Decision Tree</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Nafis Zafar</cp:lastModifiedBy>
  <cp:revision>11</cp:revision>
  <dcterms:modified xsi:type="dcterms:W3CDTF">2024-08-24T04:26:15Z</dcterms:modified>
</cp:coreProperties>
</file>