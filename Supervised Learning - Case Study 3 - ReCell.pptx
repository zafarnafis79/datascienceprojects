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6"/>
  </p:normalViewPr>
  <p:slideViewPr>
    <p:cSldViewPr snapToGrid="0">
      <p:cViewPr varScale="1">
        <p:scale>
          <a:sx n="89" d="100"/>
          <a:sy n="89" d="100"/>
        </p:scale>
        <p:origin x="8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F3CC-3308-D2B5-E812-791241EA6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5BF6A-46A0-71A0-9FE6-F305D9D83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F3844-7010-37B6-48C1-9B07D27D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ABCC9-6A53-EBA8-0DAD-BBC810C27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3E66D-11E5-8296-C780-6378D0F8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3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80FC-04E7-D9AC-0F35-D150AF0F2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5A8D4-6B48-301B-1BBE-2904FEE65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95BEB-65DF-770E-00A2-FADFE0DD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3B1F5-11F6-B599-B3B0-D98B5C0B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F4A8-1A07-B2DA-72A9-ECE0689E1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07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6EA5-852C-DFC9-9794-516B4937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28AC-1481-111E-C71B-9A5FB4377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3DA40-4681-5489-363C-3F35EB537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0AE76-5ACA-BC55-196E-F46D86F92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473E1-4CC1-4DDB-34D5-FBEA128C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9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B242-008D-7D0D-E9A6-24869C3D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23C8F-DD4D-A5F3-94F4-07E8BBD50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57E1D-1E43-DF96-8F1E-3D45CBF28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0039C-945C-62F2-5EDD-4B3238F1F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A69AD-70E8-F7CA-7D01-211CB16D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B595A-6A05-11B4-55B2-6767AFCA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3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A8A07-9CD8-AB15-0DFC-8548596EA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24502-CEF9-65A2-F215-F5904E0DF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34DEF-766C-CFC9-BE8D-FF0FBA604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6B546-0746-5FC3-264E-E7FE8BCB9F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1196B-4A79-3AE9-5CB3-69B745B2D8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B5A28-2AE5-6438-F6F7-BB859CA7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4245DA-1940-C782-6A63-2A0FEF5E5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005C6-2990-1A52-0C7A-EEB83057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7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CD788-1471-2229-156A-01E3BD85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AF7383-7B39-50B6-CC31-43AFC5823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FECDC-8E78-BC55-5845-2EBD746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D4BF7-58B5-9984-4854-AB5CC565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95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4E58C7-8A6B-9D96-9444-17DD3C44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9B28B0-2A7C-55AF-93F5-E19F733A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3C63D-EC37-A424-A7B3-0054A51B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36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9BF67-0EE8-1D11-137F-6E0CCB668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93447-E1A9-12FB-E0A0-D56CF138A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4A63D-292E-96BE-6DEB-0E87A15E2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C6FD7-5A3F-67F6-92F3-459208359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927C5-87F4-399A-585C-FA040CD1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1AD3D-1F88-E7AF-CD3F-C498C99CC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4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E255-8298-1087-3EAB-68B10DC55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3EE81-94AE-CAA3-BF8A-EFD492F342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50F04-0D40-E29D-549E-0BED51439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A4BAB-2FA0-1C8C-59AE-6DA69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9D8C7-A6DB-5B45-1CDC-FD11CAB87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3A54B-57F5-7707-0A40-550CECD8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1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923B-45AA-CD2E-A095-48285772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C77E0-C893-075D-C21A-130855BF5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AE44A-AEDA-818D-0B57-696D6ACC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A0C96-CA57-91FA-C611-22BE9ED2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F0331-EFF8-E839-8D4E-1200CDBA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7C858A-F4C0-77DC-4E4C-8BDF065A3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34663-87F6-8E8F-5081-685EADC92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CBDC8-8A7F-4C4F-F2F2-C6C155F7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4E8B8-C5D2-E5B2-E624-79CC35EF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ED7DD-BECA-8992-027A-E90A58280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5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34D92-3FE5-A255-08F4-13E786C1A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6BAF1-5696-1A16-320F-337B5231C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C191D-1D5D-D610-BEDF-7D88F0490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D19DB-A07D-3249-A5FA-B7400ED6B9FB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64903-4062-B33A-F78D-0153467FD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9C8C5-DC1F-6192-2DA9-76A2A24B7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7BCEDA-69B0-3B49-B66B-F6DDABF5A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90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C4634-C73A-CE83-5E4A-055CE0CC3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904561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Supervised Learning: Case Study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FAB14-5EE3-EEC5-F4A7-2E99EAD9B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0190" y="4664854"/>
            <a:ext cx="6051236" cy="1241828"/>
          </a:xfrm>
        </p:spPr>
        <p:txBody>
          <a:bodyPr>
            <a:noAutofit/>
          </a:bodyPr>
          <a:lstStyle/>
          <a:p>
            <a:pPr algn="r"/>
            <a:r>
              <a:rPr lang="en-US" b="1" u="sng" dirty="0">
                <a:solidFill>
                  <a:srgbClr val="FFFFFF"/>
                </a:solidFill>
              </a:rPr>
              <a:t>Re: Cell Problem Statement </a:t>
            </a:r>
          </a:p>
          <a:p>
            <a:pPr algn="r"/>
            <a:r>
              <a:rPr lang="en-US" dirty="0">
                <a:solidFill>
                  <a:srgbClr val="FFFFFF"/>
                </a:solidFill>
              </a:rPr>
              <a:t>By</a:t>
            </a:r>
          </a:p>
          <a:p>
            <a:pPr algn="r"/>
            <a:r>
              <a:rPr lang="en-US" dirty="0" err="1">
                <a:solidFill>
                  <a:srgbClr val="FFFFFF"/>
                </a:solidFill>
              </a:rPr>
              <a:t>Nafis</a:t>
            </a:r>
            <a:r>
              <a:rPr lang="en-US" dirty="0">
                <a:solidFill>
                  <a:srgbClr val="FFFFFF"/>
                </a:solidFill>
              </a:rPr>
              <a:t> Zafar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37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8DA2-ABA8-A971-F5DE-DC279201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Agenda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F6CE4EEB-B1E2-E259-5F3D-A3EA6A373A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56" r="17306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0FC9B-4204-E82A-4F92-17E0CA3AB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2000"/>
              <a:t>Business Overview and approach to the solution</a:t>
            </a:r>
          </a:p>
          <a:p>
            <a:r>
              <a:rPr lang="en-US" sz="2000"/>
              <a:t>Data Overview, Key Finding and Insights</a:t>
            </a:r>
          </a:p>
          <a:p>
            <a:r>
              <a:rPr lang="en-US" sz="2000"/>
              <a:t>Business Recommendations</a:t>
            </a:r>
          </a:p>
          <a:p>
            <a:r>
              <a:rPr lang="en-US" sz="2000"/>
              <a:t>Explanation of Key Takeaways</a:t>
            </a:r>
          </a:p>
          <a:p>
            <a:r>
              <a:rPr lang="en-US" sz="2000"/>
              <a:t>Benefit of Implementing the solution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02030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6654A-8898-9B71-B789-EC70FA27D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/>
              <a:t>Business Overview and Approach to Solution</a:t>
            </a:r>
          </a:p>
        </p:txBody>
      </p:sp>
      <p:pic>
        <p:nvPicPr>
          <p:cNvPr id="5" name="Picture 4" descr="Mobile device with apps">
            <a:extLst>
              <a:ext uri="{FF2B5EF4-FFF2-40B4-BE49-F238E27FC236}">
                <a16:creationId xmlns:a16="http://schemas.microsoft.com/office/drawing/2014/main" id="{B6C40A58-FCF8-F513-A664-65DB6C23DF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660" r="9089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2A07A-5FD9-BDC4-3FF1-07961B018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sz="1600"/>
              <a:t>Due to rising demands of refurbished cell phones the industry has recently seen significant growth. The industry is estimated at 52 billion dollars by 2023.</a:t>
            </a:r>
          </a:p>
          <a:p>
            <a:r>
              <a:rPr lang="en-US" sz="1600"/>
              <a:t>Due to high price of new phones consumers are leaning toward used phones which is also better for environment.</a:t>
            </a:r>
          </a:p>
          <a:p>
            <a:r>
              <a:rPr lang="en-US" sz="1600"/>
              <a:t>The industry is growing at 13% rate since 2018 to 2023.</a:t>
            </a:r>
          </a:p>
          <a:p>
            <a:r>
              <a:rPr lang="en-US" sz="1600"/>
              <a:t>As a Recell data scientist I have analyzed the data to understand the key factors that determine the price of a refurbished phone.</a:t>
            </a:r>
          </a:p>
          <a:p>
            <a:r>
              <a:rPr lang="en-US" sz="1600"/>
              <a:t>As a data scientist I will recommend pricing of various models of cell phones using a ML based linear regression model. </a:t>
            </a:r>
          </a:p>
        </p:txBody>
      </p:sp>
    </p:spTree>
    <p:extLst>
      <p:ext uri="{BB962C8B-B14F-4D97-AF65-F5344CB8AC3E}">
        <p14:creationId xmlns:p14="http://schemas.microsoft.com/office/powerpoint/2010/main" val="418541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88CDC4-D52F-D0A4-1016-6DA62D13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Data Overview, Key Finding and Insights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57072-A0C6-2EF8-9115-1D8B49C3B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1700" dirty="0"/>
              <a:t>We have observed 3454 records for data overview</a:t>
            </a:r>
          </a:p>
          <a:p>
            <a:r>
              <a:rPr lang="en-US" sz="1700" dirty="0"/>
              <a:t>We observed some missing values for some data points (SC1)</a:t>
            </a:r>
          </a:p>
          <a:p>
            <a:r>
              <a:rPr lang="en-US" sz="1700" dirty="0"/>
              <a:t>Normalized used price is much better (4.3) than the normalized new price (5.2) and more linear (SC2)</a:t>
            </a:r>
          </a:p>
          <a:p>
            <a:endParaRPr lang="en-US" sz="1700" dirty="0"/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4554A3-FC25-E60B-B264-DA0608268C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7" r="-1" b="-1"/>
          <a:stretch/>
        </p:blipFill>
        <p:spPr>
          <a:xfrm>
            <a:off x="5683757" y="2963008"/>
            <a:ext cx="6340012" cy="35535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081172-73A6-ADF8-4BF0-EC601185A4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50" b="-2"/>
          <a:stretch/>
        </p:blipFill>
        <p:spPr>
          <a:xfrm>
            <a:off x="6253693" y="467186"/>
            <a:ext cx="5266266" cy="215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23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A999F-EC48-3823-1797-30052EABE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US" sz="4000" dirty="0"/>
              <a:t>Data Overview, Key Finding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0394B-8C5B-16FE-CA76-9814C16F2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>
            <a:normAutofit/>
          </a:bodyPr>
          <a:lstStyle/>
          <a:p>
            <a:r>
              <a:rPr lang="en-US" sz="2000" dirty="0"/>
              <a:t>Here are the average of key metrics:</a:t>
            </a:r>
          </a:p>
          <a:p>
            <a:r>
              <a:rPr lang="en-US" sz="2000" dirty="0"/>
              <a:t>Most popular </a:t>
            </a:r>
            <a:r>
              <a:rPr lang="en-US" sz="2000" dirty="0" err="1"/>
              <a:t>screen_size</a:t>
            </a:r>
            <a:r>
              <a:rPr lang="en-US" sz="2000" dirty="0"/>
              <a:t> is 15.3</a:t>
            </a:r>
          </a:p>
          <a:p>
            <a:r>
              <a:rPr lang="en-US" sz="2000" dirty="0"/>
              <a:t>Most popular memory size is 64</a:t>
            </a:r>
          </a:p>
          <a:p>
            <a:r>
              <a:rPr lang="en-US" sz="2000" dirty="0"/>
              <a:t>Most popular camera for front and back is 13 and 8 respectively</a:t>
            </a:r>
          </a:p>
          <a:p>
            <a:r>
              <a:rPr lang="en-US" sz="2000" dirty="0"/>
              <a:t>Majority of the phones are from 2018</a:t>
            </a:r>
          </a:p>
          <a:p>
            <a:r>
              <a:rPr lang="en-US" sz="2000" dirty="0"/>
              <a:t>A lot of users have held on to the phone for 868 days</a:t>
            </a:r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0103B-AF7B-4159-72F0-D09A64A02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3" y="843490"/>
            <a:ext cx="5657989" cy="28941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63AF90-F394-5F1F-5567-1685E63C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877" y="4005056"/>
            <a:ext cx="2989029" cy="258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46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31BC3-9AEA-F344-1057-E27602AE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5319317" cy="77549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Overview, Key Finding and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049A0-C5E2-0305-5A01-6FE092F1B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1642533"/>
            <a:ext cx="4620584" cy="441064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 popular known Brand is Samsung </a:t>
            </a:r>
          </a:p>
          <a:p>
            <a:r>
              <a:rPr lang="en-US" sz="2400" dirty="0"/>
              <a:t>Overwhelming amount of majority uses Android phones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42D273-AA4E-5B6F-78D9-8CB8DB2E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948" y="290506"/>
            <a:ext cx="5962785" cy="30511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E54873-82FE-2261-F94E-79A2417B0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948" y="3429000"/>
            <a:ext cx="6248003" cy="335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4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4F289B-5F50-8B52-AD0A-B3E22C57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47949" cy="2137273"/>
          </a:xfrm>
        </p:spPr>
        <p:txBody>
          <a:bodyPr anchor="b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Data Overview, Key Finding and 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C3A08-846D-EF8D-9025-1AB12D9067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1785"/>
            <a:ext cx="4347948" cy="3495178"/>
          </a:xfrm>
        </p:spPr>
        <p:txBody>
          <a:bodyPr>
            <a:normAutofit/>
          </a:bodyPr>
          <a:lstStyle/>
          <a:p>
            <a:r>
              <a:rPr lang="en-US" sz="2000"/>
              <a:t>Majority consumers had 4g phones compared 5g phones</a:t>
            </a:r>
          </a:p>
          <a:p>
            <a:r>
              <a:rPr lang="en-US" sz="2000"/>
              <a:t>Majority of the phones are from 2014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D8FD6-BE6A-A594-DF1D-8888B19E8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309" y="893444"/>
            <a:ext cx="4797354" cy="25425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31E0B1-CAD3-DE2D-74D1-1E452C331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433" y="4814777"/>
            <a:ext cx="2513506" cy="13258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2994FF-CA7E-7AE8-17FF-216C9CA40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412" y="4884702"/>
            <a:ext cx="2183079" cy="120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9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EE4D9C-7634-7B9E-A78E-0BC64E3C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47949" cy="2137273"/>
          </a:xfrm>
        </p:spPr>
        <p:txBody>
          <a:bodyPr anchor="b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Data Overview, Key Finding and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FD9E8-8624-8DEB-0D31-01A30717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1785"/>
            <a:ext cx="4347948" cy="3495178"/>
          </a:xfrm>
        </p:spPr>
        <p:txBody>
          <a:bodyPr>
            <a:normAutofit/>
          </a:bodyPr>
          <a:lstStyle/>
          <a:p>
            <a:r>
              <a:rPr lang="en-US" sz="2000"/>
              <a:t>Weight and Screen Size are highly correlated</a:t>
            </a:r>
          </a:p>
          <a:p>
            <a:r>
              <a:rPr lang="en-US" sz="2000"/>
              <a:t>Most OnePlus phones have high amount of ram</a:t>
            </a:r>
          </a:p>
          <a:p>
            <a:r>
              <a:rPr lang="en-US" sz="2000"/>
              <a:t>Most Apple phones are heavier compared to other brands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197FE7-AF83-5028-BA6A-DD85BB4AE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5" y="1001016"/>
            <a:ext cx="5958245" cy="24279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BA11CF-4794-B0D5-37FA-E3CE3E0D5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131" y="4549009"/>
            <a:ext cx="4829482" cy="19438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F937F5-A6E4-EDA8-E303-D297B9F45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2133" y="4549009"/>
            <a:ext cx="2806819" cy="162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67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D22FA1E-E02A-4FC5-BBA6-577D6DA0C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Freeform: Shape 26">
            <a:extLst>
              <a:ext uri="{FF2B5EF4-FFF2-40B4-BE49-F238E27FC236}">
                <a16:creationId xmlns:a16="http://schemas.microsoft.com/office/drawing/2014/main" id="{05D27520-F270-4F3D-A46E-76A337B6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315529 w 12192000"/>
              <a:gd name="connsiteY0" fmla="*/ 4323896 h 6858000"/>
              <a:gd name="connsiteX1" fmla="*/ 6295588 w 12192000"/>
              <a:gd name="connsiteY1" fmla="*/ 4367579 h 6858000"/>
              <a:gd name="connsiteX2" fmla="*/ 6219229 w 12192000"/>
              <a:gd name="connsiteY2" fmla="*/ 4436818 h 6858000"/>
              <a:gd name="connsiteX3" fmla="*/ 6065687 w 12192000"/>
              <a:gd name="connsiteY3" fmla="*/ 4637204 h 6858000"/>
              <a:gd name="connsiteX4" fmla="*/ 5727387 w 12192000"/>
              <a:gd name="connsiteY4" fmla="*/ 5460076 h 6858000"/>
              <a:gd name="connsiteX5" fmla="*/ 5620972 w 12192000"/>
              <a:gd name="connsiteY5" fmla="*/ 5725836 h 6858000"/>
              <a:gd name="connsiteX6" fmla="*/ 5707795 w 12192000"/>
              <a:gd name="connsiteY6" fmla="*/ 5790089 h 6858000"/>
              <a:gd name="connsiteX7" fmla="*/ 5554627 w 12192000"/>
              <a:gd name="connsiteY7" fmla="*/ 6078873 h 6858000"/>
              <a:gd name="connsiteX8" fmla="*/ 5373489 w 12192000"/>
              <a:gd name="connsiteY8" fmla="*/ 6402408 h 6858000"/>
              <a:gd name="connsiteX9" fmla="*/ 5099999 w 12192000"/>
              <a:gd name="connsiteY9" fmla="*/ 6827527 h 6858000"/>
              <a:gd name="connsiteX10" fmla="*/ 5078133 w 12192000"/>
              <a:gd name="connsiteY10" fmla="*/ 6857998 h 6858000"/>
              <a:gd name="connsiteX11" fmla="*/ 9179960 w 12192000"/>
              <a:gd name="connsiteY11" fmla="*/ 6857998 h 6858000"/>
              <a:gd name="connsiteX12" fmla="*/ 9179960 w 12192000"/>
              <a:gd name="connsiteY12" fmla="*/ 4323896 h 6858000"/>
              <a:gd name="connsiteX13" fmla="*/ 0 w 12192000"/>
              <a:gd name="connsiteY13" fmla="*/ 0 h 6858000"/>
              <a:gd name="connsiteX14" fmla="*/ 5872711 w 12192000"/>
              <a:gd name="connsiteY14" fmla="*/ 0 h 6858000"/>
              <a:gd name="connsiteX15" fmla="*/ 5885421 w 12192000"/>
              <a:gd name="connsiteY15" fmla="*/ 20207 h 6858000"/>
              <a:gd name="connsiteX16" fmla="*/ 5925300 w 12192000"/>
              <a:gd name="connsiteY16" fmla="*/ 48911 h 6858000"/>
              <a:gd name="connsiteX17" fmla="*/ 5940039 w 12192000"/>
              <a:gd name="connsiteY17" fmla="*/ 101212 h 6858000"/>
              <a:gd name="connsiteX18" fmla="*/ 5969942 w 12192000"/>
              <a:gd name="connsiteY18" fmla="*/ 311282 h 6858000"/>
              <a:gd name="connsiteX19" fmla="*/ 5961238 w 12192000"/>
              <a:gd name="connsiteY19" fmla="*/ 357643 h 6858000"/>
              <a:gd name="connsiteX20" fmla="*/ 5917195 w 12192000"/>
              <a:gd name="connsiteY20" fmla="*/ 420369 h 6858000"/>
              <a:gd name="connsiteX21" fmla="*/ 5882753 w 12192000"/>
              <a:gd name="connsiteY21" fmla="*/ 556832 h 6858000"/>
              <a:gd name="connsiteX22" fmla="*/ 5814490 w 12192000"/>
              <a:gd name="connsiteY22" fmla="*/ 757416 h 6858000"/>
              <a:gd name="connsiteX23" fmla="*/ 5780064 w 12192000"/>
              <a:gd name="connsiteY23" fmla="*/ 817804 h 6858000"/>
              <a:gd name="connsiteX24" fmla="*/ 5808232 w 12192000"/>
              <a:gd name="connsiteY24" fmla="*/ 850533 h 6858000"/>
              <a:gd name="connsiteX25" fmla="*/ 5906473 w 12192000"/>
              <a:gd name="connsiteY25" fmla="*/ 1076571 h 6858000"/>
              <a:gd name="connsiteX26" fmla="*/ 5778623 w 12192000"/>
              <a:gd name="connsiteY26" fmla="*/ 1369280 h 6858000"/>
              <a:gd name="connsiteX27" fmla="*/ 5710841 w 12192000"/>
              <a:gd name="connsiteY27" fmla="*/ 1462628 h 6858000"/>
              <a:gd name="connsiteX28" fmla="*/ 5846774 w 12192000"/>
              <a:gd name="connsiteY28" fmla="*/ 1455933 h 6858000"/>
              <a:gd name="connsiteX29" fmla="*/ 5897329 w 12192000"/>
              <a:gd name="connsiteY29" fmla="*/ 1553073 h 6858000"/>
              <a:gd name="connsiteX30" fmla="*/ 5919735 w 12192000"/>
              <a:gd name="connsiteY30" fmla="*/ 1602736 h 6858000"/>
              <a:gd name="connsiteX31" fmla="*/ 6057874 w 12192000"/>
              <a:gd name="connsiteY31" fmla="*/ 1910648 h 6858000"/>
              <a:gd name="connsiteX32" fmla="*/ 6039719 w 12192000"/>
              <a:gd name="connsiteY32" fmla="*/ 2010547 h 6858000"/>
              <a:gd name="connsiteX33" fmla="*/ 5841713 w 12192000"/>
              <a:gd name="connsiteY33" fmla="*/ 2520599 h 6858000"/>
              <a:gd name="connsiteX34" fmla="*/ 6071734 w 12192000"/>
              <a:gd name="connsiteY34" fmla="*/ 2593468 h 6858000"/>
              <a:gd name="connsiteX35" fmla="*/ 6092050 w 12192000"/>
              <a:gd name="connsiteY35" fmla="*/ 2806646 h 6858000"/>
              <a:gd name="connsiteX36" fmla="*/ 6215122 w 12192000"/>
              <a:gd name="connsiteY36" fmla="*/ 3021197 h 6858000"/>
              <a:gd name="connsiteX37" fmla="*/ 6338100 w 12192000"/>
              <a:gd name="connsiteY37" fmla="*/ 3178087 h 6858000"/>
              <a:gd name="connsiteX38" fmla="*/ 6343927 w 12192000"/>
              <a:gd name="connsiteY38" fmla="*/ 3194685 h 6858000"/>
              <a:gd name="connsiteX39" fmla="*/ 6343850 w 12192000"/>
              <a:gd name="connsiteY39" fmla="*/ 3201174 h 6858000"/>
              <a:gd name="connsiteX40" fmla="*/ 6366375 w 12192000"/>
              <a:gd name="connsiteY40" fmla="*/ 3271251 h 6858000"/>
              <a:gd name="connsiteX41" fmla="*/ 6369430 w 12192000"/>
              <a:gd name="connsiteY41" fmla="*/ 3276240 h 6858000"/>
              <a:gd name="connsiteX42" fmla="*/ 6392405 w 12192000"/>
              <a:gd name="connsiteY42" fmla="*/ 3360437 h 6858000"/>
              <a:gd name="connsiteX43" fmla="*/ 6397993 w 12192000"/>
              <a:gd name="connsiteY43" fmla="*/ 3390203 h 6858000"/>
              <a:gd name="connsiteX44" fmla="*/ 6394652 w 12192000"/>
              <a:gd name="connsiteY44" fmla="*/ 3402205 h 6858000"/>
              <a:gd name="connsiteX45" fmla="*/ 6366662 w 12192000"/>
              <a:gd name="connsiteY45" fmla="*/ 3442044 h 6858000"/>
              <a:gd name="connsiteX46" fmla="*/ 6320915 w 12192000"/>
              <a:gd name="connsiteY46" fmla="*/ 3701547 h 6858000"/>
              <a:gd name="connsiteX47" fmla="*/ 6364618 w 12192000"/>
              <a:gd name="connsiteY47" fmla="*/ 3743844 h 6858000"/>
              <a:gd name="connsiteX48" fmla="*/ 6370409 w 12192000"/>
              <a:gd name="connsiteY48" fmla="*/ 3754454 h 6858000"/>
              <a:gd name="connsiteX49" fmla="*/ 6373773 w 12192000"/>
              <a:gd name="connsiteY49" fmla="*/ 3768237 h 6858000"/>
              <a:gd name="connsiteX50" fmla="*/ 6375298 w 12192000"/>
              <a:gd name="connsiteY50" fmla="*/ 3796540 h 6858000"/>
              <a:gd name="connsiteX51" fmla="*/ 6253487 w 12192000"/>
              <a:gd name="connsiteY51" fmla="*/ 3856948 h 6858000"/>
              <a:gd name="connsiteX52" fmla="*/ 6385416 w 12192000"/>
              <a:gd name="connsiteY52" fmla="*/ 4014409 h 6858000"/>
              <a:gd name="connsiteX53" fmla="*/ 6374795 w 12192000"/>
              <a:gd name="connsiteY53" fmla="*/ 4038554 h 6858000"/>
              <a:gd name="connsiteX54" fmla="*/ 6351015 w 12192000"/>
              <a:gd name="connsiteY54" fmla="*/ 4150489 h 6858000"/>
              <a:gd name="connsiteX55" fmla="*/ 6340821 w 12192000"/>
              <a:gd name="connsiteY55" fmla="*/ 4212706 h 6858000"/>
              <a:gd name="connsiteX56" fmla="*/ 12191999 w 12192000"/>
              <a:gd name="connsiteY56" fmla="*/ 4212706 h 6858000"/>
              <a:gd name="connsiteX57" fmla="*/ 12191999 w 12192000"/>
              <a:gd name="connsiteY57" fmla="*/ 0 h 6858000"/>
              <a:gd name="connsiteX58" fmla="*/ 12192000 w 12192000"/>
              <a:gd name="connsiteY58" fmla="*/ 0 h 6858000"/>
              <a:gd name="connsiteX59" fmla="*/ 12192000 w 12192000"/>
              <a:gd name="connsiteY59" fmla="*/ 6858000 h 6858000"/>
              <a:gd name="connsiteX60" fmla="*/ 12191999 w 12192000"/>
              <a:gd name="connsiteY60" fmla="*/ 6858000 h 6858000"/>
              <a:gd name="connsiteX61" fmla="*/ 12191999 w 12192000"/>
              <a:gd name="connsiteY61" fmla="*/ 4323902 h 6858000"/>
              <a:gd name="connsiteX62" fmla="*/ 9307672 w 12192000"/>
              <a:gd name="connsiteY62" fmla="*/ 4323902 h 6858000"/>
              <a:gd name="connsiteX63" fmla="*/ 9307672 w 12192000"/>
              <a:gd name="connsiteY63" fmla="*/ 6858000 h 6858000"/>
              <a:gd name="connsiteX64" fmla="*/ 0 w 12192000"/>
              <a:gd name="connsiteY6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2192000" h="6858000">
                <a:moveTo>
                  <a:pt x="6315529" y="4323896"/>
                </a:moveTo>
                <a:lnTo>
                  <a:pt x="6295588" y="4367579"/>
                </a:lnTo>
                <a:cubicBezTo>
                  <a:pt x="6278024" y="4397022"/>
                  <a:pt x="6253813" y="4421099"/>
                  <a:pt x="6219229" y="4436818"/>
                </a:cubicBezTo>
                <a:cubicBezTo>
                  <a:pt x="6148079" y="4469666"/>
                  <a:pt x="6116436" y="4572066"/>
                  <a:pt x="6065687" y="4637204"/>
                </a:cubicBezTo>
                <a:cubicBezTo>
                  <a:pt x="5888713" y="4862696"/>
                  <a:pt x="5773979" y="5125824"/>
                  <a:pt x="5727387" y="5460076"/>
                </a:cubicBezTo>
                <a:cubicBezTo>
                  <a:pt x="5714326" y="5552523"/>
                  <a:pt x="5656974" y="5638673"/>
                  <a:pt x="5620972" y="5725836"/>
                </a:cubicBezTo>
                <a:cubicBezTo>
                  <a:pt x="5641553" y="5779043"/>
                  <a:pt x="5738619" y="5631221"/>
                  <a:pt x="5707795" y="5790089"/>
                </a:cubicBezTo>
                <a:cubicBezTo>
                  <a:pt x="5684453" y="5909876"/>
                  <a:pt x="5617437" y="5996827"/>
                  <a:pt x="5554627" y="6078873"/>
                </a:cubicBezTo>
                <a:cubicBezTo>
                  <a:pt x="5482491" y="6172498"/>
                  <a:pt x="5402203" y="6253366"/>
                  <a:pt x="5373489" y="6402408"/>
                </a:cubicBezTo>
                <a:cubicBezTo>
                  <a:pt x="5371924" y="6410357"/>
                  <a:pt x="5276557" y="6577417"/>
                  <a:pt x="5099999" y="6827527"/>
                </a:cubicBezTo>
                <a:lnTo>
                  <a:pt x="5078133" y="6857998"/>
                </a:lnTo>
                <a:lnTo>
                  <a:pt x="9179960" y="6857998"/>
                </a:lnTo>
                <a:lnTo>
                  <a:pt x="9179960" y="4323896"/>
                </a:lnTo>
                <a:close/>
                <a:moveTo>
                  <a:pt x="0" y="0"/>
                </a:moveTo>
                <a:lnTo>
                  <a:pt x="5872711" y="0"/>
                </a:lnTo>
                <a:lnTo>
                  <a:pt x="5885421" y="20207"/>
                </a:lnTo>
                <a:cubicBezTo>
                  <a:pt x="5896481" y="32882"/>
                  <a:pt x="5909484" y="42864"/>
                  <a:pt x="5925300" y="48911"/>
                </a:cubicBezTo>
                <a:cubicBezTo>
                  <a:pt x="5940498" y="54526"/>
                  <a:pt x="5945509" y="75042"/>
                  <a:pt x="5940039" y="101212"/>
                </a:cubicBezTo>
                <a:cubicBezTo>
                  <a:pt x="5921950" y="187894"/>
                  <a:pt x="5936667" y="254951"/>
                  <a:pt x="5969942" y="311282"/>
                </a:cubicBezTo>
                <a:cubicBezTo>
                  <a:pt x="5981709" y="330926"/>
                  <a:pt x="5977292" y="344422"/>
                  <a:pt x="5961238" y="357643"/>
                </a:cubicBezTo>
                <a:cubicBezTo>
                  <a:pt x="5942802" y="372223"/>
                  <a:pt x="5928461" y="393565"/>
                  <a:pt x="5917195" y="420369"/>
                </a:cubicBezTo>
                <a:cubicBezTo>
                  <a:pt x="5898701" y="463685"/>
                  <a:pt x="5889992" y="510050"/>
                  <a:pt x="5882753" y="556832"/>
                </a:cubicBezTo>
                <a:cubicBezTo>
                  <a:pt x="5871511" y="630206"/>
                  <a:pt x="5858246" y="700969"/>
                  <a:pt x="5814490" y="757416"/>
                </a:cubicBezTo>
                <a:cubicBezTo>
                  <a:pt x="5801465" y="774559"/>
                  <a:pt x="5791019" y="796511"/>
                  <a:pt x="5780064" y="817804"/>
                </a:cubicBezTo>
                <a:cubicBezTo>
                  <a:pt x="5783558" y="836359"/>
                  <a:pt x="5792196" y="849005"/>
                  <a:pt x="5808232" y="850533"/>
                </a:cubicBezTo>
                <a:cubicBezTo>
                  <a:pt x="5910296" y="860624"/>
                  <a:pt x="5905771" y="962632"/>
                  <a:pt x="5906473" y="1076571"/>
                </a:cubicBezTo>
                <a:cubicBezTo>
                  <a:pt x="5907545" y="1217584"/>
                  <a:pt x="5849973" y="1296799"/>
                  <a:pt x="5778623" y="1369280"/>
                </a:cubicBezTo>
                <a:cubicBezTo>
                  <a:pt x="5754207" y="1393852"/>
                  <a:pt x="5718605" y="1401742"/>
                  <a:pt x="5710841" y="1462628"/>
                </a:cubicBezTo>
                <a:cubicBezTo>
                  <a:pt x="5753463" y="1508141"/>
                  <a:pt x="5802053" y="1451295"/>
                  <a:pt x="5846774" y="1455933"/>
                </a:cubicBezTo>
                <a:cubicBezTo>
                  <a:pt x="5883727" y="1460129"/>
                  <a:pt x="5943609" y="1438568"/>
                  <a:pt x="5897329" y="1553073"/>
                </a:cubicBezTo>
                <a:cubicBezTo>
                  <a:pt x="5883856" y="1586627"/>
                  <a:pt x="5901366" y="1604100"/>
                  <a:pt x="5919735" y="1602736"/>
                </a:cubicBezTo>
                <a:cubicBezTo>
                  <a:pt x="6068526" y="1589022"/>
                  <a:pt x="6006837" y="1813624"/>
                  <a:pt x="6057874" y="1910648"/>
                </a:cubicBezTo>
                <a:cubicBezTo>
                  <a:pt x="6072264" y="1936644"/>
                  <a:pt x="6059978" y="1992417"/>
                  <a:pt x="6039719" y="2010547"/>
                </a:cubicBezTo>
                <a:cubicBezTo>
                  <a:pt x="5911143" y="2127229"/>
                  <a:pt x="5899692" y="2331836"/>
                  <a:pt x="5841713" y="2520599"/>
                </a:cubicBezTo>
                <a:cubicBezTo>
                  <a:pt x="5912636" y="2572423"/>
                  <a:pt x="5995799" y="2566926"/>
                  <a:pt x="6071734" y="2593468"/>
                </a:cubicBezTo>
                <a:cubicBezTo>
                  <a:pt x="6150607" y="2620843"/>
                  <a:pt x="6151703" y="2655507"/>
                  <a:pt x="6092050" y="2806646"/>
                </a:cubicBezTo>
                <a:cubicBezTo>
                  <a:pt x="6259331" y="2795420"/>
                  <a:pt x="6259331" y="2795420"/>
                  <a:pt x="6215122" y="3021197"/>
                </a:cubicBezTo>
                <a:cubicBezTo>
                  <a:pt x="6259035" y="3016573"/>
                  <a:pt x="6302431" y="3085300"/>
                  <a:pt x="6338100" y="3178087"/>
                </a:cubicBezTo>
                <a:lnTo>
                  <a:pt x="6343927" y="3194685"/>
                </a:lnTo>
                <a:lnTo>
                  <a:pt x="6343850" y="3201174"/>
                </a:lnTo>
                <a:cubicBezTo>
                  <a:pt x="6346866" y="3232770"/>
                  <a:pt x="6355995" y="3253323"/>
                  <a:pt x="6366375" y="3271251"/>
                </a:cubicBezTo>
                <a:lnTo>
                  <a:pt x="6369430" y="3276240"/>
                </a:lnTo>
                <a:lnTo>
                  <a:pt x="6392405" y="3360437"/>
                </a:lnTo>
                <a:lnTo>
                  <a:pt x="6397993" y="3390203"/>
                </a:lnTo>
                <a:lnTo>
                  <a:pt x="6394652" y="3402205"/>
                </a:lnTo>
                <a:cubicBezTo>
                  <a:pt x="6388505" y="3414621"/>
                  <a:pt x="6379344" y="3427747"/>
                  <a:pt x="6366662" y="3442044"/>
                </a:cubicBezTo>
                <a:cubicBezTo>
                  <a:pt x="6239481" y="3584662"/>
                  <a:pt x="6224938" y="3605480"/>
                  <a:pt x="6320915" y="3701547"/>
                </a:cubicBezTo>
                <a:lnTo>
                  <a:pt x="6364618" y="3743844"/>
                </a:lnTo>
                <a:lnTo>
                  <a:pt x="6370409" y="3754454"/>
                </a:lnTo>
                <a:lnTo>
                  <a:pt x="6373773" y="3768237"/>
                </a:lnTo>
                <a:cubicBezTo>
                  <a:pt x="6374277" y="3777528"/>
                  <a:pt x="6374207" y="3788146"/>
                  <a:pt x="6375298" y="3796540"/>
                </a:cubicBezTo>
                <a:cubicBezTo>
                  <a:pt x="6339717" y="3831045"/>
                  <a:pt x="6294642" y="3774365"/>
                  <a:pt x="6253487" y="3856948"/>
                </a:cubicBezTo>
                <a:lnTo>
                  <a:pt x="6385416" y="4014409"/>
                </a:lnTo>
                <a:lnTo>
                  <a:pt x="6374795" y="4038554"/>
                </a:lnTo>
                <a:cubicBezTo>
                  <a:pt x="6363579" y="4073249"/>
                  <a:pt x="6356895" y="4111559"/>
                  <a:pt x="6351015" y="4150489"/>
                </a:cubicBezTo>
                <a:lnTo>
                  <a:pt x="6340821" y="4212706"/>
                </a:lnTo>
                <a:lnTo>
                  <a:pt x="12191999" y="4212706"/>
                </a:lnTo>
                <a:lnTo>
                  <a:pt x="12191999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1999" y="6858000"/>
                </a:lnTo>
                <a:lnTo>
                  <a:pt x="12191999" y="4323902"/>
                </a:lnTo>
                <a:lnTo>
                  <a:pt x="9307672" y="4323902"/>
                </a:lnTo>
                <a:lnTo>
                  <a:pt x="930767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C24C1-515D-7529-2C23-A6A05A7B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47949" cy="2137273"/>
          </a:xfrm>
        </p:spPr>
        <p:txBody>
          <a:bodyPr anchor="b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Data Overview, Key Finding and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B1232-908F-AF9B-9D90-63469281F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1785"/>
            <a:ext cx="4347948" cy="3495178"/>
          </a:xfrm>
        </p:spPr>
        <p:txBody>
          <a:bodyPr>
            <a:normAutofit/>
          </a:bodyPr>
          <a:lstStyle/>
          <a:p>
            <a:r>
              <a:rPr lang="en-US" sz="2000"/>
              <a:t>People who prefer large screen phones Huawei and Samsung are very popular</a:t>
            </a:r>
          </a:p>
          <a:p>
            <a:r>
              <a:rPr lang="en-US" sz="2000"/>
              <a:t>People who prefer high mega pixel selfie camera phones Huawei and Vivo are most popular</a:t>
            </a:r>
          </a:p>
          <a:p>
            <a:r>
              <a:rPr lang="en-US" sz="2000"/>
              <a:t>People who prefer high mega pixel main camera Sony is the most popular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F3223-67C6-C5CF-6AA0-BE4E80997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309" y="749523"/>
            <a:ext cx="4797354" cy="28304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BAED6C-9DE0-D1BF-D870-4AE0AB2EE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433" y="4764507"/>
            <a:ext cx="2513506" cy="14264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698869-8AB0-F902-F4EF-084C78EB6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412" y="4830125"/>
            <a:ext cx="2183079" cy="130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98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8D3F5-51C0-18AA-926F-610CB8A3C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kern="1200" dirty="0">
                <a:latin typeface="+mj-lt"/>
                <a:ea typeface="+mj-ea"/>
                <a:cs typeface="+mj-cs"/>
              </a:rPr>
              <a:t>Data Overview, Key Finding and Insights</a:t>
            </a:r>
            <a:endParaRPr lang="en-US" sz="38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FD1F8-3221-5F3E-9A68-4E58C4CB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200" dirty="0"/>
              <a:t>Normalized used price is very low for older models (2013) to hits a high mark in 2018</a:t>
            </a:r>
          </a:p>
          <a:p>
            <a:r>
              <a:rPr lang="en-US" sz="2200" dirty="0"/>
              <a:t>Main camera </a:t>
            </a:r>
            <a:r>
              <a:rPr lang="en-US" sz="2200" dirty="0" err="1"/>
              <a:t>mp</a:t>
            </a:r>
            <a:r>
              <a:rPr lang="en-US" sz="2200" dirty="0"/>
              <a:t> data has lots of missing values along with few other data points which we imputed with median values</a:t>
            </a:r>
          </a:p>
          <a:p>
            <a:r>
              <a:rPr lang="en-US" sz="2200" dirty="0"/>
              <a:t>We created a new column called ‘year since released’ and dropped release year column for better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C32A6C-43DE-4BAF-624C-278A393A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36071"/>
            <a:ext cx="6903720" cy="298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80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A0955-BB6C-1ECA-0C04-E7B0EEE1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C207-7638-6E4D-C431-8F5A241A0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2000" dirty="0"/>
              <a:t>We built a linear model and found the r-squared value to be .8</a:t>
            </a:r>
          </a:p>
          <a:p>
            <a:r>
              <a:rPr lang="en-US" sz="2000" dirty="0"/>
              <a:t>The coefficient of normalized new price is .4</a:t>
            </a:r>
          </a:p>
          <a:p>
            <a:r>
              <a:rPr lang="en-US" sz="2000" dirty="0"/>
              <a:t>The model is neither overfitting nor underfitting as per RSME of test and train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59AA1-F4E8-67C9-2D65-4CAD5ADAF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646" y="928164"/>
            <a:ext cx="4491887" cy="20550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EAED00-9C02-5518-7DD0-BC68DCEFA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646" y="4069484"/>
            <a:ext cx="4491887" cy="16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53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4CCBD-91BB-DD34-E818-5CA440962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US" dirty="0"/>
              <a:t>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95BB0-390B-A733-F991-3B1EA3A56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>
            <a:normAutofit lnSpcReduction="10000"/>
          </a:bodyPr>
          <a:lstStyle/>
          <a:p>
            <a:r>
              <a:rPr lang="en-US" sz="1700" dirty="0"/>
              <a:t>Screen size and year since released shown some multicollinearity which we treated</a:t>
            </a:r>
          </a:p>
          <a:p>
            <a:r>
              <a:rPr lang="en-US" sz="1700" dirty="0"/>
              <a:t>We dropped years since release column to see if that helps and observed the VIF of screen size came below 5</a:t>
            </a:r>
          </a:p>
          <a:p>
            <a:r>
              <a:rPr lang="en-US" sz="1700" dirty="0"/>
              <a:t>After dropping some high p-values variables we have observed the r-squared remained similar AS .8</a:t>
            </a:r>
          </a:p>
          <a:p>
            <a:r>
              <a:rPr lang="en-US" sz="1700" dirty="0"/>
              <a:t>Our model can explain 80% variances</a:t>
            </a:r>
          </a:p>
          <a:p>
            <a:r>
              <a:rPr lang="en-US" sz="1700" dirty="0"/>
              <a:t>We plotted fitted values against residuals and did not see any pattern</a:t>
            </a:r>
          </a:p>
          <a:p>
            <a:r>
              <a:rPr lang="en-US" sz="1700" dirty="0"/>
              <a:t>So, we can conclude the model is linear and variables as independent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F110EF-3A70-5732-E64A-7B2F83025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996" y="1593673"/>
            <a:ext cx="5076537" cy="850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A46455-F9E5-C756-7FA6-73C918ABC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225" y="3107416"/>
            <a:ext cx="4497503" cy="306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18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35DB090-93B5-4581-8D71-BB3839684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9619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BCF67-BB32-CAB2-7D8E-1612F99C9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651F7-C96B-3245-D1A5-17EF3004C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5019674" cy="3553581"/>
          </a:xfrm>
        </p:spPr>
        <p:txBody>
          <a:bodyPr>
            <a:normAutofit/>
          </a:bodyPr>
          <a:lstStyle/>
          <a:p>
            <a:r>
              <a:rPr lang="en-US" sz="2000" dirty="0"/>
              <a:t>As per Normality test of residuals it looks perfect bell shaped</a:t>
            </a:r>
          </a:p>
          <a:p>
            <a:r>
              <a:rPr lang="en-US" sz="2000" dirty="0"/>
              <a:t>As per QQ plot the residuals follow a straight line</a:t>
            </a:r>
          </a:p>
          <a:p>
            <a:r>
              <a:rPr lang="en-US" sz="2000" dirty="0"/>
              <a:t>Shapiro’s test result:</a:t>
            </a:r>
          </a:p>
          <a:p>
            <a:r>
              <a:rPr lang="en-US" sz="2000" dirty="0" err="1"/>
              <a:t>ShapiroResult</a:t>
            </a:r>
            <a:r>
              <a:rPr lang="en-US" sz="2000" dirty="0"/>
              <a:t>(statistic=0.9711849093437195, </a:t>
            </a:r>
            <a:r>
              <a:rPr lang="en-US" sz="2000" dirty="0" err="1"/>
              <a:t>pvalue</a:t>
            </a:r>
            <a:r>
              <a:rPr lang="en-US" sz="2000" dirty="0"/>
              <a:t>=1.2072848462537407e-21)</a:t>
            </a:r>
          </a:p>
          <a:p>
            <a:r>
              <a:rPr lang="en-US" sz="2000" b="0" u="none" strike="noStrike" dirty="0">
                <a:effectLst/>
                <a:highlight>
                  <a:srgbClr val="FFFFFF"/>
                </a:highlight>
              </a:rPr>
              <a:t> Residuals are </a:t>
            </a:r>
            <a:r>
              <a:rPr lang="en-US" sz="2000" b="0" u="none" strike="noStrike" dirty="0">
                <a:effectLst/>
              </a:rPr>
              <a:t>homoscedastic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A4139-6C58-3921-585F-7C4FC35F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17" y="643234"/>
            <a:ext cx="3860145" cy="26248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67D102-1536-B4AB-4ADA-6E7042CE6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125" y="3589867"/>
            <a:ext cx="4276929" cy="258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06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A98A6-0AD4-EEE5-D05E-59C74EC8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A6FAC-EADE-28D7-A5DC-8027867C0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Normalized new price seems like be positively correlated to used price. So, to boost revenue, boost the sales of older models as newer model price are high</a:t>
            </a:r>
          </a:p>
          <a:p>
            <a:r>
              <a:rPr lang="en-US" dirty="0"/>
              <a:t>Increase of camera size, memory, weight, ram, release year will increase the price of new price as well as used price</a:t>
            </a:r>
          </a:p>
          <a:p>
            <a:r>
              <a:rPr lang="en-US" dirty="0"/>
              <a:t>Weight and screen size are positively correlated and popular. </a:t>
            </a:r>
          </a:p>
          <a:p>
            <a:r>
              <a:rPr lang="en-US" dirty="0"/>
              <a:t>Samsung phones with Android OS are best selling phones. Business should offer incentives for other brands to boost sales</a:t>
            </a:r>
          </a:p>
          <a:p>
            <a:r>
              <a:rPr lang="en-US" dirty="0"/>
              <a:t>4G phones are sold more in used phone market than 5G</a:t>
            </a:r>
          </a:p>
        </p:txBody>
      </p:sp>
    </p:spTree>
    <p:extLst>
      <p:ext uri="{BB962C8B-B14F-4D97-AF65-F5344CB8AC3E}">
        <p14:creationId xmlns:p14="http://schemas.microsoft.com/office/powerpoint/2010/main" val="2047191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74A77-9D43-0DBF-CAF4-38CDE9E8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 and Benefit of following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06889-79BB-F091-D4B3-22408B67C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factors that significantly effect the price of refurbished phones are RAM, screen size, megapixels of front and back camera, memory.</a:t>
            </a:r>
          </a:p>
          <a:p>
            <a:r>
              <a:rPr lang="en-US" dirty="0"/>
              <a:t>As per model other variables are independent (excluding price).</a:t>
            </a:r>
          </a:p>
          <a:p>
            <a:r>
              <a:rPr lang="en-US" dirty="0"/>
              <a:t>So, business should focus on selling the refurbished phones that has good memories, screen size, camera megapixel size. </a:t>
            </a:r>
          </a:p>
          <a:p>
            <a:r>
              <a:rPr lang="en-US" dirty="0"/>
              <a:t>The 4G or 5G factor wont effect much.</a:t>
            </a:r>
          </a:p>
          <a:p>
            <a:r>
              <a:rPr lang="en-US" dirty="0"/>
              <a:t>Advertise high selling models like Samsung and Huawei. </a:t>
            </a:r>
          </a:p>
          <a:p>
            <a:r>
              <a:rPr lang="en-US" dirty="0"/>
              <a:t>Attract young buyers with key feature of phones and low selling price.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797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2747</TotalTime>
  <Words>811</Words>
  <Application>Microsoft Macintosh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Supervised Learning: Case Study 3</vt:lpstr>
      <vt:lpstr>Agenda</vt:lpstr>
      <vt:lpstr>Business Overview and Approach to Solution</vt:lpstr>
      <vt:lpstr>Data Overview, Key Finding and Insights </vt:lpstr>
      <vt:lpstr>Data Overview, Key Finding and Insights</vt:lpstr>
      <vt:lpstr>Data Overview, Key Finding and Insights</vt:lpstr>
      <vt:lpstr>Data Overview, Key Finding and Insights</vt:lpstr>
      <vt:lpstr>Data Overview, Key Finding and Insights</vt:lpstr>
      <vt:lpstr>Data Overview, Key Finding and Insights</vt:lpstr>
      <vt:lpstr>Data Overview, Key Finding and Insights</vt:lpstr>
      <vt:lpstr>Linear Regression model</vt:lpstr>
      <vt:lpstr>Linear Regression model</vt:lpstr>
      <vt:lpstr>Linear Regression model</vt:lpstr>
      <vt:lpstr>Observation and Recommendation</vt:lpstr>
      <vt:lpstr>Key Takeaway and Benefit of following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Nafis Zafar</dc:creator>
  <cp:lastModifiedBy>Nafis Zafar</cp:lastModifiedBy>
  <cp:revision>5</cp:revision>
  <dcterms:created xsi:type="dcterms:W3CDTF">2024-07-30T06:35:23Z</dcterms:created>
  <dcterms:modified xsi:type="dcterms:W3CDTF">2024-08-01T04:23:16Z</dcterms:modified>
</cp:coreProperties>
</file>